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"Since our last meeting we audited the simulator and found five defects that voided our earlier numbers. I will show what we found, what we did, and where we are." Do not start with an apology — start with the fact that the audit was our own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talk. If the doctor is short of time, it is enough on its own. The third point matters: negative results are not failure, they are part of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asks "how did you confirm the gearbox?" — the answer is the last line: we took the ratio of engine speed to road speed for every sample and compared it with the eight published ratios; 86.7% fall on them. That also rules out the manual gearbox: its top ratio is 2.927, the car measures 1.993, and the automatic's is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and most important slide. Say it with confidence, not as an apology: we audited, we found it, and we withdrew the number. If he asks how you found it — a full code audit on 14 September, written up in AUDIT.md, with three critical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we did not fail to find data — we measured, and the measurement is itself an answer. If he asks why you measure a temperature that has no sensor — say that this is the project: a model that estimates what the car does not measure, the same model calibrated on 26 operating points from our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we did not try one thing and get lucky. We tried four; three gave negative results, and all of them are written in the repository with dates and numbers. Each of the three negative results goes into the thesis as a paragraph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doctor asks why you do not use a published standard instead of your own scenario — this slide is the answer. We tried it, it did not load the car, and the reason is physical and written down. It had a second benefit: it taught us that what heats the turbine is road power, and that is what the successful scenario was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says you chose an exaggerated scenario — this slide and the next one are the answer. We drove the hardest real road we have, and it is 86 degrees cooler than our scenario. So the scenario is harsher than reality on purpose: a declared design decision, not an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negative result into a gain. The most important part is the middle column: before Taif, the disagreement between our model and the published range could not be interpreted, because our car never reached that range at all. Now it has, so the disagreement is measured and its direction is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asks how you chose 12% and 130 — the answer is in the lower box, a sweep of eight combinations. If he asks about the difference between 899 and 884 — say the real gearbox changed the result slightly and the scenario still exceeds the limit; the last line is on the slide on purpose, so that it does not look as if we are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this slide as bad news. Preview loses with hand-written policies because a hand-written policy is clumsy at using the information, not because the information is worthless. That is exactly what justifies the next phase scientifically. If he asks for a final number for preview — say it is still open, and it will be measured in the next phase with the frozen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we now know exactly what we are measuring, how we measure it, and what we will say if the result comes out negative. The protocol is frozen before the result on purpose. If there is time left, show the live app — it is the part people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813816"/>
            <a:ext cx="10561320" cy="274320"/>
          </a:xfrm>
          <a:prstGeom prst="rect">
            <a:avLst/>
          </a:prstGeom>
          <a:noFill/>
          <a:ln/>
        </p:spPr>
        <p:txBody>
          <a:bodyPr wrap="square" lIns="0" tIns="0" rIns="0" bIns="0" rtlCol="0" anchor="t"/>
          <a:lstStyle/>
          <a:p>
            <a:pPr algn="l" indent="0" marL="0">
              <a:lnSpc>
                <a:spcPct val="115000"/>
              </a:lnSpc>
              <a:buNone/>
            </a:pPr>
            <a:r>
              <a:rPr lang="en-US" sz="1400" dirty="0">
                <a:solidFill>
                  <a:srgbClr val="7FB2DC"/>
                </a:solidFill>
                <a:latin typeface="Calibri" pitchFamily="34" charset="0"/>
                <a:cs typeface="Calibri"/>
              </a:rPr>
              <a:t>Graduation Project · University of Jeddah</a:t>
            </a:r>
            <a:endParaRPr lang="en-US" sz="1400" dirty="0"/>
          </a:p>
        </p:txBody>
      </p:sp>
      <p:sp>
        <p:nvSpPr>
          <p:cNvPr id="3" name="Text 1"/>
          <p:cNvSpPr txBox="1"/>
          <p:nvPr/>
        </p:nvSpPr>
        <p:spPr>
          <a:xfrm>
            <a:off x="813816" y="2606040"/>
            <a:ext cx="10561320" cy="868680"/>
          </a:xfrm>
          <a:prstGeom prst="rect">
            <a:avLst/>
          </a:prstGeom>
          <a:noFill/>
          <a:ln/>
        </p:spPr>
        <p:txBody>
          <a:bodyPr wrap="square" lIns="0" tIns="0" rIns="0" bIns="0" rtlCol="0" anchor="t"/>
          <a:lstStyle/>
          <a:p>
            <a:pPr algn="l" indent="0" marL="0">
              <a:lnSpc>
                <a:spcPct val="100000"/>
              </a:lnSpc>
              <a:buNone/>
            </a:pPr>
            <a:r>
              <a:rPr lang="en-US" sz="5200" b="1" dirty="0">
                <a:solidFill>
                  <a:srgbClr val="F2F4F6"/>
                </a:solidFill>
                <a:latin typeface="Calibri" pitchFamily="34" charset="0"/>
                <a:cs typeface="Calibri"/>
              </a:rPr>
              <a:t>Project Update</a:t>
            </a:r>
            <a:endParaRPr lang="en-US" sz="5200" dirty="0"/>
          </a:p>
        </p:txBody>
      </p:sp>
      <p:sp>
        <p:nvSpPr>
          <p:cNvPr id="4" name="Text 2"/>
          <p:cNvSpPr txBox="1"/>
          <p:nvPr/>
        </p:nvSpPr>
        <p:spPr>
          <a:xfrm>
            <a:off x="813816" y="3611880"/>
            <a:ext cx="10561320" cy="457200"/>
          </a:xfrm>
          <a:prstGeom prst="rect">
            <a:avLst/>
          </a:prstGeom>
          <a:noFill/>
          <a:ln/>
        </p:spPr>
        <p:txBody>
          <a:bodyPr wrap="square" lIns="0" tIns="0" rIns="0" bIns="0" rtlCol="0" anchor="t"/>
          <a:lstStyle/>
          <a:p>
            <a:pPr algn="l" indent="0" marL="0">
              <a:lnSpc>
                <a:spcPct val="115000"/>
              </a:lnSpc>
              <a:buNone/>
            </a:pPr>
            <a:r>
              <a:rPr lang="en-US" sz="2200" dirty="0">
                <a:solidFill>
                  <a:srgbClr val="C9D3DD"/>
                </a:solidFill>
                <a:latin typeface="Calibri" pitchFamily="34" charset="0"/>
                <a:cs typeface="Calibri"/>
              </a:rPr>
              <a:t>What happened since our meeting on Sunday, 13 September</a:t>
            </a:r>
            <a:endParaRPr lang="en-US" sz="2200" dirty="0"/>
          </a:p>
        </p:txBody>
      </p:sp>
      <p:sp>
        <p:nvSpPr>
          <p:cNvPr id="5" name="Text 3"/>
          <p:cNvSpPr txBox="1"/>
          <p:nvPr/>
        </p:nvSpPr>
        <p:spPr>
          <a:xfrm>
            <a:off x="813816" y="4206240"/>
            <a:ext cx="10561320" cy="292608"/>
          </a:xfrm>
          <a:prstGeom prst="rect">
            <a:avLst/>
          </a:prstGeom>
          <a:noFill/>
          <a:ln/>
        </p:spPr>
        <p:txBody>
          <a:bodyPr wrap="square" lIns="0" tIns="0" rIns="0" bIns="0" rtlCol="0" anchor="t"/>
          <a:lstStyle/>
          <a:p>
            <a:pPr algn="l" indent="0" marL="0">
              <a:lnSpc>
                <a:spcPct val="115000"/>
              </a:lnSpc>
              <a:buNone/>
            </a:pPr>
            <a:r>
              <a:rPr lang="en-US" sz="1300" i="1" dirty="0">
                <a:solidFill>
                  <a:srgbClr val="7D8E9E"/>
                </a:solidFill>
                <a:latin typeface="Calibri" pitchFamily="34" charset="0"/>
                <a:cs typeface="Calibri"/>
              </a:rPr>
              <a:t>Figures as of 20 September 2026. The 1 October update lists what has changed since.</a:t>
            </a:r>
            <a:endParaRPr lang="en-US" sz="1300" dirty="0"/>
          </a:p>
        </p:txBody>
      </p:sp>
      <p:sp>
        <p:nvSpPr>
          <p:cNvPr id="6" name="Text 4"/>
          <p:cNvSpPr txBox="1"/>
          <p:nvPr/>
        </p:nvSpPr>
        <p:spPr>
          <a:xfrm>
            <a:off x="813816" y="5815584"/>
            <a:ext cx="3657600" cy="274320"/>
          </a:xfrm>
          <a:prstGeom prst="rect">
            <a:avLst/>
          </a:prstGeom>
          <a:noFill/>
          <a:ln/>
        </p:spPr>
        <p:txBody>
          <a:bodyPr wrap="square" lIns="0" tIns="0" rIns="0" bIns="0" rtlCol="0" anchor="t"/>
          <a:lstStyle/>
          <a:p>
            <a:pPr algn="l" indent="0" marL="0">
              <a:lnSpc>
                <a:spcPct val="115000"/>
              </a:lnSpc>
              <a:buNone/>
            </a:pPr>
            <a:r>
              <a:rPr lang="en-US" sz="1300" dirty="0">
                <a:solidFill>
                  <a:srgbClr val="7D8E9E"/>
                </a:solidFill>
                <a:latin typeface="Calibri" pitchFamily="34" charset="0"/>
                <a:cs typeface="Calibri"/>
              </a:rPr>
              <a:t>20 September 2026</a:t>
            </a:r>
            <a:endParaRPr lang="en-US" sz="1300" dirty="0"/>
          </a:p>
        </p:txBody>
      </p:sp>
      <p:sp>
        <p:nvSpPr>
          <p:cNvPr id="7" name="Text 5"/>
          <p:cNvSpPr txBox="1"/>
          <p:nvPr/>
        </p:nvSpPr>
        <p:spPr>
          <a:xfrm>
            <a:off x="4974336" y="5815584"/>
            <a:ext cx="6400800" cy="274320"/>
          </a:xfrm>
          <a:prstGeom prst="rect">
            <a:avLst/>
          </a:prstGeom>
          <a:noFill/>
          <a:ln/>
        </p:spPr>
        <p:txBody>
          <a:bodyPr wrap="square" lIns="0" tIns="0" rIns="0" bIns="0" rtlCol="0" anchor="t"/>
          <a:lstStyle/>
          <a:p>
            <a:pPr algn="r" indent="0" marL="0">
              <a:lnSpc>
                <a:spcPct val="115000"/>
              </a:lnSpc>
              <a:buNone/>
            </a:pPr>
            <a:r>
              <a:rPr lang="en-US" sz="1300" dirty="0">
                <a:solidFill>
                  <a:srgbClr val="7D8E9E"/>
                </a:solidFill>
                <a:latin typeface="Calibri" pitchFamily="34" charset="0"/>
                <a:cs typeface="Calibri"/>
              </a:rPr>
              <a:t>Every number in this deck is printed by a script in the repository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813816"/>
            <a:ext cx="10561320" cy="566928"/>
          </a:xfrm>
          <a:prstGeom prst="rect">
            <a:avLst/>
          </a:prstGeom>
          <a:noFill/>
          <a:ln/>
        </p:spPr>
        <p:txBody>
          <a:bodyPr wrap="square" lIns="0" tIns="0" rIns="0" bIns="0" rtlCol="0" anchor="t"/>
          <a:lstStyle/>
          <a:p>
            <a:pPr algn="l" indent="0" marL="0">
              <a:lnSpc>
                <a:spcPct val="100000"/>
              </a:lnSpc>
              <a:buNone/>
            </a:pPr>
            <a:r>
              <a:rPr lang="en-US" sz="3400" b="1" dirty="0">
                <a:solidFill>
                  <a:srgbClr val="F2F4F6"/>
                </a:solidFill>
                <a:latin typeface="Calibri" pitchFamily="34" charset="0"/>
                <a:cs typeface="Calibri"/>
              </a:rPr>
              <a:t>The summary in three lines</a:t>
            </a:r>
            <a:endParaRPr lang="en-US" sz="3400" dirty="0"/>
          </a:p>
        </p:txBody>
      </p:sp>
      <p:sp>
        <p:nvSpPr>
          <p:cNvPr id="3" name="Shape 1"/>
          <p:cNvSpPr/>
          <p:nvPr/>
        </p:nvSpPr>
        <p:spPr>
          <a:xfrm>
            <a:off x="813816" y="1664208"/>
            <a:ext cx="10561320" cy="1152144"/>
          </a:xfrm>
          <a:prstGeom prst="roundRect">
            <a:avLst>
              <a:gd name="adj" fmla="val 6349"/>
            </a:avLst>
          </a:prstGeom>
          <a:solidFill>
            <a:srgbClr val="1C2A36"/>
          </a:solidFill>
          <a:ln w="9525">
            <a:solidFill>
              <a:srgbClr val="2D3E50"/>
            </a:solidFill>
            <a:prstDash val="solid"/>
          </a:ln>
        </p:spPr>
      </p:sp>
      <p:sp>
        <p:nvSpPr>
          <p:cNvPr id="4" name="Text 2"/>
          <p:cNvSpPr txBox="1"/>
          <p:nvPr/>
        </p:nvSpPr>
        <p:spPr>
          <a:xfrm>
            <a:off x="1088136" y="1911096"/>
            <a:ext cx="10012680" cy="329184"/>
          </a:xfrm>
          <a:prstGeom prst="rect">
            <a:avLst/>
          </a:prstGeom>
          <a:noFill/>
          <a:ln/>
        </p:spPr>
        <p:txBody>
          <a:bodyPr wrap="square" lIns="0" tIns="0" rIns="0" bIns="0" rtlCol="0" anchor="t"/>
          <a:lstStyle/>
          <a:p>
            <a:pPr algn="l" indent="0" marL="0">
              <a:lnSpc>
                <a:spcPct val="115000"/>
              </a:lnSpc>
              <a:buNone/>
            </a:pPr>
            <a:r>
              <a:rPr lang="en-US" sz="1900" b="1" dirty="0">
                <a:solidFill>
                  <a:srgbClr val="F2F4F6"/>
                </a:solidFill>
                <a:latin typeface="Calibri" pitchFamily="34" charset="0"/>
                <a:cs typeface="Calibri"/>
              </a:rPr>
              <a:t>We audited the simulator and found five defects</a:t>
            </a:r>
            <a:endParaRPr lang="en-US" sz="1900" dirty="0"/>
          </a:p>
        </p:txBody>
      </p:sp>
      <p:sp>
        <p:nvSpPr>
          <p:cNvPr id="5" name="Text 3"/>
          <p:cNvSpPr txBox="1"/>
          <p:nvPr/>
        </p:nvSpPr>
        <p:spPr>
          <a:xfrm>
            <a:off x="1088136" y="2286000"/>
            <a:ext cx="10012680" cy="329184"/>
          </a:xfrm>
          <a:prstGeom prst="rect">
            <a:avLst/>
          </a:prstGeom>
          <a:noFill/>
          <a:ln/>
        </p:spPr>
        <p:txBody>
          <a:bodyPr wrap="square" lIns="0" tIns="0" rIns="0" bIns="0" rtlCol="0" anchor="t"/>
          <a:lstStyle/>
          <a:p>
            <a:pPr algn="l" indent="0" marL="0">
              <a:lnSpc>
                <a:spcPct val="115000"/>
              </a:lnSpc>
              <a:buNone/>
            </a:pPr>
            <a:r>
              <a:rPr lang="en-US" sz="1500" dirty="0">
                <a:solidFill>
                  <a:srgbClr val="93A5B6"/>
                </a:solidFill>
                <a:latin typeface="Calibri" pitchFamily="34" charset="0"/>
                <a:cs typeface="Calibri"/>
              </a:rPr>
              <a:t>Our earlier numbers were built on them, so they are void and must not be quoted</a:t>
            </a:r>
            <a:endParaRPr lang="en-US" sz="1500" dirty="0"/>
          </a:p>
        </p:txBody>
      </p:sp>
      <p:sp>
        <p:nvSpPr>
          <p:cNvPr id="6" name="Shape 4"/>
          <p:cNvSpPr/>
          <p:nvPr/>
        </p:nvSpPr>
        <p:spPr>
          <a:xfrm>
            <a:off x="813816" y="2999232"/>
            <a:ext cx="10561320" cy="1152144"/>
          </a:xfrm>
          <a:prstGeom prst="roundRect">
            <a:avLst>
              <a:gd name="adj" fmla="val 6349"/>
            </a:avLst>
          </a:prstGeom>
          <a:solidFill>
            <a:srgbClr val="1C2A36"/>
          </a:solidFill>
          <a:ln w="9525">
            <a:solidFill>
              <a:srgbClr val="2D3E50"/>
            </a:solidFill>
            <a:prstDash val="solid"/>
          </a:ln>
        </p:spPr>
      </p:sp>
      <p:sp>
        <p:nvSpPr>
          <p:cNvPr id="7" name="Text 5"/>
          <p:cNvSpPr txBox="1"/>
          <p:nvPr/>
        </p:nvSpPr>
        <p:spPr>
          <a:xfrm>
            <a:off x="1088136" y="3246120"/>
            <a:ext cx="10012680" cy="329184"/>
          </a:xfrm>
          <a:prstGeom prst="rect">
            <a:avLst/>
          </a:prstGeom>
          <a:noFill/>
          <a:ln/>
        </p:spPr>
        <p:txBody>
          <a:bodyPr wrap="square" lIns="0" tIns="0" rIns="0" bIns="0" rtlCol="0" anchor="t"/>
          <a:lstStyle/>
          <a:p>
            <a:pPr algn="l" indent="0" marL="0">
              <a:lnSpc>
                <a:spcPct val="115000"/>
              </a:lnSpc>
              <a:buNone/>
            </a:pPr>
            <a:r>
              <a:rPr lang="en-US" sz="1900" b="1" dirty="0">
                <a:solidFill>
                  <a:srgbClr val="F2F4F6"/>
                </a:solidFill>
                <a:latin typeface="Calibri" pitchFamily="34" charset="0"/>
                <a:cs typeface="Calibri"/>
              </a:rPr>
              <a:t>After the fixes, the test scenario itself turned out to be weak</a:t>
            </a:r>
            <a:endParaRPr lang="en-US" sz="1900" dirty="0"/>
          </a:p>
        </p:txBody>
      </p:sp>
      <p:sp>
        <p:nvSpPr>
          <p:cNvPr id="8" name="Text 6"/>
          <p:cNvSpPr txBox="1"/>
          <p:nvPr/>
        </p:nvSpPr>
        <p:spPr>
          <a:xfrm>
            <a:off x="1088136" y="3621024"/>
            <a:ext cx="10012680" cy="329184"/>
          </a:xfrm>
          <a:prstGeom prst="rect">
            <a:avLst/>
          </a:prstGeom>
          <a:noFill/>
          <a:ln/>
        </p:spPr>
        <p:txBody>
          <a:bodyPr wrap="square" lIns="0" tIns="0" rIns="0" bIns="0" rtlCol="0" anchor="t"/>
          <a:lstStyle/>
          <a:p>
            <a:pPr algn="l" indent="0" marL="0">
              <a:lnSpc>
                <a:spcPct val="115000"/>
              </a:lnSpc>
              <a:buNone/>
            </a:pPr>
            <a:r>
              <a:rPr lang="en-US" sz="1500" dirty="0">
                <a:solidFill>
                  <a:srgbClr val="93A5B6"/>
                </a:solidFill>
                <a:latin typeface="Calibri" pitchFamily="34" charset="0"/>
                <a:cs typeface="Calibri"/>
              </a:rPr>
              <a:t>The engine was not loaded enough, so protection had no work to do</a:t>
            </a:r>
            <a:endParaRPr lang="en-US" sz="1500" dirty="0"/>
          </a:p>
        </p:txBody>
      </p:sp>
      <p:sp>
        <p:nvSpPr>
          <p:cNvPr id="9" name="Shape 7"/>
          <p:cNvSpPr/>
          <p:nvPr/>
        </p:nvSpPr>
        <p:spPr>
          <a:xfrm>
            <a:off x="813816" y="4334256"/>
            <a:ext cx="10561320" cy="1152144"/>
          </a:xfrm>
          <a:prstGeom prst="roundRect">
            <a:avLst>
              <a:gd name="adj" fmla="val 6349"/>
            </a:avLst>
          </a:prstGeom>
          <a:solidFill>
            <a:srgbClr val="1C2A36"/>
          </a:solidFill>
          <a:ln w="9525">
            <a:solidFill>
              <a:srgbClr val="2D3E50"/>
            </a:solidFill>
            <a:prstDash val="solid"/>
          </a:ln>
        </p:spPr>
      </p:sp>
      <p:sp>
        <p:nvSpPr>
          <p:cNvPr id="10" name="Text 8"/>
          <p:cNvSpPr txBox="1"/>
          <p:nvPr/>
        </p:nvSpPr>
        <p:spPr>
          <a:xfrm>
            <a:off x="1088136" y="4581144"/>
            <a:ext cx="10012680" cy="329184"/>
          </a:xfrm>
          <a:prstGeom prst="rect">
            <a:avLst/>
          </a:prstGeom>
          <a:noFill/>
          <a:ln/>
        </p:spPr>
        <p:txBody>
          <a:bodyPr wrap="square" lIns="0" tIns="0" rIns="0" bIns="0" rtlCol="0" anchor="t"/>
          <a:lstStyle/>
          <a:p>
            <a:pPr algn="l" indent="0" marL="0">
              <a:lnSpc>
                <a:spcPct val="115000"/>
              </a:lnSpc>
              <a:buNone/>
            </a:pPr>
            <a:r>
              <a:rPr lang="en-US" sz="1900" b="1" dirty="0">
                <a:solidFill>
                  <a:srgbClr val="F2F4F6"/>
                </a:solidFill>
                <a:latin typeface="Calibri" pitchFamily="34" charset="0"/>
                <a:cs typeface="Calibri"/>
              </a:rPr>
              <a:t>We tried four remedies — one of them worked</a:t>
            </a:r>
            <a:endParaRPr lang="en-US" sz="1900" dirty="0"/>
          </a:p>
        </p:txBody>
      </p:sp>
      <p:sp>
        <p:nvSpPr>
          <p:cNvPr id="11" name="Text 9"/>
          <p:cNvSpPr txBox="1"/>
          <p:nvPr/>
        </p:nvSpPr>
        <p:spPr>
          <a:xfrm>
            <a:off x="1088136" y="4956048"/>
            <a:ext cx="10012680" cy="329184"/>
          </a:xfrm>
          <a:prstGeom prst="rect">
            <a:avLst/>
          </a:prstGeom>
          <a:noFill/>
          <a:ln/>
        </p:spPr>
        <p:txBody>
          <a:bodyPr wrap="square" lIns="0" tIns="0" rIns="0" bIns="0" rtlCol="0" anchor="t"/>
          <a:lstStyle/>
          <a:p>
            <a:pPr algn="l" indent="0" marL="0">
              <a:lnSpc>
                <a:spcPct val="115000"/>
              </a:lnSpc>
              <a:buNone/>
            </a:pPr>
            <a:r>
              <a:rPr lang="en-US" sz="1500" dirty="0">
                <a:solidFill>
                  <a:srgbClr val="93A5B6"/>
                </a:solidFill>
                <a:latin typeface="Calibri" pitchFamily="34" charset="0"/>
                <a:cs typeface="Calibri"/>
              </a:rPr>
              <a:t>The other three gave negative results that are worth publishing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E08A78"/>
                </a:solidFill>
                <a:latin typeface="Calibri" pitchFamily="34" charset="0"/>
                <a:cs typeface="Calibri"/>
              </a:rPr>
              <a:t>The five defects</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The simulator was not running five things correctly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3816" y="1783080"/>
          <a:ext cx="10561320" cy="914400"/>
        </p:xfrm>
        <a:graphic>
          <a:graphicData uri="http://schemas.openxmlformats.org/drawingml/2006/table">
            <a:tbl>
              <a:tblPr/>
              <a:tblGrid>
                <a:gridCol w="2514600"/>
                <a:gridCol w="8046720"/>
              </a:tblGrid>
              <a:tr h="411480">
                <a:tc>
                  <a:txBody>
                    <a:bodyPr/>
                    <a:lstStyle/>
                    <a:p>
                      <a:pPr algn="l" indent="0" marL="0">
                        <a:buNone/>
                      </a:pPr>
                      <a:r>
                        <a:rPr lang="en-US" sz="1300" b="1" dirty="0">
                          <a:solidFill>
                            <a:srgbClr val="F2F4F6"/>
                          </a:solidFill>
                          <a:latin typeface="Calibri" pitchFamily="34" charset="0"/>
                          <a:cs typeface="Calibri"/>
                        </a:rPr>
                        <a:t>What</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What was happening</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r>
              <a:tr h="457200">
                <a:tc>
                  <a:txBody>
                    <a:bodyPr/>
                    <a:lstStyle/>
                    <a:p>
                      <a:pPr algn="l" indent="0" marL="0">
                        <a:buNone/>
                      </a:pPr>
                      <a:r>
                        <a:rPr lang="en-US" sz="1400" b="1" dirty="0">
                          <a:solidFill>
                            <a:srgbClr val="F2F4F6"/>
                          </a:solidFill>
                          <a:latin typeface="Calibri" pitchFamily="34" charset="0"/>
                          <a:cs typeface="Calibri"/>
                        </a:rPr>
                        <a:t>Cooling</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Fan off and pump at its minimum — in the baseline car we compare against</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57200">
                <a:tc>
                  <a:txBody>
                    <a:bodyPr/>
                    <a:lstStyle/>
                    <a:p>
                      <a:pPr algn="l" indent="0" marL="0">
                        <a:buNone/>
                      </a:pPr>
                      <a:r>
                        <a:rPr lang="en-US" sz="1400" b="1" dirty="0">
                          <a:solidFill>
                            <a:srgbClr val="F2F4F6"/>
                          </a:solidFill>
                          <a:latin typeface="Calibri" pitchFamily="34" charset="0"/>
                          <a:cs typeface="Calibri"/>
                        </a:rPr>
                        <a:t>Engine controller</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400" dirty="0">
                          <a:solidFill>
                            <a:srgbClr val="C9D3DD"/>
                          </a:solidFill>
                          <a:latin typeface="Calibri" pitchFamily="34" charset="0"/>
                          <a:cs typeface="Calibri"/>
                        </a:rPr>
                        <a:t>Reads a phantom 224 kPa while the engine is really at 175 — so it retards the spark and heats the engine for no reason</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457200">
                <a:tc>
                  <a:txBody>
                    <a:bodyPr/>
                    <a:lstStyle/>
                    <a:p>
                      <a:pPr algn="l" indent="0" marL="0">
                        <a:buNone/>
                      </a:pPr>
                      <a:r>
                        <a:rPr lang="en-US" sz="1400" b="1" dirty="0">
                          <a:solidFill>
                            <a:srgbClr val="F2F4F6"/>
                          </a:solidFill>
                          <a:latin typeface="Calibri" pitchFamily="34" charset="0"/>
                          <a:cs typeface="Calibri"/>
                        </a:rPr>
                        <a:t>The comparison test</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An arithmetic identity that cannot fail — so it was not measuring anything at all</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57200">
                <a:tc>
                  <a:txBody>
                    <a:bodyPr/>
                    <a:lstStyle/>
                    <a:p>
                      <a:pPr algn="l" indent="0" marL="0">
                        <a:buNone/>
                      </a:pPr>
                      <a:r>
                        <a:rPr lang="en-US" sz="1400" b="1" dirty="0">
                          <a:solidFill>
                            <a:srgbClr val="F2F4F6"/>
                          </a:solidFill>
                          <a:latin typeface="Calibri" pitchFamily="34" charset="0"/>
                          <a:cs typeface="Calibri"/>
                        </a:rPr>
                        <a:t>Gear selection</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400" dirty="0">
                          <a:solidFill>
                            <a:srgbClr val="C9D3DD"/>
                          </a:solidFill>
                          <a:latin typeface="Calibri" pitchFamily="34" charset="0"/>
                          <a:cs typeface="Calibri"/>
                        </a:rPr>
                        <a:t>Upshifts in the middle of the climb — which no automatic car does</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457200">
                <a:tc>
                  <a:txBody>
                    <a:bodyPr/>
                    <a:lstStyle/>
                    <a:p>
                      <a:pPr algn="l" indent="0" marL="0">
                        <a:buNone/>
                      </a:pPr>
                      <a:r>
                        <a:rPr lang="en-US" sz="1400" b="1" dirty="0">
                          <a:solidFill>
                            <a:srgbClr val="F2F4F6"/>
                          </a:solidFill>
                          <a:latin typeface="Calibri" pitchFamily="34" charset="0"/>
                          <a:cs typeface="Calibri"/>
                        </a:rPr>
                        <a:t>Gearbox</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Six gears with invented ratios — the car has eight (ZF 8HP51)</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bl>
          </a:graphicData>
        </a:graphic>
      </p:graphicFrame>
      <p:sp>
        <p:nvSpPr>
          <p:cNvPr id="5" name="Text 2"/>
          <p:cNvSpPr txBox="1"/>
          <p:nvPr/>
        </p:nvSpPr>
        <p:spPr>
          <a:xfrm>
            <a:off x="813816" y="5989320"/>
            <a:ext cx="10561320" cy="27432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Gearbox ratios from Toyota's own document, confirmed by the car's logs: 86.7% of 79,105 samples fall on one of the eight ratios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E08A78"/>
                </a:solidFill>
                <a:latin typeface="Calibri" pitchFamily="34" charset="0"/>
                <a:cs typeface="Calibri"/>
              </a:rPr>
              <a:t>A declared retraction</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The number we were proud of was not a result</a:t>
            </a:r>
            <a:endParaRPr lang="en-US" sz="3000" dirty="0"/>
          </a:p>
        </p:txBody>
      </p:sp>
      <p:sp>
        <p:nvSpPr>
          <p:cNvPr id="4" name="Shape 2"/>
          <p:cNvSpPr/>
          <p:nvPr/>
        </p:nvSpPr>
        <p:spPr>
          <a:xfrm>
            <a:off x="813816" y="1874520"/>
            <a:ext cx="10561320" cy="2468880"/>
          </a:xfrm>
          <a:prstGeom prst="roundRect">
            <a:avLst>
              <a:gd name="adj" fmla="val 2963"/>
            </a:avLst>
          </a:prstGeom>
          <a:solidFill>
            <a:srgbClr val="22303F"/>
          </a:solidFill>
          <a:ln w="9525">
            <a:solidFill>
              <a:srgbClr val="2D3E50"/>
            </a:solidFill>
            <a:prstDash val="solid"/>
          </a:ln>
        </p:spPr>
      </p:sp>
      <p:sp>
        <p:nvSpPr>
          <p:cNvPr id="5" name="Text 3"/>
          <p:cNvSpPr txBox="1"/>
          <p:nvPr/>
        </p:nvSpPr>
        <p:spPr>
          <a:xfrm>
            <a:off x="1133856" y="2103120"/>
            <a:ext cx="9921240" cy="731520"/>
          </a:xfrm>
          <a:prstGeom prst="rect">
            <a:avLst/>
          </a:prstGeom>
          <a:noFill/>
          <a:ln/>
        </p:spPr>
        <p:txBody>
          <a:bodyPr wrap="square" lIns="0" tIns="0" rIns="0" bIns="0" rtlCol="0" anchor="t"/>
          <a:lstStyle/>
          <a:p>
            <a:pPr algn="l" indent="0" marL="0">
              <a:lnSpc>
                <a:spcPct val="115000"/>
              </a:lnSpc>
              <a:buNone/>
            </a:pPr>
            <a:r>
              <a:rPr lang="en-US" sz="1700" dirty="0">
                <a:solidFill>
                  <a:srgbClr val="C9D3DD"/>
                </a:solidFill>
                <a:latin typeface="Calibri" pitchFamily="34" charset="0"/>
                <a:cs typeface="Calibri"/>
              </a:rPr>
              <a:t>We used to say: if we switch preview off, the model falls back to reactive behaviour with </a:t>
            </a:r>
            <a:r>
              <a:rPr lang="en-US" sz="1700" b="1" dirty="0">
                <a:solidFill>
                  <a:srgbClr val="C9D3DD"/>
                </a:solidFill>
                <a:latin typeface="Calibri" pitchFamily="34" charset="0"/>
                <a:cs typeface="Calibri"/>
              </a:rPr>
              <a:t>exactly the same number</a:t>
            </a:r>
            <a:r>
              <a:rPr lang="en-US" sz="1700" dirty="0">
                <a:solidFill>
                  <a:srgbClr val="C9D3DD"/>
                </a:solidFill>
                <a:latin typeface="Calibri" pitchFamily="34" charset="0"/>
                <a:cs typeface="Calibri"/>
              </a:rPr>
              <a:t> — and we took it as our strongest evidence.</a:t>
            </a:r>
            <a:endParaRPr lang="en-US" sz="1700" dirty="0"/>
          </a:p>
        </p:txBody>
      </p:sp>
      <p:sp>
        <p:nvSpPr>
          <p:cNvPr id="6" name="Text 4"/>
          <p:cNvSpPr txBox="1"/>
          <p:nvPr/>
        </p:nvSpPr>
        <p:spPr>
          <a:xfrm>
            <a:off x="1133856" y="2880360"/>
            <a:ext cx="9921240" cy="411480"/>
          </a:xfrm>
          <a:prstGeom prst="rect">
            <a:avLst/>
          </a:prstGeom>
          <a:noFill/>
          <a:ln/>
        </p:spPr>
        <p:txBody>
          <a:bodyPr wrap="square" lIns="0" tIns="0" rIns="0" bIns="0" rtlCol="0" anchor="t"/>
          <a:lstStyle/>
          <a:p>
            <a:pPr algn="l" indent="0" marL="0">
              <a:lnSpc>
                <a:spcPct val="115000"/>
              </a:lnSpc>
              <a:buNone/>
            </a:pPr>
            <a:r>
              <a:rPr lang="en-US" sz="2100" b="1" dirty="0">
                <a:solidFill>
                  <a:srgbClr val="E08A78"/>
                </a:solidFill>
                <a:latin typeface="Calibri" pitchFamily="34" charset="0"/>
                <a:cs typeface="Calibri"/>
              </a:rPr>
              <a:t>But it could not have come out any other way.</a:t>
            </a:r>
            <a:endParaRPr lang="en-US" sz="2100" dirty="0"/>
          </a:p>
        </p:txBody>
      </p:sp>
      <p:sp>
        <p:nvSpPr>
          <p:cNvPr id="7" name="Text 5"/>
          <p:cNvSpPr txBox="1"/>
          <p:nvPr/>
        </p:nvSpPr>
        <p:spPr>
          <a:xfrm>
            <a:off x="1133856" y="3429000"/>
            <a:ext cx="9921240" cy="777240"/>
          </a:xfrm>
          <a:prstGeom prst="rect">
            <a:avLst/>
          </a:prstGeom>
          <a:noFill/>
          <a:ln/>
        </p:spPr>
        <p:txBody>
          <a:bodyPr wrap="square" lIns="0" tIns="0" rIns="0" bIns="0" rtlCol="0" anchor="t"/>
          <a:lstStyle/>
          <a:p>
            <a:pPr algn="l" indent="0" marL="0">
              <a:lnSpc>
                <a:spcPct val="115000"/>
              </a:lnSpc>
              <a:buNone/>
            </a:pPr>
            <a:r>
              <a:rPr lang="en-US" sz="1550" dirty="0">
                <a:solidFill>
                  <a:srgbClr val="93A5B6"/>
                </a:solidFill>
                <a:latin typeface="Calibri" pitchFamily="34" charset="0"/>
                <a:cs typeface="Calibri"/>
              </a:rPr>
              <a:t>With preview off, its reading returns zeros, so the predictive policy literally becomes the reactive policy. We were running the same experiment twice and comparing the result with itself.</a:t>
            </a:r>
            <a:endParaRPr lang="en-US" sz="1550" dirty="0"/>
          </a:p>
        </p:txBody>
      </p:sp>
      <p:sp>
        <p:nvSpPr>
          <p:cNvPr id="8" name="Shape 6"/>
          <p:cNvSpPr/>
          <p:nvPr/>
        </p:nvSpPr>
        <p:spPr>
          <a:xfrm>
            <a:off x="813816" y="4572000"/>
            <a:ext cx="5166360" cy="1188720"/>
          </a:xfrm>
          <a:prstGeom prst="roundRect">
            <a:avLst>
              <a:gd name="adj" fmla="val 6154"/>
            </a:avLst>
          </a:prstGeom>
          <a:solidFill>
            <a:srgbClr val="172B3D"/>
          </a:solidFill>
          <a:ln w="9525">
            <a:solidFill>
              <a:srgbClr val="2F6FA8"/>
            </a:solidFill>
            <a:prstDash val="solid"/>
          </a:ln>
        </p:spPr>
      </p:sp>
      <p:sp>
        <p:nvSpPr>
          <p:cNvPr id="9" name="Text 7"/>
          <p:cNvSpPr txBox="1"/>
          <p:nvPr/>
        </p:nvSpPr>
        <p:spPr>
          <a:xfrm>
            <a:off x="1088136" y="4754880"/>
            <a:ext cx="4617720" cy="274320"/>
          </a:xfrm>
          <a:prstGeom prst="rect">
            <a:avLst/>
          </a:prstGeom>
          <a:noFill/>
          <a:ln/>
        </p:spPr>
        <p:txBody>
          <a:bodyPr wrap="square" lIns="0" tIns="0" rIns="0" bIns="0" rtlCol="0" anchor="t"/>
          <a:lstStyle/>
          <a:p>
            <a:pPr algn="l" indent="0" marL="0">
              <a:lnSpc>
                <a:spcPct val="115000"/>
              </a:lnSpc>
              <a:buNone/>
            </a:pPr>
            <a:r>
              <a:rPr lang="en-US" sz="1350" dirty="0">
                <a:solidFill>
                  <a:srgbClr val="7FB2DC"/>
                </a:solidFill>
                <a:latin typeface="Calibri" pitchFamily="34" charset="0"/>
                <a:cs typeface="Calibri"/>
              </a:rPr>
              <a:t>The lesson</a:t>
            </a:r>
            <a:endParaRPr lang="en-US" sz="1350" dirty="0"/>
          </a:p>
        </p:txBody>
      </p:sp>
      <p:sp>
        <p:nvSpPr>
          <p:cNvPr id="10" name="Text 8"/>
          <p:cNvSpPr txBox="1"/>
          <p:nvPr/>
        </p:nvSpPr>
        <p:spPr>
          <a:xfrm>
            <a:off x="1088136" y="5065776"/>
            <a:ext cx="4617720" cy="365760"/>
          </a:xfrm>
          <a:prstGeom prst="rect">
            <a:avLst/>
          </a:prstGeom>
          <a:noFill/>
          <a:ln/>
        </p:spPr>
        <p:txBody>
          <a:bodyPr wrap="square" lIns="0" tIns="0" rIns="0" bIns="0" rtlCol="0" anchor="t"/>
          <a:lstStyle/>
          <a:p>
            <a:pPr algn="l" indent="0" marL="0">
              <a:lnSpc>
                <a:spcPct val="115000"/>
              </a:lnSpc>
              <a:buNone/>
            </a:pPr>
            <a:r>
              <a:rPr lang="en-US" sz="1600" dirty="0">
                <a:solidFill>
                  <a:srgbClr val="F2F4F6"/>
                </a:solidFill>
                <a:latin typeface="Calibri" pitchFamily="34" charset="0"/>
                <a:cs typeface="Calibri"/>
              </a:rPr>
              <a:t>A test that cannot fail cannot confirm</a:t>
            </a:r>
            <a:endParaRPr lang="en-US" sz="1600" dirty="0"/>
          </a:p>
        </p:txBody>
      </p:sp>
      <p:sp>
        <p:nvSpPr>
          <p:cNvPr id="11" name="Shape 9"/>
          <p:cNvSpPr/>
          <p:nvPr/>
        </p:nvSpPr>
        <p:spPr>
          <a:xfrm>
            <a:off x="6208776" y="4572000"/>
            <a:ext cx="5166360" cy="1188720"/>
          </a:xfrm>
          <a:prstGeom prst="roundRect">
            <a:avLst>
              <a:gd name="adj" fmla="val 6154"/>
            </a:avLst>
          </a:prstGeom>
          <a:solidFill>
            <a:srgbClr val="2B1F1D"/>
          </a:solidFill>
          <a:ln w="9525">
            <a:solidFill>
              <a:srgbClr val="7A4034"/>
            </a:solidFill>
            <a:prstDash val="solid"/>
          </a:ln>
        </p:spPr>
      </p:sp>
      <p:sp>
        <p:nvSpPr>
          <p:cNvPr id="12" name="Text 10"/>
          <p:cNvSpPr txBox="1"/>
          <p:nvPr/>
        </p:nvSpPr>
        <p:spPr>
          <a:xfrm>
            <a:off x="6483096" y="4754880"/>
            <a:ext cx="4617720" cy="274320"/>
          </a:xfrm>
          <a:prstGeom prst="rect">
            <a:avLst/>
          </a:prstGeom>
          <a:noFill/>
          <a:ln/>
        </p:spPr>
        <p:txBody>
          <a:bodyPr wrap="square" lIns="0" tIns="0" rIns="0" bIns="0" rtlCol="0" anchor="t"/>
          <a:lstStyle/>
          <a:p>
            <a:pPr algn="l" indent="0" marL="0">
              <a:lnSpc>
                <a:spcPct val="115000"/>
              </a:lnSpc>
              <a:buNone/>
            </a:pPr>
            <a:r>
              <a:rPr lang="en-US" sz="1350" dirty="0">
                <a:solidFill>
                  <a:srgbClr val="E08A78"/>
                </a:solidFill>
                <a:latin typeface="Calibri" pitchFamily="34" charset="0"/>
                <a:cs typeface="Calibri"/>
              </a:rPr>
              <a:t>What it voids</a:t>
            </a:r>
            <a:endParaRPr lang="en-US" sz="1350" dirty="0"/>
          </a:p>
        </p:txBody>
      </p:sp>
      <p:sp>
        <p:nvSpPr>
          <p:cNvPr id="13" name="Text 11"/>
          <p:cNvSpPr txBox="1"/>
          <p:nvPr/>
        </p:nvSpPr>
        <p:spPr>
          <a:xfrm>
            <a:off x="6483096" y="5065776"/>
            <a:ext cx="4617720" cy="594360"/>
          </a:xfrm>
          <a:prstGeom prst="rect">
            <a:avLst/>
          </a:prstGeom>
          <a:noFill/>
          <a:ln/>
        </p:spPr>
        <p:txBody>
          <a:bodyPr wrap="square" lIns="0" tIns="0" rIns="0" bIns="0" rtlCol="0" anchor="t"/>
          <a:lstStyle/>
          <a:p>
            <a:pPr algn="l" indent="0" marL="0">
              <a:lnSpc>
                <a:spcPct val="115000"/>
              </a:lnSpc>
              <a:buNone/>
            </a:pPr>
            <a:r>
              <a:rPr lang="en-US" sz="1600" dirty="0">
                <a:solidFill>
                  <a:srgbClr val="F2F4F6"/>
                </a:solidFill>
                <a:latin typeface="Calibri" pitchFamily="34" charset="0"/>
                <a:cs typeface="Calibri"/>
              </a:rPr>
              <a:t>The 13.4-point preview advantage, and every number built on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The measurement that changed direction</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How often does the car actually reach the protection limit?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3816" y="1691640"/>
          <a:ext cx="6766560" cy="914400"/>
        </p:xfrm>
        <a:graphic>
          <a:graphicData uri="http://schemas.openxmlformats.org/drawingml/2006/table">
            <a:tbl>
              <a:tblPr/>
              <a:tblGrid>
                <a:gridCol w="2148840"/>
                <a:gridCol w="1097280"/>
                <a:gridCol w="1691640"/>
                <a:gridCol w="1828800"/>
              </a:tblGrid>
              <a:tr h="411480">
                <a:tc>
                  <a:txBody>
                    <a:bodyPr/>
                    <a:lstStyle/>
                    <a:p>
                      <a:pPr algn="l" indent="0" marL="0">
                        <a:buNone/>
                      </a:pPr>
                      <a:r>
                        <a:rPr lang="en-US" sz="1300" b="1" dirty="0">
                          <a:solidFill>
                            <a:srgbClr val="F2F4F6"/>
                          </a:solidFill>
                          <a:latin typeface="Calibri" pitchFamily="34" charset="0"/>
                          <a:cs typeface="Calibri"/>
                        </a:rPr>
                        <a:t>Drive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Minutes</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Peak temperature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Seconds over the limit</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r>
              <a:tr h="438912">
                <a:tc>
                  <a:txBody>
                    <a:bodyPr/>
                    <a:lstStyle/>
                    <a:p>
                      <a:pPr algn="l" indent="0" marL="0">
                        <a:buNone/>
                      </a:pPr>
                      <a:r>
                        <a:rPr lang="en-US" sz="1350" dirty="0">
                          <a:solidFill>
                            <a:srgbClr val="C9D3DD"/>
                          </a:solidFill>
                          <a:latin typeface="Calibri" pitchFamily="34" charset="0"/>
                          <a:cs typeface="Calibri"/>
                        </a:rPr>
                        <a:t>7475b5d7</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55.1</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b="1" dirty="0">
                          <a:solidFill>
                            <a:srgbClr val="E08A78"/>
                          </a:solidFill>
                          <a:latin typeface="Calibri" pitchFamily="34" charset="0"/>
                          <a:cs typeface="Calibri"/>
                        </a:rPr>
                        <a:t>890.6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b="1" dirty="0">
                          <a:solidFill>
                            <a:srgbClr val="E08A78"/>
                          </a:solidFill>
                          <a:latin typeface="Calibri" pitchFamily="34" charset="0"/>
                          <a:cs typeface="Calibri"/>
                        </a:rPr>
                        <a:t>36</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38912">
                <a:tc>
                  <a:txBody>
                    <a:bodyPr/>
                    <a:lstStyle/>
                    <a:p>
                      <a:pPr algn="l" indent="0" marL="0">
                        <a:buNone/>
                      </a:pPr>
                      <a:r>
                        <a:rPr lang="en-US" sz="1350" dirty="0">
                          <a:solidFill>
                            <a:srgbClr val="C9D3DD"/>
                          </a:solidFill>
                          <a:latin typeface="Calibri" pitchFamily="34" charset="0"/>
                          <a:cs typeface="Calibri"/>
                        </a:rPr>
                        <a:t>drive10 — Taif</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119.4</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797.6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0</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438912">
                <a:tc>
                  <a:txBody>
                    <a:bodyPr/>
                    <a:lstStyle/>
                    <a:p>
                      <a:pPr algn="l" indent="0" marL="0">
                        <a:buNone/>
                      </a:pPr>
                      <a:r>
                        <a:rPr lang="en-US" sz="1350" dirty="0">
                          <a:solidFill>
                            <a:srgbClr val="C9D3DD"/>
                          </a:solidFill>
                          <a:latin typeface="Calibri" pitchFamily="34" charset="0"/>
                          <a:cs typeface="Calibri"/>
                        </a:rPr>
                        <a:t>670063b2</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7.3</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780.3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350" dirty="0">
                          <a:solidFill>
                            <a:srgbClr val="C9D3DD"/>
                          </a:solidFill>
                          <a:latin typeface="Calibri" pitchFamily="34" charset="0"/>
                          <a:cs typeface="Calibri"/>
                        </a:rPr>
                        <a:t>0</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38912">
                <a:tc>
                  <a:txBody>
                    <a:bodyPr/>
                    <a:lstStyle/>
                    <a:p>
                      <a:pPr algn="l" indent="0" marL="0">
                        <a:buNone/>
                      </a:pPr>
                      <a:r>
                        <a:rPr lang="en-US" sz="1350" dirty="0">
                          <a:solidFill>
                            <a:srgbClr val="93A5B6"/>
                          </a:solidFill>
                          <a:latin typeface="Calibri" pitchFamily="34" charset="0"/>
                          <a:cs typeface="Calibri"/>
                        </a:rPr>
                        <a:t>The other seven drives</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110.2</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340–728 °C</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350" dirty="0">
                          <a:solidFill>
                            <a:srgbClr val="C9D3DD"/>
                          </a:solidFill>
                          <a:latin typeface="Calibri" pitchFamily="34" charset="0"/>
                          <a:cs typeface="Calibri"/>
                        </a:rPr>
                        <a:t>0</a:t>
                      </a:r>
                      <a:endParaRPr lang="en-US" sz="135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bl>
          </a:graphicData>
        </a:graphic>
      </p:graphicFrame>
      <p:sp>
        <p:nvSpPr>
          <p:cNvPr id="5" name="Text 2"/>
          <p:cNvSpPr txBox="1"/>
          <p:nvPr/>
        </p:nvSpPr>
        <p:spPr>
          <a:xfrm>
            <a:off x="813816" y="4069080"/>
            <a:ext cx="6766560" cy="502920"/>
          </a:xfrm>
          <a:prstGeom prst="rect">
            <a:avLst/>
          </a:prstGeom>
          <a:noFill/>
          <a:ln/>
        </p:spPr>
        <p:txBody>
          <a:bodyPr wrap="square" lIns="0" tIns="0" rIns="0" bIns="0" rtlCol="0" anchor="t"/>
          <a:lstStyle/>
          <a:p>
            <a:pPr algn="l" indent="0" marL="0">
              <a:lnSpc>
                <a:spcPct val="115000"/>
              </a:lnSpc>
              <a:buNone/>
            </a:pPr>
            <a:r>
              <a:rPr lang="en-US" sz="1200" dirty="0">
                <a:solidFill>
                  <a:srgbClr val="93A5B6"/>
                </a:solidFill>
                <a:latin typeface="Calibri" pitchFamily="34" charset="0"/>
                <a:cs typeface="Calibri"/>
              </a:rPr>
              <a:t>Ten drives · 295.0 minutes logged · protection limit 850 °C · the temperature is our model's estimate, because the car has no sensor there</a:t>
            </a:r>
            <a:endParaRPr lang="en-US" sz="1200" dirty="0"/>
          </a:p>
        </p:txBody>
      </p:sp>
      <p:sp>
        <p:nvSpPr>
          <p:cNvPr id="6" name="Shape 3"/>
          <p:cNvSpPr/>
          <p:nvPr/>
        </p:nvSpPr>
        <p:spPr>
          <a:xfrm>
            <a:off x="7909560" y="1691640"/>
            <a:ext cx="3465576" cy="2697480"/>
          </a:xfrm>
          <a:prstGeom prst="roundRect">
            <a:avLst>
              <a:gd name="adj" fmla="val 2712"/>
            </a:avLst>
          </a:prstGeom>
          <a:solidFill>
            <a:srgbClr val="22303F"/>
          </a:solidFill>
          <a:ln w="9525">
            <a:solidFill>
              <a:srgbClr val="2D3E50"/>
            </a:solidFill>
            <a:prstDash val="solid"/>
          </a:ln>
        </p:spPr>
      </p:sp>
      <p:sp>
        <p:nvSpPr>
          <p:cNvPr id="7" name="Text 4"/>
          <p:cNvSpPr txBox="1"/>
          <p:nvPr/>
        </p:nvSpPr>
        <p:spPr>
          <a:xfrm>
            <a:off x="8183880" y="2331720"/>
            <a:ext cx="2916936" cy="685800"/>
          </a:xfrm>
          <a:prstGeom prst="rect">
            <a:avLst/>
          </a:prstGeom>
          <a:noFill/>
          <a:ln/>
        </p:spPr>
        <p:txBody>
          <a:bodyPr wrap="square" lIns="0" tIns="0" rIns="0" bIns="0" rtlCol="0" anchor="t"/>
          <a:lstStyle/>
          <a:p>
            <a:pPr algn="l" indent="0" marL="0">
              <a:lnSpc>
                <a:spcPct val="100000"/>
              </a:lnSpc>
              <a:buNone/>
            </a:pPr>
            <a:r>
              <a:rPr lang="en-US" sz="4600" b="1" dirty="0">
                <a:solidFill>
                  <a:srgbClr val="F2F4F6"/>
                </a:solidFill>
                <a:latin typeface="Calibri" pitchFamily="34" charset="0"/>
                <a:cs typeface="Calibri"/>
              </a:rPr>
              <a:t>0.206%</a:t>
            </a:r>
            <a:endParaRPr lang="en-US" sz="4600" dirty="0"/>
          </a:p>
        </p:txBody>
      </p:sp>
      <p:sp>
        <p:nvSpPr>
          <p:cNvPr id="8" name="Text 5"/>
          <p:cNvSpPr txBox="1"/>
          <p:nvPr/>
        </p:nvSpPr>
        <p:spPr>
          <a:xfrm>
            <a:off x="8183880" y="3127248"/>
            <a:ext cx="2916936" cy="640080"/>
          </a:xfrm>
          <a:prstGeom prst="rect">
            <a:avLst/>
          </a:prstGeom>
          <a:noFill/>
          <a:ln/>
        </p:spPr>
        <p:txBody>
          <a:bodyPr wrap="square" lIns="0" tIns="0" rIns="0" bIns="0" rtlCol="0" anchor="t"/>
          <a:lstStyle/>
          <a:p>
            <a:pPr algn="l" indent="0" marL="0">
              <a:lnSpc>
                <a:spcPct val="115000"/>
              </a:lnSpc>
              <a:buNone/>
            </a:pPr>
            <a:r>
              <a:rPr lang="en-US" sz="1450" dirty="0">
                <a:solidFill>
                  <a:srgbClr val="93A5B6"/>
                </a:solidFill>
                <a:latin typeface="Calibri" pitchFamily="34" charset="0"/>
                <a:cs typeface="Calibri"/>
              </a:rPr>
              <a:t>36 seconds out of 292.0 minutes of real driving</a:t>
            </a:r>
            <a:endParaRPr lang="en-US" sz="1450" dirty="0"/>
          </a:p>
        </p:txBody>
      </p:sp>
      <p:sp>
        <p:nvSpPr>
          <p:cNvPr id="9" name="Shape 6"/>
          <p:cNvSpPr/>
          <p:nvPr/>
        </p:nvSpPr>
        <p:spPr>
          <a:xfrm>
            <a:off x="813816" y="4709160"/>
            <a:ext cx="10561320" cy="1051560"/>
          </a:xfrm>
          <a:prstGeom prst="roundRect">
            <a:avLst>
              <a:gd name="adj" fmla="val 6957"/>
            </a:avLst>
          </a:prstGeom>
          <a:solidFill>
            <a:srgbClr val="172B3D"/>
          </a:solidFill>
          <a:ln w="9525">
            <a:solidFill>
              <a:srgbClr val="2F6FA8"/>
            </a:solidFill>
            <a:prstDash val="solid"/>
          </a:ln>
        </p:spPr>
      </p:sp>
      <p:sp>
        <p:nvSpPr>
          <p:cNvPr id="10" name="Text 7"/>
          <p:cNvSpPr txBox="1"/>
          <p:nvPr/>
        </p:nvSpPr>
        <p:spPr>
          <a:xfrm>
            <a:off x="1088136" y="4864608"/>
            <a:ext cx="10012680" cy="777240"/>
          </a:xfrm>
          <a:prstGeom prst="rect">
            <a:avLst/>
          </a:prstGeom>
          <a:noFill/>
          <a:ln/>
        </p:spPr>
        <p:txBody>
          <a:bodyPr wrap="square" lIns="0" tIns="0" rIns="0" bIns="0" rtlCol="0" anchor="t"/>
          <a:lstStyle/>
          <a:p>
            <a:pPr algn="l" indent="0" marL="0">
              <a:lnSpc>
                <a:spcPct val="115000"/>
              </a:lnSpc>
              <a:buNone/>
            </a:pPr>
            <a:r>
              <a:rPr lang="en-US" sz="1500" dirty="0">
                <a:solidFill>
                  <a:srgbClr val="F2F4F6"/>
                </a:solidFill>
                <a:latin typeface="Calibri" pitchFamily="34" charset="0"/>
                <a:cs typeface="Calibri"/>
              </a:rPr>
              <a:t>One drive in ten touches the limit — </a:t>
            </a:r>
            <a:r>
              <a:rPr lang="en-US" sz="1500" b="1" dirty="0">
                <a:solidFill>
                  <a:srgbClr val="F2F4F6"/>
                </a:solidFill>
                <a:latin typeface="Calibri" pitchFamily="34" charset="0"/>
                <a:cs typeface="Calibri"/>
              </a:rPr>
              <a:t>and that is itself a result for the thesis</a:t>
            </a:r>
            <a:r>
              <a:rPr lang="en-US" sz="1500" dirty="0">
                <a:solidFill>
                  <a:srgbClr val="F2F4F6"/>
                </a:solidFill>
                <a:latin typeface="Calibri" pitchFamily="34" charset="0"/>
                <a:cs typeface="Calibri"/>
              </a:rPr>
              <a:t>: on this car, in this driving, the protected part is near its limit a fifth of one percent of the time. That is exactly the kind of answer the criterion exists to give.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Four attempts</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We tried four ways to load the engine — one worked</a:t>
            </a:r>
            <a:endParaRPr lang="en-US" sz="3000" dirty="0"/>
          </a:p>
        </p:txBody>
      </p:sp>
      <p:sp>
        <p:nvSpPr>
          <p:cNvPr id="4" name="Shape 2"/>
          <p:cNvSpPr/>
          <p:nvPr/>
        </p:nvSpPr>
        <p:spPr>
          <a:xfrm>
            <a:off x="813816" y="1691640"/>
            <a:ext cx="10561320" cy="896112"/>
          </a:xfrm>
          <a:prstGeom prst="roundRect">
            <a:avLst>
              <a:gd name="adj" fmla="val 8163"/>
            </a:avLst>
          </a:prstGeom>
          <a:solidFill>
            <a:srgbClr val="1C2A36"/>
          </a:solidFill>
          <a:ln w="9525">
            <a:solidFill>
              <a:srgbClr val="2D3E50"/>
            </a:solidFill>
            <a:prstDash val="solid"/>
          </a:ln>
        </p:spPr>
      </p:sp>
      <p:sp>
        <p:nvSpPr>
          <p:cNvPr id="5" name="Text 3"/>
          <p:cNvSpPr txBox="1"/>
          <p:nvPr/>
        </p:nvSpPr>
        <p:spPr>
          <a:xfrm>
            <a:off x="1088136" y="1847088"/>
            <a:ext cx="6446520" cy="329184"/>
          </a:xfrm>
          <a:prstGeom prst="rect">
            <a:avLst/>
          </a:prstGeom>
          <a:noFill/>
          <a:ln/>
        </p:spPr>
        <p:txBody>
          <a:bodyPr wrap="square" lIns="0" tIns="0" rIns="0" bIns="0" rtlCol="0" anchor="t"/>
          <a:lstStyle/>
          <a:p>
            <a:pPr algn="l" indent="0" marL="0">
              <a:lnSpc>
                <a:spcPct val="115000"/>
              </a:lnSpc>
              <a:buNone/>
            </a:pPr>
            <a:r>
              <a:rPr lang="en-US" sz="1700" b="1" dirty="0">
                <a:solidFill>
                  <a:srgbClr val="F2F4F6"/>
                </a:solidFill>
                <a:latin typeface="Calibri" pitchFamily="34" charset="0"/>
                <a:cs typeface="Calibri"/>
              </a:rPr>
              <a:t>A rolling road — repeated up and down</a:t>
            </a:r>
            <a:endParaRPr lang="en-US" sz="1700" dirty="0"/>
          </a:p>
        </p:txBody>
      </p:sp>
      <p:sp>
        <p:nvSpPr>
          <p:cNvPr id="6" name="Text 4"/>
          <p:cNvSpPr txBox="1"/>
          <p:nvPr/>
        </p:nvSpPr>
        <p:spPr>
          <a:xfrm>
            <a:off x="1088136" y="2194560"/>
            <a:ext cx="6446520" cy="292608"/>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Hypothesis: preview gains more the more the road changes</a:t>
            </a:r>
            <a:endParaRPr lang="en-US" sz="1350" dirty="0"/>
          </a:p>
        </p:txBody>
      </p:sp>
      <p:sp>
        <p:nvSpPr>
          <p:cNvPr id="7" name="Text 5"/>
          <p:cNvSpPr txBox="1"/>
          <p:nvPr/>
        </p:nvSpPr>
        <p:spPr>
          <a:xfrm>
            <a:off x="7680960" y="1847088"/>
            <a:ext cx="3419856" cy="329184"/>
          </a:xfrm>
          <a:prstGeom prst="rect">
            <a:avLst/>
          </a:prstGeom>
          <a:noFill/>
          <a:ln/>
        </p:spPr>
        <p:txBody>
          <a:bodyPr wrap="square" lIns="0" tIns="0" rIns="0" bIns="0" rtlCol="0" anchor="t"/>
          <a:lstStyle/>
          <a:p>
            <a:pPr algn="l" indent="0" marL="0">
              <a:lnSpc>
                <a:spcPct val="115000"/>
              </a:lnSpc>
              <a:buNone/>
            </a:pPr>
            <a:r>
              <a:rPr lang="en-US" sz="1700" b="1" dirty="0">
                <a:solidFill>
                  <a:srgbClr val="E08A78"/>
                </a:solidFill>
                <a:latin typeface="Calibri" pitchFamily="34" charset="0"/>
                <a:cs typeface="Calibri"/>
              </a:rPr>
              <a:t>Failed — the reverse is true</a:t>
            </a:r>
            <a:endParaRPr lang="en-US" sz="1700" dirty="0"/>
          </a:p>
        </p:txBody>
      </p:sp>
      <p:sp>
        <p:nvSpPr>
          <p:cNvPr id="8" name="Text 6"/>
          <p:cNvSpPr txBox="1"/>
          <p:nvPr/>
        </p:nvSpPr>
        <p:spPr>
          <a:xfrm>
            <a:off x="7680960" y="2194560"/>
            <a:ext cx="3419856" cy="29260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the faster the change, the worse the result</a:t>
            </a:r>
            <a:endParaRPr lang="en-US" sz="1300" dirty="0"/>
          </a:p>
        </p:txBody>
      </p:sp>
      <p:sp>
        <p:nvSpPr>
          <p:cNvPr id="9" name="Shape 7"/>
          <p:cNvSpPr/>
          <p:nvPr/>
        </p:nvSpPr>
        <p:spPr>
          <a:xfrm>
            <a:off x="813816" y="2715768"/>
            <a:ext cx="10561320" cy="896112"/>
          </a:xfrm>
          <a:prstGeom prst="roundRect">
            <a:avLst>
              <a:gd name="adj" fmla="val 8163"/>
            </a:avLst>
          </a:prstGeom>
          <a:solidFill>
            <a:srgbClr val="1C2A36"/>
          </a:solidFill>
          <a:ln w="9525">
            <a:solidFill>
              <a:srgbClr val="2D3E50"/>
            </a:solidFill>
            <a:prstDash val="solid"/>
          </a:ln>
        </p:spPr>
      </p:sp>
      <p:sp>
        <p:nvSpPr>
          <p:cNvPr id="10" name="Text 8"/>
          <p:cNvSpPr txBox="1"/>
          <p:nvPr/>
        </p:nvSpPr>
        <p:spPr>
          <a:xfrm>
            <a:off x="1088136" y="2871216"/>
            <a:ext cx="6446520" cy="329184"/>
          </a:xfrm>
          <a:prstGeom prst="rect">
            <a:avLst/>
          </a:prstGeom>
          <a:noFill/>
          <a:ln/>
        </p:spPr>
        <p:txBody>
          <a:bodyPr wrap="square" lIns="0" tIns="0" rIns="0" bIns="0" rtlCol="0" anchor="t"/>
          <a:lstStyle/>
          <a:p>
            <a:pPr algn="l" indent="0" marL="0">
              <a:lnSpc>
                <a:spcPct val="115000"/>
              </a:lnSpc>
              <a:buNone/>
            </a:pPr>
            <a:r>
              <a:rPr lang="en-US" sz="1700" b="1" dirty="0">
                <a:solidFill>
                  <a:srgbClr val="F2F4F6"/>
                </a:solidFill>
                <a:latin typeface="Calibri" pitchFamily="34" charset="0"/>
                <a:cs typeface="Calibri"/>
              </a:rPr>
              <a:t>The published towing standard SAE J2807</a:t>
            </a:r>
            <a:endParaRPr lang="en-US" sz="1700" dirty="0"/>
          </a:p>
        </p:txBody>
      </p:sp>
      <p:sp>
        <p:nvSpPr>
          <p:cNvPr id="11" name="Text 9"/>
          <p:cNvSpPr txBox="1"/>
          <p:nvPr/>
        </p:nvSpPr>
        <p:spPr>
          <a:xfrm>
            <a:off x="1088136" y="3218688"/>
            <a:ext cx="6446520" cy="292608"/>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Hypothesis: a world standard written precisely to load engines</a:t>
            </a:r>
            <a:endParaRPr lang="en-US" sz="1350" dirty="0"/>
          </a:p>
        </p:txBody>
      </p:sp>
      <p:sp>
        <p:nvSpPr>
          <p:cNvPr id="12" name="Text 10"/>
          <p:cNvSpPr txBox="1"/>
          <p:nvPr/>
        </p:nvSpPr>
        <p:spPr>
          <a:xfrm>
            <a:off x="7680960" y="2871216"/>
            <a:ext cx="3419856" cy="329184"/>
          </a:xfrm>
          <a:prstGeom prst="rect">
            <a:avLst/>
          </a:prstGeom>
          <a:noFill/>
          <a:ln/>
        </p:spPr>
        <p:txBody>
          <a:bodyPr wrap="square" lIns="0" tIns="0" rIns="0" bIns="0" rtlCol="0" anchor="t"/>
          <a:lstStyle/>
          <a:p>
            <a:pPr algn="l" indent="0" marL="0">
              <a:lnSpc>
                <a:spcPct val="115000"/>
              </a:lnSpc>
              <a:buNone/>
            </a:pPr>
            <a:r>
              <a:rPr lang="en-US" sz="1700" b="1" dirty="0">
                <a:solidFill>
                  <a:srgbClr val="E08A78"/>
                </a:solidFill>
                <a:latin typeface="Calibri" pitchFamily="34" charset="0"/>
                <a:cs typeface="Calibri"/>
              </a:rPr>
              <a:t>Failed</a:t>
            </a:r>
            <a:endParaRPr lang="en-US" sz="1700" dirty="0"/>
          </a:p>
        </p:txBody>
      </p:sp>
      <p:sp>
        <p:nvSpPr>
          <p:cNvPr id="13" name="Text 11"/>
          <p:cNvSpPr txBox="1"/>
          <p:nvPr/>
        </p:nvSpPr>
        <p:spPr>
          <a:xfrm>
            <a:off x="7680960" y="3218688"/>
            <a:ext cx="3419856" cy="29260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94 degrees short, even with a two-tonne trailer</a:t>
            </a:r>
            <a:endParaRPr lang="en-US" sz="1300" dirty="0"/>
          </a:p>
        </p:txBody>
      </p:sp>
      <p:sp>
        <p:nvSpPr>
          <p:cNvPr id="14" name="Shape 12"/>
          <p:cNvSpPr/>
          <p:nvPr/>
        </p:nvSpPr>
        <p:spPr>
          <a:xfrm>
            <a:off x="813816" y="3739896"/>
            <a:ext cx="10561320" cy="896112"/>
          </a:xfrm>
          <a:prstGeom prst="roundRect">
            <a:avLst>
              <a:gd name="adj" fmla="val 8163"/>
            </a:avLst>
          </a:prstGeom>
          <a:solidFill>
            <a:srgbClr val="1C2A36"/>
          </a:solidFill>
          <a:ln w="9525">
            <a:solidFill>
              <a:srgbClr val="2D3E50"/>
            </a:solidFill>
            <a:prstDash val="solid"/>
          </a:ln>
        </p:spPr>
      </p:sp>
      <p:sp>
        <p:nvSpPr>
          <p:cNvPr id="15" name="Text 13"/>
          <p:cNvSpPr txBox="1"/>
          <p:nvPr/>
        </p:nvSpPr>
        <p:spPr>
          <a:xfrm>
            <a:off x="1088136" y="3895344"/>
            <a:ext cx="6446520" cy="329184"/>
          </a:xfrm>
          <a:prstGeom prst="rect">
            <a:avLst/>
          </a:prstGeom>
          <a:noFill/>
          <a:ln/>
        </p:spPr>
        <p:txBody>
          <a:bodyPr wrap="square" lIns="0" tIns="0" rIns="0" bIns="0" rtlCol="0" anchor="t"/>
          <a:lstStyle/>
          <a:p>
            <a:pPr algn="l" indent="0" marL="0">
              <a:lnSpc>
                <a:spcPct val="115000"/>
              </a:lnSpc>
              <a:buNone/>
            </a:pPr>
            <a:r>
              <a:rPr lang="en-US" sz="1700" b="1" dirty="0">
                <a:solidFill>
                  <a:srgbClr val="F2F4F6"/>
                </a:solidFill>
                <a:latin typeface="Calibri" pitchFamily="34" charset="0"/>
                <a:cs typeface="Calibri"/>
              </a:rPr>
              <a:t>A real trip to Taif — two hours of mountain</a:t>
            </a:r>
            <a:endParaRPr lang="en-US" sz="1700" dirty="0"/>
          </a:p>
        </p:txBody>
      </p:sp>
      <p:sp>
        <p:nvSpPr>
          <p:cNvPr id="16" name="Text 14"/>
          <p:cNvSpPr txBox="1"/>
          <p:nvPr/>
        </p:nvSpPr>
        <p:spPr>
          <a:xfrm>
            <a:off x="1088136" y="4242816"/>
            <a:ext cx="6446520" cy="292608"/>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Hypothesis: a real mountain climb is enough to reach the limit</a:t>
            </a:r>
            <a:endParaRPr lang="en-US" sz="1350" dirty="0"/>
          </a:p>
        </p:txBody>
      </p:sp>
      <p:sp>
        <p:nvSpPr>
          <p:cNvPr id="17" name="Text 15"/>
          <p:cNvSpPr txBox="1"/>
          <p:nvPr/>
        </p:nvSpPr>
        <p:spPr>
          <a:xfrm>
            <a:off x="7680960" y="3895344"/>
            <a:ext cx="3419856" cy="329184"/>
          </a:xfrm>
          <a:prstGeom prst="rect">
            <a:avLst/>
          </a:prstGeom>
          <a:noFill/>
          <a:ln/>
        </p:spPr>
        <p:txBody>
          <a:bodyPr wrap="square" lIns="0" tIns="0" rIns="0" bIns="0" rtlCol="0" anchor="t"/>
          <a:lstStyle/>
          <a:p>
            <a:pPr algn="l" indent="0" marL="0">
              <a:lnSpc>
                <a:spcPct val="115000"/>
              </a:lnSpc>
              <a:buNone/>
            </a:pPr>
            <a:r>
              <a:rPr lang="en-US" sz="1700" b="1" dirty="0">
                <a:solidFill>
                  <a:srgbClr val="E3A857"/>
                </a:solidFill>
                <a:latin typeface="Calibri" pitchFamily="34" charset="0"/>
                <a:cs typeface="Calibri"/>
              </a:rPr>
              <a:t>Did not reach the limit</a:t>
            </a:r>
            <a:endParaRPr lang="en-US" sz="1700" dirty="0"/>
          </a:p>
        </p:txBody>
      </p:sp>
      <p:sp>
        <p:nvSpPr>
          <p:cNvPr id="18" name="Text 16"/>
          <p:cNvSpPr txBox="1"/>
          <p:nvPr/>
        </p:nvSpPr>
        <p:spPr>
          <a:xfrm>
            <a:off x="7680960" y="4242816"/>
            <a:ext cx="3419856" cy="29260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but it gave us three things</a:t>
            </a:r>
            <a:endParaRPr lang="en-US" sz="1300" dirty="0"/>
          </a:p>
        </p:txBody>
      </p:sp>
      <p:sp>
        <p:nvSpPr>
          <p:cNvPr id="19" name="Shape 17"/>
          <p:cNvSpPr/>
          <p:nvPr/>
        </p:nvSpPr>
        <p:spPr>
          <a:xfrm>
            <a:off x="813816" y="4764024"/>
            <a:ext cx="10561320" cy="896112"/>
          </a:xfrm>
          <a:prstGeom prst="roundRect">
            <a:avLst>
              <a:gd name="adj" fmla="val 8163"/>
            </a:avLst>
          </a:prstGeom>
          <a:solidFill>
            <a:srgbClr val="172B3D"/>
          </a:solidFill>
          <a:ln w="9525">
            <a:solidFill>
              <a:srgbClr val="2F6FA8"/>
            </a:solidFill>
            <a:prstDash val="solid"/>
          </a:ln>
        </p:spPr>
      </p:sp>
      <p:sp>
        <p:nvSpPr>
          <p:cNvPr id="20" name="Text 18"/>
          <p:cNvSpPr txBox="1"/>
          <p:nvPr/>
        </p:nvSpPr>
        <p:spPr>
          <a:xfrm>
            <a:off x="1088136" y="4919472"/>
            <a:ext cx="6446520" cy="329184"/>
          </a:xfrm>
          <a:prstGeom prst="rect">
            <a:avLst/>
          </a:prstGeom>
          <a:noFill/>
          <a:ln/>
        </p:spPr>
        <p:txBody>
          <a:bodyPr wrap="square" lIns="0" tIns="0" rIns="0" bIns="0" rtlCol="0" anchor="t"/>
          <a:lstStyle/>
          <a:p>
            <a:pPr algn="l" indent="0" marL="0">
              <a:lnSpc>
                <a:spcPct val="115000"/>
              </a:lnSpc>
              <a:buNone/>
            </a:pPr>
            <a:r>
              <a:rPr lang="en-US" sz="1700" b="1" dirty="0">
                <a:solidFill>
                  <a:srgbClr val="F2F4F6"/>
                </a:solidFill>
                <a:latin typeface="Calibri" pitchFamily="34" charset="0"/>
                <a:cs typeface="Calibri"/>
              </a:rPr>
              <a:t>A climb computed from a measured envelope — 12% at 130 km/h</a:t>
            </a:r>
            <a:endParaRPr lang="en-US" sz="1700" dirty="0"/>
          </a:p>
        </p:txBody>
      </p:sp>
      <p:sp>
        <p:nvSpPr>
          <p:cNvPr id="21" name="Text 19"/>
          <p:cNvSpPr txBox="1"/>
          <p:nvPr/>
        </p:nvSpPr>
        <p:spPr>
          <a:xfrm>
            <a:off x="1088136" y="5266944"/>
            <a:ext cx="6446520" cy="292608"/>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Not guessed: we measured eight grade × speed combinations and chose from the table</a:t>
            </a:r>
            <a:endParaRPr lang="en-US" sz="1350" dirty="0"/>
          </a:p>
        </p:txBody>
      </p:sp>
      <p:sp>
        <p:nvSpPr>
          <p:cNvPr id="22" name="Text 20"/>
          <p:cNvSpPr txBox="1"/>
          <p:nvPr/>
        </p:nvSpPr>
        <p:spPr>
          <a:xfrm>
            <a:off x="7680960" y="4919472"/>
            <a:ext cx="3419856" cy="329184"/>
          </a:xfrm>
          <a:prstGeom prst="rect">
            <a:avLst/>
          </a:prstGeom>
          <a:noFill/>
          <a:ln/>
        </p:spPr>
        <p:txBody>
          <a:bodyPr wrap="square" lIns="0" tIns="0" rIns="0" bIns="0" rtlCol="0" anchor="t"/>
          <a:lstStyle/>
          <a:p>
            <a:pPr algn="l" indent="0" marL="0">
              <a:lnSpc>
                <a:spcPct val="115000"/>
              </a:lnSpc>
              <a:buNone/>
            </a:pPr>
            <a:r>
              <a:rPr lang="en-US" sz="1700" b="1" dirty="0">
                <a:solidFill>
                  <a:srgbClr val="7FB2DC"/>
                </a:solidFill>
                <a:latin typeface="Calibri" pitchFamily="34" charset="0"/>
                <a:cs typeface="Calibri"/>
              </a:rPr>
              <a:t>Worked</a:t>
            </a:r>
            <a:endParaRPr lang="en-US" sz="1700" dirty="0"/>
          </a:p>
        </p:txBody>
      </p:sp>
      <p:sp>
        <p:nvSpPr>
          <p:cNvPr id="23" name="Text 21"/>
          <p:cNvSpPr txBox="1"/>
          <p:nvPr/>
        </p:nvSpPr>
        <p:spPr>
          <a:xfrm>
            <a:off x="7680960" y="5266944"/>
            <a:ext cx="3419856" cy="292608"/>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34 degrees over the limit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E08A78"/>
                </a:solidFill>
                <a:latin typeface="Calibri" pitchFamily="34" charset="0"/>
                <a:cs typeface="Calibri"/>
              </a:rPr>
              <a:t>Negative result · 1</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The world towing standard did not load the car</a:t>
            </a:r>
            <a:endParaRPr lang="en-US" sz="3000" dirty="0"/>
          </a:p>
        </p:txBody>
      </p:sp>
      <p:sp>
        <p:nvSpPr>
          <p:cNvPr id="4" name="Shape 2"/>
          <p:cNvSpPr/>
          <p:nvPr/>
        </p:nvSpPr>
        <p:spPr>
          <a:xfrm>
            <a:off x="813816" y="1691640"/>
            <a:ext cx="5532120" cy="3931920"/>
          </a:xfrm>
          <a:prstGeom prst="roundRect">
            <a:avLst>
              <a:gd name="adj" fmla="val 1860"/>
            </a:avLst>
          </a:prstGeom>
          <a:solidFill>
            <a:srgbClr val="2B1F1D"/>
          </a:solidFill>
          <a:ln w="9525">
            <a:solidFill>
              <a:srgbClr val="7A4034"/>
            </a:solidFill>
            <a:prstDash val="solid"/>
          </a:ln>
        </p:spPr>
      </p:sp>
      <p:sp>
        <p:nvSpPr>
          <p:cNvPr id="5" name="Text 3"/>
          <p:cNvSpPr txBox="1"/>
          <p:nvPr/>
        </p:nvSpPr>
        <p:spPr>
          <a:xfrm>
            <a:off x="1088136" y="1874520"/>
            <a:ext cx="4983480" cy="292608"/>
          </a:xfrm>
          <a:prstGeom prst="rect">
            <a:avLst/>
          </a:prstGeom>
          <a:noFill/>
          <a:ln/>
        </p:spPr>
        <p:txBody>
          <a:bodyPr wrap="square" lIns="0" tIns="0" rIns="0" bIns="0" rtlCol="0" anchor="t"/>
          <a:lstStyle/>
          <a:p>
            <a:pPr algn="l" indent="0" marL="0">
              <a:lnSpc>
                <a:spcPct val="115000"/>
              </a:lnSpc>
              <a:buNone/>
            </a:pPr>
            <a:r>
              <a:rPr lang="en-US" sz="1400" b="1" dirty="0">
                <a:solidFill>
                  <a:srgbClr val="E08A78"/>
                </a:solidFill>
                <a:latin typeface="Calibri" pitchFamily="34" charset="0"/>
                <a:cs typeface="Calibri"/>
              </a:rPr>
              <a:t>Why it failed — which matters more than the failure itself</a:t>
            </a:r>
            <a:endParaRPr lang="en-US" sz="1400" dirty="0"/>
          </a:p>
        </p:txBody>
      </p:sp>
      <p:sp>
        <p:nvSpPr>
          <p:cNvPr id="6" name="Text 4"/>
          <p:cNvSpPr txBox="1"/>
          <p:nvPr/>
        </p:nvSpPr>
        <p:spPr>
          <a:xfrm>
            <a:off x="1088136" y="2286000"/>
            <a:ext cx="4983480" cy="292608"/>
          </a:xfrm>
          <a:prstGeom prst="rect">
            <a:avLst/>
          </a:prstGeom>
          <a:noFill/>
          <a:ln/>
        </p:spPr>
        <p:txBody>
          <a:bodyPr wrap="square" lIns="0" tIns="0" rIns="0" bIns="0" rtlCol="0" anchor="t"/>
          <a:lstStyle/>
          <a:p>
            <a:pPr algn="l" indent="0" marL="0">
              <a:lnSpc>
                <a:spcPct val="115000"/>
              </a:lnSpc>
              <a:buNone/>
            </a:pPr>
            <a:r>
              <a:rPr lang="en-US" sz="1500" dirty="0">
                <a:solidFill>
                  <a:srgbClr val="C9D3DD"/>
                </a:solidFill>
                <a:latin typeface="Calibri" pitchFamily="34" charset="0"/>
                <a:cs typeface="Calibri"/>
              </a:rPr>
              <a:t>Compare two rows that differ in everything:</a:t>
            </a:r>
            <a:endParaRPr lang="en-US" sz="1500" dirty="0"/>
          </a:p>
        </p:txBody>
      </p:sp>
      <p:sp>
        <p:nvSpPr>
          <p:cNvPr id="7" name="Text 5"/>
          <p:cNvSpPr txBox="1"/>
          <p:nvPr/>
        </p:nvSpPr>
        <p:spPr>
          <a:xfrm>
            <a:off x="1088136" y="2651760"/>
            <a:ext cx="4983480" cy="310896"/>
          </a:xfrm>
          <a:prstGeom prst="rect">
            <a:avLst/>
          </a:prstGeom>
          <a:noFill/>
          <a:ln/>
        </p:spPr>
        <p:txBody>
          <a:bodyPr wrap="square" lIns="0" tIns="0" rIns="0" bIns="0" rtlCol="0" anchor="t"/>
          <a:lstStyle/>
          <a:p>
            <a:pPr algn="l" indent="0" marL="0">
              <a:lnSpc>
                <a:spcPct val="115000"/>
              </a:lnSpc>
              <a:buNone/>
            </a:pPr>
            <a:r>
              <a:rPr lang="en-US" sz="1600" dirty="0">
                <a:solidFill>
                  <a:srgbClr val="F2F4F6"/>
                </a:solidFill>
                <a:latin typeface="Consolas" pitchFamily="34" charset="0"/>
                <a:cs typeface="Consolas"/>
              </a:rPr>
              <a:t>308 N·m → 756 °C</a:t>
            </a:r>
            <a:endParaRPr lang="en-US" sz="1600" dirty="0"/>
          </a:p>
        </p:txBody>
      </p:sp>
      <p:sp>
        <p:nvSpPr>
          <p:cNvPr id="8" name="Text 6"/>
          <p:cNvSpPr txBox="1"/>
          <p:nvPr/>
        </p:nvSpPr>
        <p:spPr>
          <a:xfrm>
            <a:off x="1088136" y="2990088"/>
            <a:ext cx="4983480" cy="310896"/>
          </a:xfrm>
          <a:prstGeom prst="rect">
            <a:avLst/>
          </a:prstGeom>
          <a:noFill/>
          <a:ln/>
        </p:spPr>
        <p:txBody>
          <a:bodyPr wrap="square" lIns="0" tIns="0" rIns="0" bIns="0" rtlCol="0" anchor="t"/>
          <a:lstStyle/>
          <a:p>
            <a:pPr algn="l" indent="0" marL="0">
              <a:lnSpc>
                <a:spcPct val="115000"/>
              </a:lnSpc>
              <a:buNone/>
            </a:pPr>
            <a:r>
              <a:rPr lang="en-US" sz="1600" dirty="0">
                <a:solidFill>
                  <a:srgbClr val="F2F4F6"/>
                </a:solidFill>
                <a:latin typeface="Consolas" pitchFamily="34" charset="0"/>
                <a:cs typeface="Consolas"/>
              </a:rPr>
              <a:t>297 N·m → 812 °C</a:t>
            </a:r>
            <a:endParaRPr lang="en-US" sz="1600" dirty="0"/>
          </a:p>
        </p:txBody>
      </p:sp>
      <p:sp>
        <p:nvSpPr>
          <p:cNvPr id="9" name="Text 7"/>
          <p:cNvSpPr txBox="1"/>
          <p:nvPr/>
        </p:nvSpPr>
        <p:spPr>
          <a:xfrm>
            <a:off x="1088136" y="3429000"/>
            <a:ext cx="4983480" cy="1005840"/>
          </a:xfrm>
          <a:prstGeom prst="rect">
            <a:avLst/>
          </a:prstGeom>
          <a:noFill/>
          <a:ln/>
        </p:spPr>
        <p:txBody>
          <a:bodyPr wrap="square" lIns="0" tIns="0" rIns="0" bIns="0" rtlCol="0" anchor="t"/>
          <a:lstStyle/>
          <a:p>
            <a:pPr algn="l" indent="0" marL="0">
              <a:lnSpc>
                <a:spcPct val="115000"/>
              </a:lnSpc>
              <a:buNone/>
            </a:pPr>
            <a:r>
              <a:rPr lang="en-US" sz="1450" b="1" dirty="0">
                <a:solidFill>
                  <a:srgbClr val="C9D3DD"/>
                </a:solidFill>
                <a:latin typeface="Calibri" pitchFamily="34" charset="0"/>
                <a:cs typeface="Calibri"/>
              </a:rPr>
              <a:t>Similar torque, 56 degrees apart. </a:t>
            </a:r>
            <a:r>
              <a:rPr lang="en-US" sz="1450" dirty="0">
                <a:solidFill>
                  <a:srgbClr val="C9D3DD"/>
                </a:solidFill>
                <a:latin typeface="Calibri" pitchFamily="34" charset="0"/>
                <a:cs typeface="Calibri"/>
              </a:rPr>
              <a:t>The turbine heats with </a:t>
            </a:r>
            <a:r>
              <a:rPr lang="en-US" sz="1450" b="1" dirty="0">
                <a:solidFill>
                  <a:srgbClr val="C9D3DD"/>
                </a:solidFill>
                <a:latin typeface="Calibri" pitchFamily="34" charset="0"/>
                <a:cs typeface="Calibri"/>
              </a:rPr>
              <a:t>exhaust flow</a:t>
            </a:r>
            <a:r>
              <a:rPr lang="en-US" sz="1450" dirty="0">
                <a:solidFill>
                  <a:srgbClr val="C9D3DD"/>
                </a:solidFill>
                <a:latin typeface="Calibri" pitchFamily="34" charset="0"/>
                <a:cs typeface="Calibri"/>
              </a:rPr>
              <a:t>, not torque — and the standard is written for trucks climbing slowly, so the engine turns slowly and the flow is small.</a:t>
            </a:r>
            <a:endParaRPr lang="en-US" sz="1450" dirty="0"/>
          </a:p>
        </p:txBody>
      </p:sp>
      <p:sp>
        <p:nvSpPr>
          <p:cNvPr id="10" name="Text 8"/>
          <p:cNvSpPr txBox="1"/>
          <p:nvPr/>
        </p:nvSpPr>
        <p:spPr>
          <a:xfrm>
            <a:off x="1088136" y="4617720"/>
            <a:ext cx="4983480" cy="777240"/>
          </a:xfrm>
          <a:prstGeom prst="rect">
            <a:avLst/>
          </a:prstGeom>
          <a:noFill/>
          <a:ln/>
        </p:spPr>
        <p:txBody>
          <a:bodyPr wrap="square" lIns="0" tIns="0" rIns="0" bIns="0" rtlCol="0" anchor="t"/>
          <a:lstStyle/>
          <a:p>
            <a:pPr algn="l" indent="0" marL="0">
              <a:lnSpc>
                <a:spcPct val="115000"/>
              </a:lnSpc>
              <a:buNone/>
            </a:pPr>
            <a:r>
              <a:rPr lang="en-US" sz="1400" dirty="0">
                <a:solidFill>
                  <a:srgbClr val="93A5B6"/>
                </a:solidFill>
                <a:latin typeface="Calibri" pitchFamily="34" charset="0"/>
                <a:cs typeface="Calibri"/>
              </a:rPr>
              <a:t>A loaded engine climbing slowly makes a cool turbine. What heats it is </a:t>
            </a:r>
            <a:r>
              <a:rPr lang="en-US" sz="1400" b="1" dirty="0">
                <a:solidFill>
                  <a:srgbClr val="93A5B6"/>
                </a:solidFill>
                <a:latin typeface="Calibri" pitchFamily="34" charset="0"/>
                <a:cs typeface="Calibri"/>
              </a:rPr>
              <a:t>road power</a:t>
            </a:r>
            <a:r>
              <a:rPr lang="en-US" sz="1400" dirty="0">
                <a:solidFill>
                  <a:srgbClr val="93A5B6"/>
                </a:solidFill>
                <a:latin typeface="Calibri" pitchFamily="34" charset="0"/>
                <a:cs typeface="Calibri"/>
              </a:rPr>
              <a:t>: grade times speed.</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20256" y="1691640"/>
          <a:ext cx="4754880" cy="914400"/>
        </p:xfrm>
        <a:graphic>
          <a:graphicData uri="http://schemas.openxmlformats.org/drawingml/2006/table">
            <a:tbl>
              <a:tblPr/>
              <a:tblGrid>
                <a:gridCol w="1616659"/>
                <a:gridCol w="1569110"/>
                <a:gridCol w="1569110"/>
              </a:tblGrid>
              <a:tr h="411480">
                <a:tc>
                  <a:txBody>
                    <a:bodyPr/>
                    <a:lstStyle/>
                    <a:p>
                      <a:pPr algn="l" indent="0" marL="0">
                        <a:buNone/>
                      </a:pPr>
                      <a:r>
                        <a:rPr lang="en-US" sz="1300" b="1" dirty="0">
                          <a:solidFill>
                            <a:srgbClr val="F2F4F6"/>
                          </a:solidFill>
                          <a:latin typeface="Calibri" pitchFamily="34" charset="0"/>
                          <a:cs typeface="Calibri"/>
                        </a:rPr>
                        <a:t>Trailer weight</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Peak temperature</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c>
                  <a:txBody>
                    <a:bodyPr/>
                    <a:lstStyle/>
                    <a:p>
                      <a:pPr algn="l" indent="0" marL="0">
                        <a:buNone/>
                      </a:pPr>
                      <a:r>
                        <a:rPr lang="en-US" sz="1300" b="1" dirty="0">
                          <a:solidFill>
                            <a:srgbClr val="F2F4F6"/>
                          </a:solidFill>
                          <a:latin typeface="Calibri" pitchFamily="34" charset="0"/>
                          <a:cs typeface="Calibri"/>
                        </a:rPr>
                        <a:t>Short of the limit by</a:t>
                      </a:r>
                      <a:endParaRPr lang="en-US" sz="13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A3B4D"/>
                    </a:solidFill>
                  </a:tcPr>
                </a:tc>
              </a:tr>
              <a:tr h="438912">
                <a:tc>
                  <a:txBody>
                    <a:bodyPr/>
                    <a:lstStyle/>
                    <a:p>
                      <a:pPr algn="l" indent="0" marL="0">
                        <a:buNone/>
                      </a:pPr>
                      <a:r>
                        <a:rPr lang="en-US" sz="1400" dirty="0">
                          <a:solidFill>
                            <a:srgbClr val="C9D3DD"/>
                          </a:solidFill>
                          <a:latin typeface="Calibri" pitchFamily="34" charset="0"/>
                          <a:cs typeface="Calibri"/>
                        </a:rPr>
                        <a:t>No trailer</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432.4 °C</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93A5B6"/>
                          </a:solidFill>
                          <a:latin typeface="Calibri" pitchFamily="34" charset="0"/>
                          <a:cs typeface="Calibri"/>
                        </a:rPr>
                        <a:t>418</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r h="438912">
                <a:tc>
                  <a:txBody>
                    <a:bodyPr/>
                    <a:lstStyle/>
                    <a:p>
                      <a:pPr algn="l" indent="0" marL="0">
                        <a:buNone/>
                      </a:pPr>
                      <a:r>
                        <a:rPr lang="en-US" sz="1400" dirty="0">
                          <a:solidFill>
                            <a:srgbClr val="C9D3DD"/>
                          </a:solidFill>
                          <a:latin typeface="Calibri" pitchFamily="34" charset="0"/>
                          <a:cs typeface="Calibri"/>
                        </a:rPr>
                        <a:t>One tonne</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400" dirty="0">
                          <a:solidFill>
                            <a:srgbClr val="C9D3DD"/>
                          </a:solidFill>
                          <a:latin typeface="Calibri" pitchFamily="34" charset="0"/>
                          <a:cs typeface="Calibri"/>
                        </a:rPr>
                        <a:t>587.0 °C</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c>
                  <a:txBody>
                    <a:bodyPr/>
                    <a:lstStyle/>
                    <a:p>
                      <a:pPr algn="l" indent="0" marL="0">
                        <a:buNone/>
                      </a:pPr>
                      <a:r>
                        <a:rPr lang="en-US" sz="1400" dirty="0">
                          <a:solidFill>
                            <a:srgbClr val="93A5B6"/>
                          </a:solidFill>
                          <a:latin typeface="Calibri" pitchFamily="34" charset="0"/>
                          <a:cs typeface="Calibri"/>
                        </a:rPr>
                        <a:t>263</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22303F"/>
                    </a:solidFill>
                  </a:tcPr>
                </a:tc>
              </a:tr>
              <a:tr h="438912">
                <a:tc>
                  <a:txBody>
                    <a:bodyPr/>
                    <a:lstStyle/>
                    <a:p>
                      <a:pPr algn="l" indent="0" marL="0">
                        <a:buNone/>
                      </a:pPr>
                      <a:r>
                        <a:rPr lang="en-US" sz="1400" dirty="0">
                          <a:solidFill>
                            <a:srgbClr val="C9D3DD"/>
                          </a:solidFill>
                          <a:latin typeface="Calibri" pitchFamily="34" charset="0"/>
                          <a:cs typeface="Calibri"/>
                        </a:rPr>
                        <a:t>Two tonnes</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dirty="0">
                          <a:solidFill>
                            <a:srgbClr val="C9D3DD"/>
                          </a:solidFill>
                          <a:latin typeface="Calibri" pitchFamily="34" charset="0"/>
                          <a:cs typeface="Calibri"/>
                        </a:rPr>
                        <a:t>756.3 °C</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c>
                  <a:txBody>
                    <a:bodyPr/>
                    <a:lstStyle/>
                    <a:p>
                      <a:pPr algn="l" indent="0" marL="0">
                        <a:buNone/>
                      </a:pPr>
                      <a:r>
                        <a:rPr lang="en-US" sz="1400" b="1" dirty="0">
                          <a:solidFill>
                            <a:srgbClr val="E08A78"/>
                          </a:solidFill>
                          <a:latin typeface="Calibri" pitchFamily="34" charset="0"/>
                          <a:cs typeface="Calibri"/>
                        </a:rPr>
                        <a:t>94</a:t>
                      </a:r>
                      <a:endParaRPr lang="en-US" sz="1400" dirty="0">
                        <a:latin typeface="Calibri" charset="0"/>
                        <a:ea typeface="Calibri" charset="0"/>
                        <a:cs typeface="Calibri" charset="0"/>
                      </a:endParaRPr>
                    </a:p>
                  </a:txBody>
                  <a:tcPr marL="109728" marR="109728" marT="54864" marB="54864" anchor="ctr">
                    <a:lnL w="9525" cap="flat" cmpd="sng" algn="ctr">
                      <a:solidFill>
                        <a:srgbClr val="2D3E50"/>
                      </a:solidFill>
                      <a:prstDash val="solid"/>
                      <a:round/>
                      <a:headEnd type="none" w="med" len="med"/>
                      <a:tailEnd type="none" w="med" len="med"/>
                    </a:lnL>
                    <a:lnR w="9525" cap="flat" cmpd="sng" algn="ctr">
                      <a:solidFill>
                        <a:srgbClr val="2D3E50"/>
                      </a:solidFill>
                      <a:prstDash val="solid"/>
                      <a:round/>
                      <a:headEnd type="none" w="med" len="med"/>
                      <a:tailEnd type="none" w="med" len="med"/>
                    </a:lnR>
                    <a:lnT w="9525" cap="flat" cmpd="sng" algn="ctr">
                      <a:solidFill>
                        <a:srgbClr val="2D3E50"/>
                      </a:solidFill>
                      <a:prstDash val="solid"/>
                      <a:round/>
                      <a:headEnd type="none" w="med" len="med"/>
                      <a:tailEnd type="none" w="med" len="med"/>
                    </a:lnT>
                    <a:lnB w="9525" cap="flat" cmpd="sng" algn="ctr">
                      <a:solidFill>
                        <a:srgbClr val="2D3E50"/>
                      </a:solidFill>
                      <a:prstDash val="solid"/>
                      <a:round/>
                      <a:headEnd type="none" w="med" len="med"/>
                      <a:tailEnd type="none" w="med" len="med"/>
                    </a:lnB>
                    <a:solidFill>
                      <a:srgbClr val="1C2A36"/>
                    </a:solidFill>
                  </a:tcPr>
                </a:tc>
              </a:tr>
            </a:tbl>
          </a:graphicData>
        </a:graphic>
      </p:graphicFrame>
      <p:sp>
        <p:nvSpPr>
          <p:cNvPr id="12" name="Text 9"/>
          <p:cNvSpPr txBox="1"/>
          <p:nvPr/>
        </p:nvSpPr>
        <p:spPr>
          <a:xfrm>
            <a:off x="6620256" y="3703320"/>
            <a:ext cx="4754880" cy="822960"/>
          </a:xfrm>
          <a:prstGeom prst="rect">
            <a:avLst/>
          </a:prstGeom>
          <a:noFill/>
          <a:ln/>
        </p:spPr>
        <p:txBody>
          <a:bodyPr wrap="square" lIns="0" tIns="0" rIns="0" bIns="0" rtlCol="0" anchor="t"/>
          <a:lstStyle/>
          <a:p>
            <a:pPr algn="l" indent="0" marL="0">
              <a:lnSpc>
                <a:spcPct val="115000"/>
              </a:lnSpc>
              <a:buNone/>
            </a:pPr>
            <a:r>
              <a:rPr lang="en-US" sz="1250" dirty="0">
                <a:solidFill>
                  <a:srgbClr val="93A5B6"/>
                </a:solidFill>
                <a:latin typeface="Calibri" pitchFamily="34" charset="0"/>
                <a:cs typeface="Calibri"/>
              </a:rPr>
              <a:t>SAE J2807 — the Arizona SR 68 road: 18.3 km, grade 0–7%, minimum speed 64 km/h, ambient 37.8 °C. We read it from the standard itself, not from a summary.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E08A78"/>
                </a:solidFill>
                <a:latin typeface="Calibri" pitchFamily="34" charset="0"/>
                <a:cs typeface="Calibri"/>
              </a:rPr>
              <a:t>Negative result · 2</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We drove to Taif and back — and it did not touch the limit</a:t>
            </a:r>
            <a:endParaRPr lang="en-US" sz="3000" dirty="0"/>
          </a:p>
        </p:txBody>
      </p:sp>
      <p:sp>
        <p:nvSpPr>
          <p:cNvPr id="4" name="Shape 2"/>
          <p:cNvSpPr/>
          <p:nvPr/>
        </p:nvSpPr>
        <p:spPr>
          <a:xfrm>
            <a:off x="813816" y="1691640"/>
            <a:ext cx="6629400" cy="1417320"/>
          </a:xfrm>
          <a:prstGeom prst="roundRect">
            <a:avLst>
              <a:gd name="adj" fmla="val 5161"/>
            </a:avLst>
          </a:prstGeom>
          <a:solidFill>
            <a:srgbClr val="172B3D"/>
          </a:solidFill>
          <a:ln w="9525">
            <a:solidFill>
              <a:srgbClr val="2F6FA8"/>
            </a:solidFill>
            <a:prstDash val="solid"/>
          </a:ln>
        </p:spPr>
      </p:sp>
      <p:sp>
        <p:nvSpPr>
          <p:cNvPr id="5" name="Text 3"/>
          <p:cNvSpPr txBox="1"/>
          <p:nvPr/>
        </p:nvSpPr>
        <p:spPr>
          <a:xfrm>
            <a:off x="1088136" y="1847088"/>
            <a:ext cx="6080760" cy="292608"/>
          </a:xfrm>
          <a:prstGeom prst="rect">
            <a:avLst/>
          </a:prstGeom>
          <a:noFill/>
          <a:ln/>
        </p:spPr>
        <p:txBody>
          <a:bodyPr wrap="square" lIns="0" tIns="0" rIns="0" bIns="0" rtlCol="0" anchor="t"/>
          <a:lstStyle/>
          <a:p>
            <a:pPr algn="l" indent="0" marL="0">
              <a:lnSpc>
                <a:spcPct val="115000"/>
              </a:lnSpc>
              <a:buNone/>
            </a:pPr>
            <a:r>
              <a:rPr lang="en-US" sz="1350" b="1" dirty="0">
                <a:solidFill>
                  <a:srgbClr val="7FB2DC"/>
                </a:solidFill>
                <a:latin typeface="Calibri" pitchFamily="34" charset="0"/>
                <a:cs typeface="Calibri"/>
              </a:rPr>
              <a:t>Altitude proven without a pressure gauge — from the ambient sensor alone</a:t>
            </a:r>
            <a:endParaRPr lang="en-US" sz="1350" dirty="0"/>
          </a:p>
        </p:txBody>
      </p:sp>
      <p:sp>
        <p:nvSpPr>
          <p:cNvPr id="6" name="Text 4"/>
          <p:cNvSpPr txBox="1"/>
          <p:nvPr/>
        </p:nvSpPr>
        <p:spPr>
          <a:xfrm>
            <a:off x="1088136" y="2212848"/>
            <a:ext cx="6080760" cy="365760"/>
          </a:xfrm>
          <a:prstGeom prst="rect">
            <a:avLst/>
          </a:prstGeom>
          <a:noFill/>
          <a:ln/>
        </p:spPr>
        <p:txBody>
          <a:bodyPr wrap="square" lIns="0" tIns="0" rIns="0" bIns="0" rtlCol="0" anchor="t"/>
          <a:lstStyle/>
          <a:p>
            <a:pPr algn="l" indent="0" marL="0">
              <a:lnSpc>
                <a:spcPct val="115000"/>
              </a:lnSpc>
              <a:buNone/>
            </a:pPr>
            <a:r>
              <a:rPr lang="en-US" sz="1900" dirty="0">
                <a:solidFill>
                  <a:srgbClr val="F2F4F6"/>
                </a:solidFill>
                <a:latin typeface="Consolas" pitchFamily="34" charset="0"/>
                <a:cs typeface="Consolas"/>
              </a:rPr>
              <a:t>31.5 °C → 20.5 °C → 34.5 °C</a:t>
            </a:r>
            <a:endParaRPr lang="en-US" sz="1900" dirty="0"/>
          </a:p>
        </p:txBody>
      </p:sp>
      <p:sp>
        <p:nvSpPr>
          <p:cNvPr id="7" name="Text 5"/>
          <p:cNvSpPr txBox="1"/>
          <p:nvPr/>
        </p:nvSpPr>
        <p:spPr>
          <a:xfrm>
            <a:off x="1088136" y="2651760"/>
            <a:ext cx="6080760" cy="27432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sea level · minute 50 at the top · then the descent</a:t>
            </a:r>
            <a:endParaRPr lang="en-US" sz="1300" dirty="0"/>
          </a:p>
        </p:txBody>
      </p:sp>
      <p:sp>
        <p:nvSpPr>
          <p:cNvPr id="8" name="Shape 6"/>
          <p:cNvSpPr/>
          <p:nvPr/>
        </p:nvSpPr>
        <p:spPr>
          <a:xfrm>
            <a:off x="813816" y="3291840"/>
            <a:ext cx="6629400" cy="1828800"/>
          </a:xfrm>
          <a:prstGeom prst="roundRect">
            <a:avLst>
              <a:gd name="adj" fmla="val 4000"/>
            </a:avLst>
          </a:prstGeom>
          <a:solidFill>
            <a:srgbClr val="2B1F1D"/>
          </a:solidFill>
          <a:ln w="9525">
            <a:solidFill>
              <a:srgbClr val="7A4034"/>
            </a:solidFill>
            <a:prstDash val="solid"/>
          </a:ln>
        </p:spPr>
      </p:sp>
      <p:sp>
        <p:nvSpPr>
          <p:cNvPr id="9" name="Text 7"/>
          <p:cNvSpPr txBox="1"/>
          <p:nvPr/>
        </p:nvSpPr>
        <p:spPr>
          <a:xfrm>
            <a:off x="1088136" y="3456432"/>
            <a:ext cx="6080760" cy="292608"/>
          </a:xfrm>
          <a:prstGeom prst="rect">
            <a:avLst/>
          </a:prstGeom>
          <a:noFill/>
          <a:ln/>
        </p:spPr>
        <p:txBody>
          <a:bodyPr wrap="square" lIns="0" tIns="0" rIns="0" bIns="0" rtlCol="0" anchor="t"/>
          <a:lstStyle/>
          <a:p>
            <a:pPr algn="l" indent="0" marL="0">
              <a:lnSpc>
                <a:spcPct val="115000"/>
              </a:lnSpc>
              <a:buNone/>
            </a:pPr>
            <a:r>
              <a:rPr lang="en-US" sz="1350" b="1" dirty="0">
                <a:solidFill>
                  <a:srgbClr val="E08A78"/>
                </a:solidFill>
                <a:latin typeface="Calibri" pitchFamily="34" charset="0"/>
                <a:cs typeface="Calibri"/>
              </a:rPr>
              <a:t>And it was not gentle driving</a:t>
            </a:r>
            <a:endParaRPr lang="en-US" sz="1350" dirty="0"/>
          </a:p>
        </p:txBody>
      </p:sp>
      <p:sp>
        <p:nvSpPr>
          <p:cNvPr id="10" name="Text 8"/>
          <p:cNvSpPr txBox="1"/>
          <p:nvPr/>
        </p:nvSpPr>
        <p:spPr>
          <a:xfrm>
            <a:off x="1088136" y="3813048"/>
            <a:ext cx="6080760" cy="310896"/>
          </a:xfrm>
          <a:prstGeom prst="rect">
            <a:avLst/>
          </a:prstGeom>
          <a:noFill/>
          <a:ln/>
        </p:spPr>
        <p:txBody>
          <a:bodyPr wrap="square" lIns="0" tIns="0" rIns="0" bIns="0" rtlCol="0" anchor="t"/>
          <a:lstStyle/>
          <a:p>
            <a:pPr algn="l" indent="0" marL="0">
              <a:lnSpc>
                <a:spcPct val="115000"/>
              </a:lnSpc>
              <a:buNone/>
            </a:pPr>
            <a:r>
              <a:rPr lang="en-US" sz="1550" dirty="0">
                <a:solidFill>
                  <a:srgbClr val="F2F4F6"/>
                </a:solidFill>
                <a:latin typeface="Calibri" pitchFamily="34" charset="0"/>
                <a:cs typeface="Calibri"/>
              </a:rPr>
              <a:t>Top speed 167 km/h · 15 seconds above 140 · 5 seconds above 160</a:t>
            </a:r>
            <a:endParaRPr lang="en-US" sz="1550" dirty="0"/>
          </a:p>
        </p:txBody>
      </p:sp>
      <p:sp>
        <p:nvSpPr>
          <p:cNvPr id="11" name="Text 9"/>
          <p:cNvSpPr txBox="1"/>
          <p:nvPr/>
        </p:nvSpPr>
        <p:spPr>
          <a:xfrm>
            <a:off x="1088136" y="4224528"/>
            <a:ext cx="6080760" cy="731520"/>
          </a:xfrm>
          <a:prstGeom prst="rect">
            <a:avLst/>
          </a:prstGeom>
          <a:noFill/>
          <a:ln/>
        </p:spPr>
        <p:txBody>
          <a:bodyPr wrap="square" lIns="0" tIns="0" rIns="0" bIns="0" rtlCol="0" anchor="t"/>
          <a:lstStyle/>
          <a:p>
            <a:pPr algn="l" indent="0" marL="0">
              <a:lnSpc>
                <a:spcPct val="115000"/>
              </a:lnSpc>
              <a:buNone/>
            </a:pPr>
            <a:r>
              <a:rPr lang="en-US" sz="1450" dirty="0">
                <a:solidFill>
                  <a:srgbClr val="C9D3DD"/>
                </a:solidFill>
                <a:latin typeface="Calibri" pitchFamily="34" charset="0"/>
                <a:cs typeface="Calibri"/>
              </a:rPr>
              <a:t>And the hottest moment of the trip was not the climb or the top speed, but </a:t>
            </a:r>
            <a:r>
              <a:rPr lang="en-US" sz="1450" b="1" dirty="0">
                <a:solidFill>
                  <a:srgbClr val="C9D3DD"/>
                </a:solidFill>
                <a:latin typeface="Calibri" pitchFamily="34" charset="0"/>
                <a:cs typeface="Calibri"/>
              </a:rPr>
              <a:t>an acceleration at 137 km/h and 5792 rpm</a:t>
            </a:r>
            <a:r>
              <a:rPr lang="en-US" sz="1450" dirty="0">
                <a:solidFill>
                  <a:srgbClr val="C9D3DD"/>
                </a:solidFill>
                <a:latin typeface="Calibri" pitchFamily="34" charset="0"/>
                <a:cs typeface="Calibri"/>
              </a:rPr>
              <a:t>, at minute 13.5</a:t>
            </a:r>
            <a:endParaRPr lang="en-US" sz="1450" dirty="0"/>
          </a:p>
        </p:txBody>
      </p:sp>
      <p:sp>
        <p:nvSpPr>
          <p:cNvPr id="12" name="Shape 10"/>
          <p:cNvSpPr/>
          <p:nvPr/>
        </p:nvSpPr>
        <p:spPr>
          <a:xfrm>
            <a:off x="7717536" y="1691640"/>
            <a:ext cx="3657600" cy="3429000"/>
          </a:xfrm>
          <a:prstGeom prst="roundRect">
            <a:avLst>
              <a:gd name="adj" fmla="val 2133"/>
            </a:avLst>
          </a:prstGeom>
          <a:solidFill>
            <a:srgbClr val="22303F"/>
          </a:solidFill>
          <a:ln w="9525">
            <a:solidFill>
              <a:srgbClr val="2D3E50"/>
            </a:solidFill>
            <a:prstDash val="solid"/>
          </a:ln>
        </p:spPr>
      </p:sp>
      <p:sp>
        <p:nvSpPr>
          <p:cNvPr id="13" name="Text 11"/>
          <p:cNvSpPr txBox="1"/>
          <p:nvPr/>
        </p:nvSpPr>
        <p:spPr>
          <a:xfrm>
            <a:off x="7991856" y="2514600"/>
            <a:ext cx="3108960" cy="731520"/>
          </a:xfrm>
          <a:prstGeom prst="rect">
            <a:avLst/>
          </a:prstGeom>
          <a:noFill/>
          <a:ln/>
        </p:spPr>
        <p:txBody>
          <a:bodyPr wrap="square" lIns="0" tIns="0" rIns="0" bIns="0" rtlCol="0" anchor="t"/>
          <a:lstStyle/>
          <a:p>
            <a:pPr algn="l" indent="0" marL="0">
              <a:lnSpc>
                <a:spcPct val="100000"/>
              </a:lnSpc>
              <a:buNone/>
            </a:pPr>
            <a:r>
              <a:rPr lang="en-US" sz="4600" b="1" dirty="0">
                <a:solidFill>
                  <a:srgbClr val="F2F4F6"/>
                </a:solidFill>
                <a:latin typeface="Calibri" pitchFamily="34" charset="0"/>
                <a:cs typeface="Calibri"/>
              </a:rPr>
              <a:t>797.6 °C</a:t>
            </a:r>
            <a:endParaRPr lang="en-US" sz="4600" dirty="0"/>
          </a:p>
        </p:txBody>
      </p:sp>
      <p:sp>
        <p:nvSpPr>
          <p:cNvPr id="14" name="Text 12"/>
          <p:cNvSpPr txBox="1"/>
          <p:nvPr/>
        </p:nvSpPr>
        <p:spPr>
          <a:xfrm>
            <a:off x="7991856" y="3337560"/>
            <a:ext cx="3108960" cy="320040"/>
          </a:xfrm>
          <a:prstGeom prst="rect">
            <a:avLst/>
          </a:prstGeom>
          <a:noFill/>
          <a:ln/>
        </p:spPr>
        <p:txBody>
          <a:bodyPr wrap="square" lIns="0" tIns="0" rIns="0" bIns="0" rtlCol="0" anchor="t"/>
          <a:lstStyle/>
          <a:p>
            <a:pPr algn="l" indent="0" marL="0">
              <a:lnSpc>
                <a:spcPct val="115000"/>
              </a:lnSpc>
              <a:buNone/>
            </a:pPr>
            <a:r>
              <a:rPr lang="en-US" sz="1550" b="1" dirty="0">
                <a:solidFill>
                  <a:srgbClr val="E08A78"/>
                </a:solidFill>
                <a:latin typeface="Calibri" pitchFamily="34" charset="0"/>
                <a:cs typeface="Calibri"/>
              </a:rPr>
              <a:t>52 degrees short of the limit</a:t>
            </a:r>
            <a:endParaRPr lang="en-US" sz="1550" dirty="0"/>
          </a:p>
        </p:txBody>
      </p:sp>
      <p:sp>
        <p:nvSpPr>
          <p:cNvPr id="15" name="Text 13"/>
          <p:cNvSpPr txBox="1"/>
          <p:nvPr/>
        </p:nvSpPr>
        <p:spPr>
          <a:xfrm>
            <a:off x="7991856" y="3703320"/>
            <a:ext cx="3108960" cy="548640"/>
          </a:xfrm>
          <a:prstGeom prst="rect">
            <a:avLst/>
          </a:prstGeom>
          <a:noFill/>
          <a:ln/>
        </p:spPr>
        <p:txBody>
          <a:bodyPr wrap="square" lIns="0" tIns="0" rIns="0" bIns="0" rtlCol="0" anchor="t"/>
          <a:lstStyle/>
          <a:p>
            <a:pPr algn="l" indent="0" marL="0">
              <a:lnSpc>
                <a:spcPct val="115000"/>
              </a:lnSpc>
              <a:buNone/>
            </a:pPr>
            <a:r>
              <a:rPr lang="en-US" sz="1400" dirty="0">
                <a:solidFill>
                  <a:srgbClr val="93A5B6"/>
                </a:solidFill>
                <a:latin typeface="Calibri" pitchFamily="34" charset="0"/>
                <a:cs typeface="Calibri"/>
              </a:rPr>
              <a:t>zero seconds above the limit in 119.4 minutes</a:t>
            </a:r>
            <a:endParaRPr lang="en-US" sz="1400" dirty="0"/>
          </a:p>
        </p:txBody>
      </p:sp>
      <p:sp>
        <p:nvSpPr>
          <p:cNvPr id="16" name="Shape 14"/>
          <p:cNvSpPr/>
          <p:nvPr/>
        </p:nvSpPr>
        <p:spPr>
          <a:xfrm>
            <a:off x="813816" y="5349240"/>
            <a:ext cx="10561320" cy="960120"/>
          </a:xfrm>
          <a:prstGeom prst="roundRect">
            <a:avLst>
              <a:gd name="adj" fmla="val 7619"/>
            </a:avLst>
          </a:prstGeom>
          <a:solidFill>
            <a:srgbClr val="1C2A36"/>
          </a:solidFill>
          <a:ln w="9525">
            <a:solidFill>
              <a:srgbClr val="2D3E50"/>
            </a:solidFill>
            <a:prstDash val="solid"/>
          </a:ln>
        </p:spPr>
      </p:sp>
      <p:sp>
        <p:nvSpPr>
          <p:cNvPr id="17" name="Text 15"/>
          <p:cNvSpPr txBox="1"/>
          <p:nvPr/>
        </p:nvSpPr>
        <p:spPr>
          <a:xfrm>
            <a:off x="1088136" y="5504688"/>
            <a:ext cx="10012680" cy="685800"/>
          </a:xfrm>
          <a:prstGeom prst="rect">
            <a:avLst/>
          </a:prstGeom>
          <a:noFill/>
          <a:ln/>
        </p:spPr>
        <p:txBody>
          <a:bodyPr wrap="square" lIns="0" tIns="0" rIns="0" bIns="0" rtlCol="0" anchor="t"/>
          <a:lstStyle/>
          <a:p>
            <a:pPr algn="l" indent="0" marL="0">
              <a:lnSpc>
                <a:spcPct val="115000"/>
              </a:lnSpc>
              <a:buNone/>
            </a:pPr>
            <a:r>
              <a:rPr lang="en-US" sz="1450" dirty="0">
                <a:solidFill>
                  <a:srgbClr val="C9D3DD"/>
                </a:solidFill>
                <a:latin typeface="Calibri" pitchFamily="34" charset="0"/>
                <a:cs typeface="Calibri"/>
              </a:rPr>
              <a:t>The mountain is taken at 60 to 90 km/h, which asks for 40–50 kW. The scenario we locked asks for </a:t>
            </a:r>
            <a:r>
              <a:rPr lang="en-US" sz="1450" b="1" dirty="0">
                <a:solidFill>
                  <a:srgbClr val="C9D3DD"/>
                </a:solidFill>
                <a:latin typeface="Calibri" pitchFamily="34" charset="0"/>
                <a:cs typeface="Calibri"/>
              </a:rPr>
              <a:t>88.7 kW for twelve continuous minutes</a:t>
            </a:r>
            <a:r>
              <a:rPr lang="en-US" sz="1450" dirty="0">
                <a:solidFill>
                  <a:srgbClr val="C9D3DD"/>
                </a:solidFill>
                <a:latin typeface="Calibri" pitchFamily="34" charset="0"/>
                <a:cs typeface="Calibri"/>
              </a:rPr>
              <a:t>. Altitude does not heat the turbine — sustained power does.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What that trip bought</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A trip that did not reach the limit, and gave us three things</a:t>
            </a:r>
            <a:endParaRPr lang="en-US" sz="3000" dirty="0"/>
          </a:p>
        </p:txBody>
      </p:sp>
      <p:sp>
        <p:nvSpPr>
          <p:cNvPr id="4" name="Shape 2"/>
          <p:cNvSpPr/>
          <p:nvPr/>
        </p:nvSpPr>
        <p:spPr>
          <a:xfrm>
            <a:off x="813816" y="1691640"/>
            <a:ext cx="3410712" cy="2194560"/>
          </a:xfrm>
          <a:prstGeom prst="roundRect">
            <a:avLst>
              <a:gd name="adj" fmla="val 3333"/>
            </a:avLst>
          </a:prstGeom>
          <a:solidFill>
            <a:srgbClr val="1C2A36"/>
          </a:solidFill>
          <a:ln w="9525">
            <a:solidFill>
              <a:srgbClr val="2D3E50"/>
            </a:solidFill>
            <a:prstDash val="solid"/>
          </a:ln>
        </p:spPr>
      </p:sp>
      <p:sp>
        <p:nvSpPr>
          <p:cNvPr id="5" name="Text 3"/>
          <p:cNvSpPr txBox="1"/>
          <p:nvPr/>
        </p:nvSpPr>
        <p:spPr>
          <a:xfrm>
            <a:off x="1042416" y="1911096"/>
            <a:ext cx="2953512" cy="548640"/>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86 K</a:t>
            </a:r>
            <a:endParaRPr lang="en-US" sz="3000" dirty="0"/>
          </a:p>
        </p:txBody>
      </p:sp>
      <p:sp>
        <p:nvSpPr>
          <p:cNvPr id="6" name="Text 4"/>
          <p:cNvSpPr txBox="1"/>
          <p:nvPr/>
        </p:nvSpPr>
        <p:spPr>
          <a:xfrm>
            <a:off x="1042416" y="2496312"/>
            <a:ext cx="2953512" cy="292608"/>
          </a:xfrm>
          <a:prstGeom prst="rect">
            <a:avLst/>
          </a:prstGeom>
          <a:noFill/>
          <a:ln/>
        </p:spPr>
        <p:txBody>
          <a:bodyPr wrap="square" lIns="0" tIns="0" rIns="0" bIns="0" rtlCol="0" anchor="t"/>
          <a:lstStyle/>
          <a:p>
            <a:pPr algn="l" indent="0" marL="0">
              <a:lnSpc>
                <a:spcPct val="115000"/>
              </a:lnSpc>
              <a:buNone/>
            </a:pPr>
            <a:r>
              <a:rPr lang="en-US" sz="1550" b="1" dirty="0">
                <a:solidFill>
                  <a:srgbClr val="F2F4F6"/>
                </a:solidFill>
                <a:latin typeface="Calibri" pitchFamily="34" charset="0"/>
                <a:cs typeface="Calibri"/>
              </a:rPr>
              <a:t>An answer to the hardest objection</a:t>
            </a:r>
            <a:endParaRPr lang="en-US" sz="1550" dirty="0"/>
          </a:p>
        </p:txBody>
      </p:sp>
      <p:sp>
        <p:nvSpPr>
          <p:cNvPr id="7" name="Text 5"/>
          <p:cNvSpPr txBox="1"/>
          <p:nvPr/>
        </p:nvSpPr>
        <p:spPr>
          <a:xfrm>
            <a:off x="1042416" y="2834640"/>
            <a:ext cx="2953512" cy="96012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Our harshest real climb is cooler than the test scenario by this much — so the scenario is above reality on purpose</a:t>
            </a:r>
            <a:endParaRPr lang="en-US" sz="1300" dirty="0"/>
          </a:p>
        </p:txBody>
      </p:sp>
      <p:sp>
        <p:nvSpPr>
          <p:cNvPr id="8" name="Shape 6"/>
          <p:cNvSpPr/>
          <p:nvPr/>
        </p:nvSpPr>
        <p:spPr>
          <a:xfrm>
            <a:off x="4389120" y="1691640"/>
            <a:ext cx="3410712" cy="2194560"/>
          </a:xfrm>
          <a:prstGeom prst="roundRect">
            <a:avLst>
              <a:gd name="adj" fmla="val 3333"/>
            </a:avLst>
          </a:prstGeom>
          <a:solidFill>
            <a:srgbClr val="1C2A36"/>
          </a:solidFill>
          <a:ln w="9525">
            <a:solidFill>
              <a:srgbClr val="2D3E50"/>
            </a:solidFill>
            <a:prstDash val="solid"/>
          </a:ln>
        </p:spPr>
      </p:sp>
      <p:sp>
        <p:nvSpPr>
          <p:cNvPr id="9" name="Text 7"/>
          <p:cNvSpPr txBox="1"/>
          <p:nvPr/>
        </p:nvSpPr>
        <p:spPr>
          <a:xfrm>
            <a:off x="4617720" y="1911096"/>
            <a:ext cx="2953512" cy="548640"/>
          </a:xfrm>
          <a:prstGeom prst="rect">
            <a:avLst/>
          </a:prstGeom>
          <a:noFill/>
          <a:ln/>
        </p:spPr>
        <p:txBody>
          <a:bodyPr wrap="square" lIns="0" tIns="0" rIns="0" bIns="0" rtlCol="0" anchor="t"/>
          <a:lstStyle/>
          <a:p>
            <a:pPr algn="l" indent="0" marL="0">
              <a:lnSpc>
                <a:spcPct val="100000"/>
              </a:lnSpc>
              <a:buNone/>
            </a:pPr>
            <a:r>
              <a:rPr lang="en-US" sz="3000" b="1" dirty="0">
                <a:solidFill>
                  <a:srgbClr val="E3A857"/>
                </a:solidFill>
                <a:latin typeface="Calibri" pitchFamily="34" charset="0"/>
                <a:cs typeface="Calibri"/>
              </a:rPr>
              <a:t>117 °C</a:t>
            </a:r>
            <a:endParaRPr lang="en-US" sz="3000" dirty="0"/>
          </a:p>
        </p:txBody>
      </p:sp>
      <p:sp>
        <p:nvSpPr>
          <p:cNvPr id="10" name="Text 8"/>
          <p:cNvSpPr txBox="1"/>
          <p:nvPr/>
        </p:nvSpPr>
        <p:spPr>
          <a:xfrm>
            <a:off x="4617720" y="2496312"/>
            <a:ext cx="2953512" cy="292608"/>
          </a:xfrm>
          <a:prstGeom prst="rect">
            <a:avLst/>
          </a:prstGeom>
          <a:noFill/>
          <a:ln/>
        </p:spPr>
        <p:txBody>
          <a:bodyPr wrap="square" lIns="0" tIns="0" rIns="0" bIns="0" rtlCol="0" anchor="t"/>
          <a:lstStyle/>
          <a:p>
            <a:pPr algn="l" indent="0" marL="0">
              <a:lnSpc>
                <a:spcPct val="115000"/>
              </a:lnSpc>
              <a:buNone/>
            </a:pPr>
            <a:r>
              <a:rPr lang="en-US" sz="1550" b="1" dirty="0">
                <a:solidFill>
                  <a:srgbClr val="F2F4F6"/>
                </a:solidFill>
                <a:latin typeface="Calibri" pitchFamily="34" charset="0"/>
                <a:cs typeface="Calibri"/>
              </a:rPr>
              <a:t>Oil temperature became checkable</a:t>
            </a:r>
            <a:endParaRPr lang="en-US" sz="1550" dirty="0"/>
          </a:p>
        </p:txBody>
      </p:sp>
      <p:sp>
        <p:nvSpPr>
          <p:cNvPr id="11" name="Text 9"/>
          <p:cNvSpPr txBox="1"/>
          <p:nvPr/>
        </p:nvSpPr>
        <p:spPr>
          <a:xfrm>
            <a:off x="4617720" y="2834640"/>
            <a:ext cx="2953512" cy="96012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The highest we had logged before was 107, below the published range, so we could not judge. Now we know our model is 7 degrees too cool</a:t>
            </a:r>
            <a:endParaRPr lang="en-US" sz="1300" dirty="0"/>
          </a:p>
        </p:txBody>
      </p:sp>
      <p:sp>
        <p:nvSpPr>
          <p:cNvPr id="12" name="Shape 10"/>
          <p:cNvSpPr/>
          <p:nvPr/>
        </p:nvSpPr>
        <p:spPr>
          <a:xfrm>
            <a:off x="7964424" y="1691640"/>
            <a:ext cx="3410712" cy="2194560"/>
          </a:xfrm>
          <a:prstGeom prst="roundRect">
            <a:avLst>
              <a:gd name="adj" fmla="val 3333"/>
            </a:avLst>
          </a:prstGeom>
          <a:solidFill>
            <a:srgbClr val="1C2A36"/>
          </a:solidFill>
          <a:ln w="9525">
            <a:solidFill>
              <a:srgbClr val="2D3E50"/>
            </a:solidFill>
            <a:prstDash val="solid"/>
          </a:ln>
        </p:spPr>
      </p:sp>
      <p:sp>
        <p:nvSpPr>
          <p:cNvPr id="13" name="Text 11"/>
          <p:cNvSpPr txBox="1"/>
          <p:nvPr/>
        </p:nvSpPr>
        <p:spPr>
          <a:xfrm>
            <a:off x="8193024" y="1911096"/>
            <a:ext cx="2953512" cy="548640"/>
          </a:xfrm>
          <a:prstGeom prst="rect">
            <a:avLst/>
          </a:prstGeom>
          <a:noFill/>
          <a:ln/>
        </p:spPr>
        <p:txBody>
          <a:bodyPr wrap="square" lIns="0" tIns="0" rIns="0" bIns="0" rtlCol="0" anchor="t"/>
          <a:lstStyle/>
          <a:p>
            <a:pPr algn="l" indent="0" marL="0">
              <a:lnSpc>
                <a:spcPct val="100000"/>
              </a:lnSpc>
              <a:buNone/>
            </a:pPr>
            <a:r>
              <a:rPr lang="en-US" sz="3000" b="1" dirty="0">
                <a:solidFill>
                  <a:srgbClr val="7FB2DC"/>
                </a:solidFill>
                <a:latin typeface="Calibri" pitchFamily="34" charset="0"/>
                <a:cs typeface="Calibri"/>
              </a:rPr>
              <a:t>+68%</a:t>
            </a:r>
            <a:endParaRPr lang="en-US" sz="3000" dirty="0"/>
          </a:p>
        </p:txBody>
      </p:sp>
      <p:sp>
        <p:nvSpPr>
          <p:cNvPr id="14" name="Text 12"/>
          <p:cNvSpPr txBox="1"/>
          <p:nvPr/>
        </p:nvSpPr>
        <p:spPr>
          <a:xfrm>
            <a:off x="8193024" y="2496312"/>
            <a:ext cx="2953512" cy="292608"/>
          </a:xfrm>
          <a:prstGeom prst="rect">
            <a:avLst/>
          </a:prstGeom>
          <a:noFill/>
          <a:ln/>
        </p:spPr>
        <p:txBody>
          <a:bodyPr wrap="square" lIns="0" tIns="0" rIns="0" bIns="0" rtlCol="0" anchor="t"/>
          <a:lstStyle/>
          <a:p>
            <a:pPr algn="l" indent="0" marL="0">
              <a:lnSpc>
                <a:spcPct val="115000"/>
              </a:lnSpc>
              <a:buNone/>
            </a:pPr>
            <a:r>
              <a:rPr lang="en-US" sz="1550" b="1" dirty="0">
                <a:solidFill>
                  <a:srgbClr val="F2F4F6"/>
                </a:solidFill>
                <a:latin typeface="Calibri" pitchFamily="34" charset="0"/>
                <a:cs typeface="Calibri"/>
              </a:rPr>
              <a:t>More data</a:t>
            </a:r>
            <a:endParaRPr lang="en-US" sz="1550" dirty="0"/>
          </a:p>
        </p:txBody>
      </p:sp>
      <p:sp>
        <p:nvSpPr>
          <p:cNvPr id="15" name="Text 13"/>
          <p:cNvSpPr txBox="1"/>
          <p:nvPr/>
        </p:nvSpPr>
        <p:spPr>
          <a:xfrm>
            <a:off x="8193024" y="2834640"/>
            <a:ext cx="2953512" cy="96012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From 175.5 to 295.0 minutes logged, in a single session</a:t>
            </a:r>
            <a:endParaRPr lang="en-US" sz="1300" dirty="0"/>
          </a:p>
        </p:txBody>
      </p:sp>
      <p:sp>
        <p:nvSpPr>
          <p:cNvPr id="16" name="Shape 14"/>
          <p:cNvSpPr/>
          <p:nvPr/>
        </p:nvSpPr>
        <p:spPr>
          <a:xfrm>
            <a:off x="813816" y="4160520"/>
            <a:ext cx="10561320" cy="1143000"/>
          </a:xfrm>
          <a:prstGeom prst="roundRect">
            <a:avLst>
              <a:gd name="adj" fmla="val 6400"/>
            </a:avLst>
          </a:prstGeom>
          <a:solidFill>
            <a:srgbClr val="172B3D"/>
          </a:solidFill>
          <a:ln w="9525">
            <a:solidFill>
              <a:srgbClr val="2F6FA8"/>
            </a:solidFill>
            <a:prstDash val="solid"/>
          </a:ln>
        </p:spPr>
      </p:sp>
      <p:sp>
        <p:nvSpPr>
          <p:cNvPr id="17" name="Text 15"/>
          <p:cNvSpPr txBox="1"/>
          <p:nvPr/>
        </p:nvSpPr>
        <p:spPr>
          <a:xfrm>
            <a:off x="1088136" y="4315968"/>
            <a:ext cx="10012680" cy="329184"/>
          </a:xfrm>
          <a:prstGeom prst="rect">
            <a:avLst/>
          </a:prstGeom>
          <a:noFill/>
          <a:ln/>
        </p:spPr>
        <p:txBody>
          <a:bodyPr wrap="square" lIns="0" tIns="0" rIns="0" bIns="0" rtlCol="0" anchor="t"/>
          <a:lstStyle/>
          <a:p>
            <a:pPr algn="l" indent="0" marL="0">
              <a:lnSpc>
                <a:spcPct val="115000"/>
              </a:lnSpc>
              <a:buNone/>
            </a:pPr>
            <a:r>
              <a:rPr lang="en-US" sz="1500" dirty="0">
                <a:solidFill>
                  <a:srgbClr val="C9D3DD"/>
                </a:solidFill>
                <a:latin typeface="Calibri" pitchFamily="34" charset="0"/>
                <a:cs typeface="Calibri"/>
              </a:rPr>
              <a:t>And a sentence we used to write in the thesis became void: </a:t>
            </a:r>
            <a:r>
              <a:rPr lang="en-US" sz="1500" dirty="0">
                <a:solidFill>
                  <a:srgbClr val="93A5B6"/>
                </a:solidFill>
                <a:latin typeface="Calibri" pitchFamily="34" charset="0"/>
                <a:cs typeface="Calibri"/>
              </a:rPr>
              <a:t>"we have no sustained mountain climb"</a:t>
            </a:r>
            <a:endParaRPr lang="en-US" sz="1500" dirty="0"/>
          </a:p>
        </p:txBody>
      </p:sp>
      <p:sp>
        <p:nvSpPr>
          <p:cNvPr id="18" name="Text 16"/>
          <p:cNvSpPr txBox="1"/>
          <p:nvPr/>
        </p:nvSpPr>
        <p:spPr>
          <a:xfrm>
            <a:off x="1088136" y="4681728"/>
            <a:ext cx="10012680" cy="365760"/>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Now we have one — and it does not reach the limit. That is a measurement, not a gap in the data.</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What worked</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A locked scenario: a 12% grade at 130 km/h</a:t>
            </a:r>
            <a:endParaRPr lang="en-US" sz="3000" dirty="0"/>
          </a:p>
        </p:txBody>
      </p:sp>
      <p:sp>
        <p:nvSpPr>
          <p:cNvPr id="4" name="Shape 2"/>
          <p:cNvSpPr/>
          <p:nvPr/>
        </p:nvSpPr>
        <p:spPr>
          <a:xfrm>
            <a:off x="813816" y="1664208"/>
            <a:ext cx="3657600" cy="1280160"/>
          </a:xfrm>
          <a:prstGeom prst="roundRect">
            <a:avLst>
              <a:gd name="adj" fmla="val 5714"/>
            </a:avLst>
          </a:prstGeom>
          <a:solidFill>
            <a:srgbClr val="22303F"/>
          </a:solidFill>
          <a:ln w="9525">
            <a:solidFill>
              <a:srgbClr val="2D3E50"/>
            </a:solidFill>
            <a:prstDash val="solid"/>
          </a:ln>
        </p:spPr>
      </p:sp>
      <p:sp>
        <p:nvSpPr>
          <p:cNvPr id="5" name="Text 3"/>
          <p:cNvSpPr txBox="1"/>
          <p:nvPr/>
        </p:nvSpPr>
        <p:spPr>
          <a:xfrm>
            <a:off x="1042416" y="1828800"/>
            <a:ext cx="3200400" cy="292608"/>
          </a:xfrm>
          <a:prstGeom prst="rect">
            <a:avLst/>
          </a:prstGeom>
          <a:noFill/>
          <a:ln/>
        </p:spPr>
        <p:txBody>
          <a:bodyPr wrap="square" lIns="0" tIns="0" rIns="0" bIns="0" rtlCol="0" anchor="t"/>
          <a:lstStyle/>
          <a:p>
            <a:pPr algn="l" indent="0" marL="0">
              <a:lnSpc>
                <a:spcPct val="115000"/>
              </a:lnSpc>
              <a:buNone/>
            </a:pPr>
            <a:r>
              <a:rPr lang="en-US" sz="1450" b="1" dirty="0">
                <a:solidFill>
                  <a:srgbClr val="C9D3DD"/>
                </a:solidFill>
                <a:latin typeface="Calibri" pitchFamily="34" charset="0"/>
                <a:cs typeface="Calibri"/>
              </a:rPr>
              <a:t>Protection finally has work to do</a:t>
            </a:r>
            <a:endParaRPr lang="en-US" sz="1450" dirty="0"/>
          </a:p>
        </p:txBody>
      </p:sp>
      <p:sp>
        <p:nvSpPr>
          <p:cNvPr id="6" name="Text 4"/>
          <p:cNvSpPr txBox="1"/>
          <p:nvPr/>
        </p:nvSpPr>
        <p:spPr>
          <a:xfrm>
            <a:off x="1042416" y="2176272"/>
            <a:ext cx="3200400" cy="685800"/>
          </a:xfrm>
          <a:prstGeom prst="rect">
            <a:avLst/>
          </a:prstGeom>
          <a:noFill/>
          <a:ln/>
        </p:spPr>
        <p:txBody>
          <a:bodyPr wrap="square" lIns="0" tIns="0" rIns="0" bIns="0" rtlCol="0" anchor="t"/>
          <a:lstStyle/>
          <a:p>
            <a:pPr algn="l" indent="0" marL="0">
              <a:lnSpc>
                <a:spcPct val="115000"/>
              </a:lnSpc>
              <a:buNone/>
            </a:pPr>
            <a:r>
              <a:rPr lang="en-US" sz="1300" dirty="0">
                <a:solidFill>
                  <a:srgbClr val="93A5B6"/>
                </a:solidFill>
                <a:latin typeface="Calibri" pitchFamily="34" charset="0"/>
                <a:cs typeface="Calibri"/>
              </a:rPr>
              <a:t>Before this the engine stayed below the limit, so any protection and any preview were meaningless</a:t>
            </a:r>
            <a:endParaRPr lang="en-US" sz="1300" dirty="0"/>
          </a:p>
        </p:txBody>
      </p:sp>
      <p:sp>
        <p:nvSpPr>
          <p:cNvPr id="7" name="Shape 5"/>
          <p:cNvSpPr/>
          <p:nvPr/>
        </p:nvSpPr>
        <p:spPr>
          <a:xfrm>
            <a:off x="4636008" y="1664208"/>
            <a:ext cx="3291840" cy="1280160"/>
          </a:xfrm>
          <a:prstGeom prst="roundRect">
            <a:avLst>
              <a:gd name="adj" fmla="val 5714"/>
            </a:avLst>
          </a:prstGeom>
          <a:solidFill>
            <a:srgbClr val="172B3D"/>
          </a:solidFill>
          <a:ln w="9525">
            <a:solidFill>
              <a:srgbClr val="2F6FA8"/>
            </a:solidFill>
            <a:prstDash val="solid"/>
          </a:ln>
        </p:spPr>
      </p:sp>
      <p:sp>
        <p:nvSpPr>
          <p:cNvPr id="8" name="Text 6"/>
          <p:cNvSpPr txBox="1"/>
          <p:nvPr/>
        </p:nvSpPr>
        <p:spPr>
          <a:xfrm>
            <a:off x="4864608" y="1810512"/>
            <a:ext cx="2834640" cy="548640"/>
          </a:xfrm>
          <a:prstGeom prst="rect">
            <a:avLst/>
          </a:prstGeom>
          <a:noFill/>
          <a:ln/>
        </p:spPr>
        <p:txBody>
          <a:bodyPr wrap="square" lIns="0" tIns="0" rIns="0" bIns="0" rtlCol="0" anchor="t"/>
          <a:lstStyle/>
          <a:p>
            <a:pPr algn="l" indent="0" marL="0">
              <a:lnSpc>
                <a:spcPct val="100000"/>
              </a:lnSpc>
              <a:buNone/>
            </a:pPr>
            <a:r>
              <a:rPr lang="en-US" sz="3400" b="1" dirty="0">
                <a:solidFill>
                  <a:srgbClr val="F2F4F6"/>
                </a:solidFill>
                <a:latin typeface="Calibri" pitchFamily="34" charset="0"/>
                <a:cs typeface="Calibri"/>
              </a:rPr>
              <a:t>34.0%</a:t>
            </a:r>
            <a:endParaRPr lang="en-US" sz="3400" dirty="0"/>
          </a:p>
        </p:txBody>
      </p:sp>
      <p:sp>
        <p:nvSpPr>
          <p:cNvPr id="9" name="Text 7"/>
          <p:cNvSpPr txBox="1"/>
          <p:nvPr/>
        </p:nvSpPr>
        <p:spPr>
          <a:xfrm>
            <a:off x="4864608" y="2423160"/>
            <a:ext cx="2834640" cy="310896"/>
          </a:xfrm>
          <a:prstGeom prst="rect">
            <a:avLst/>
          </a:prstGeom>
          <a:noFill/>
          <a:ln/>
        </p:spPr>
        <p:txBody>
          <a:bodyPr wrap="square" lIns="0" tIns="0" rIns="0" bIns="0" rtlCol="0" anchor="t"/>
          <a:lstStyle/>
          <a:p>
            <a:pPr algn="l" indent="0" marL="0">
              <a:lnSpc>
                <a:spcPct val="115000"/>
              </a:lnSpc>
              <a:buNone/>
            </a:pPr>
            <a:r>
              <a:rPr lang="en-US" sz="1500" b="1" dirty="0">
                <a:solidFill>
                  <a:srgbClr val="7FB2DC"/>
                </a:solidFill>
                <a:latin typeface="Calibri" pitchFamily="34" charset="0"/>
                <a:cs typeface="Calibri"/>
              </a:rPr>
              <a:t>damage cut by protection</a:t>
            </a:r>
            <a:endParaRPr lang="en-US" sz="1500" dirty="0"/>
          </a:p>
        </p:txBody>
      </p:sp>
      <p:sp>
        <p:nvSpPr>
          <p:cNvPr id="10" name="Shape 8"/>
          <p:cNvSpPr/>
          <p:nvPr/>
        </p:nvSpPr>
        <p:spPr>
          <a:xfrm>
            <a:off x="8092440" y="1664208"/>
            <a:ext cx="3291840" cy="1280160"/>
          </a:xfrm>
          <a:prstGeom prst="roundRect">
            <a:avLst>
              <a:gd name="adj" fmla="val 5714"/>
            </a:avLst>
          </a:prstGeom>
          <a:solidFill>
            <a:srgbClr val="172B3D"/>
          </a:solidFill>
          <a:ln w="9525">
            <a:solidFill>
              <a:srgbClr val="2F6FA8"/>
            </a:solidFill>
            <a:prstDash val="solid"/>
          </a:ln>
        </p:spPr>
      </p:sp>
      <p:sp>
        <p:nvSpPr>
          <p:cNvPr id="11" name="Text 9"/>
          <p:cNvSpPr txBox="1"/>
          <p:nvPr/>
        </p:nvSpPr>
        <p:spPr>
          <a:xfrm>
            <a:off x="8321040" y="1810512"/>
            <a:ext cx="2834640" cy="548640"/>
          </a:xfrm>
          <a:prstGeom prst="rect">
            <a:avLst/>
          </a:prstGeom>
          <a:noFill/>
          <a:ln/>
        </p:spPr>
        <p:txBody>
          <a:bodyPr wrap="square" lIns="0" tIns="0" rIns="0" bIns="0" rtlCol="0" anchor="t"/>
          <a:lstStyle/>
          <a:p>
            <a:pPr algn="l" indent="0" marL="0">
              <a:lnSpc>
                <a:spcPct val="100000"/>
              </a:lnSpc>
              <a:buNone/>
            </a:pPr>
            <a:r>
              <a:rPr lang="en-US" sz="3400" b="1" dirty="0">
                <a:solidFill>
                  <a:srgbClr val="F2F4F6"/>
                </a:solidFill>
                <a:latin typeface="Calibri" pitchFamily="34" charset="0"/>
                <a:cs typeface="Calibri"/>
              </a:rPr>
              <a:t>884 °C</a:t>
            </a:r>
            <a:endParaRPr lang="en-US" sz="3400" dirty="0"/>
          </a:p>
        </p:txBody>
      </p:sp>
      <p:sp>
        <p:nvSpPr>
          <p:cNvPr id="12" name="Text 10"/>
          <p:cNvSpPr txBox="1"/>
          <p:nvPr/>
        </p:nvSpPr>
        <p:spPr>
          <a:xfrm>
            <a:off x="8321040" y="2423160"/>
            <a:ext cx="2834640" cy="310896"/>
          </a:xfrm>
          <a:prstGeom prst="rect">
            <a:avLst/>
          </a:prstGeom>
          <a:noFill/>
          <a:ln/>
        </p:spPr>
        <p:txBody>
          <a:bodyPr wrap="square" lIns="0" tIns="0" rIns="0" bIns="0" rtlCol="0" anchor="t"/>
          <a:lstStyle/>
          <a:p>
            <a:pPr algn="l" indent="0" marL="0">
              <a:lnSpc>
                <a:spcPct val="115000"/>
              </a:lnSpc>
              <a:buNone/>
            </a:pPr>
            <a:r>
              <a:rPr lang="en-US" sz="1500" b="1" dirty="0">
                <a:solidFill>
                  <a:srgbClr val="7FB2DC"/>
                </a:solidFill>
                <a:latin typeface="Calibri" pitchFamily="34" charset="0"/>
                <a:cs typeface="Calibri"/>
              </a:rPr>
              <a:t>34 degrees over the limit</a:t>
            </a:r>
            <a:endParaRPr lang="en-US" sz="1500" dirty="0"/>
          </a:p>
        </p:txBody>
      </p:sp>
      <p:sp>
        <p:nvSpPr>
          <p:cNvPr id="13" name="Shape 11"/>
          <p:cNvSpPr/>
          <p:nvPr/>
        </p:nvSpPr>
        <p:spPr>
          <a:xfrm>
            <a:off x="813816" y="3154680"/>
            <a:ext cx="10561320" cy="1691640"/>
          </a:xfrm>
          <a:prstGeom prst="roundRect">
            <a:avLst>
              <a:gd name="adj" fmla="val 4324"/>
            </a:avLst>
          </a:prstGeom>
          <a:solidFill>
            <a:srgbClr val="22303F"/>
          </a:solidFill>
          <a:ln w="9525">
            <a:solidFill>
              <a:srgbClr val="2D3E50"/>
            </a:solidFill>
            <a:prstDash val="solid"/>
          </a:ln>
        </p:spPr>
      </p:sp>
      <p:sp>
        <p:nvSpPr>
          <p:cNvPr id="14" name="Text 12"/>
          <p:cNvSpPr txBox="1"/>
          <p:nvPr/>
        </p:nvSpPr>
        <p:spPr>
          <a:xfrm>
            <a:off x="1088136" y="3337560"/>
            <a:ext cx="10012680" cy="310896"/>
          </a:xfrm>
          <a:prstGeom prst="rect">
            <a:avLst/>
          </a:prstGeom>
          <a:noFill/>
          <a:ln/>
        </p:spPr>
        <p:txBody>
          <a:bodyPr wrap="square" lIns="0" tIns="0" rIns="0" bIns="0" rtlCol="0" anchor="t"/>
          <a:lstStyle/>
          <a:p>
            <a:pPr algn="l" indent="0" marL="0">
              <a:lnSpc>
                <a:spcPct val="115000"/>
              </a:lnSpc>
              <a:buNone/>
            </a:pPr>
            <a:r>
              <a:rPr lang="en-US" sz="1450" b="1" dirty="0">
                <a:solidFill>
                  <a:srgbClr val="7FB2DC"/>
                </a:solidFill>
                <a:latin typeface="Calibri" pitchFamily="34" charset="0"/>
                <a:cs typeface="Calibri"/>
              </a:rPr>
              <a:t>We did not choose it by intuition — we measured eight combinations and found the boundary near 12% at 120 km/h</a:t>
            </a:r>
            <a:endParaRPr lang="en-US" sz="1450" dirty="0"/>
          </a:p>
        </p:txBody>
      </p:sp>
      <p:sp>
        <p:nvSpPr>
          <p:cNvPr id="15" name="Text 13"/>
          <p:cNvSpPr txBox="1"/>
          <p:nvPr/>
        </p:nvSpPr>
        <p:spPr>
          <a:xfrm>
            <a:off x="1088136" y="3767328"/>
            <a:ext cx="4846320" cy="914400"/>
          </a:xfrm>
          <a:prstGeom prst="rect">
            <a:avLst/>
          </a:prstGeom>
          <a:noFill/>
          <a:ln/>
        </p:spPr>
        <p:txBody>
          <a:bodyPr wrap="square" lIns="0" tIns="0" rIns="0" bIns="0" rtlCol="0" anchor="t"/>
          <a:lstStyle/>
          <a:p>
            <a:pPr algn="l" indent="0" marL="0">
              <a:lnSpc>
                <a:spcPct val="115000"/>
              </a:lnSpc>
              <a:buNone/>
            </a:pPr>
            <a:r>
              <a:rPr lang="en-US" sz="1400" dirty="0">
                <a:solidFill>
                  <a:srgbClr val="C9D3DD"/>
                </a:solidFill>
                <a:latin typeface="Calibri" pitchFamily="34" charset="0"/>
                <a:cs typeface="Calibri"/>
              </a:rPr>
              <a:t>Different grade, different speed, </a:t>
            </a:r>
            <a:r>
              <a:rPr lang="en-US" sz="1400" b="1" dirty="0">
                <a:solidFill>
                  <a:srgbClr val="C9D3DD"/>
                </a:solidFill>
                <a:latin typeface="Calibri" pitchFamily="34" charset="0"/>
                <a:cs typeface="Calibri"/>
              </a:rPr>
              <a:t>same power, so the same temperature</a:t>
            </a:r>
            <a:r>
              <a:rPr lang="en-US" sz="1400" dirty="0">
                <a:solidFill>
                  <a:srgbClr val="C9D3DD"/>
                </a:solidFill>
                <a:latin typeface="Calibri" pitchFamily="34" charset="0"/>
                <a:cs typeface="Calibri"/>
              </a:rPr>
              <a:t>. That is what guided the choice instead of random trial.</a:t>
            </a:r>
            <a:endParaRPr lang="en-US" sz="1400" dirty="0"/>
          </a:p>
        </p:txBody>
      </p:sp>
      <p:sp>
        <p:nvSpPr>
          <p:cNvPr id="16" name="Shape 14"/>
          <p:cNvSpPr/>
          <p:nvPr/>
        </p:nvSpPr>
        <p:spPr>
          <a:xfrm>
            <a:off x="6163056" y="3749040"/>
            <a:ext cx="4937760" cy="868680"/>
          </a:xfrm>
          <a:prstGeom prst="roundRect">
            <a:avLst>
              <a:gd name="adj" fmla="val 8421"/>
            </a:avLst>
          </a:prstGeom>
          <a:solidFill>
            <a:srgbClr val="1C2A36"/>
          </a:solidFill>
          <a:ln/>
        </p:spPr>
      </p:sp>
      <p:sp>
        <p:nvSpPr>
          <p:cNvPr id="17" name="Text 15"/>
          <p:cNvSpPr txBox="1"/>
          <p:nvPr/>
        </p:nvSpPr>
        <p:spPr>
          <a:xfrm>
            <a:off x="6391656" y="3858768"/>
            <a:ext cx="4526280" cy="292608"/>
          </a:xfrm>
          <a:prstGeom prst="rect">
            <a:avLst/>
          </a:prstGeom>
          <a:noFill/>
          <a:ln/>
        </p:spPr>
        <p:txBody>
          <a:bodyPr wrap="square" lIns="0" tIns="0" rIns="0" bIns="0" rtlCol="0" anchor="t"/>
          <a:lstStyle/>
          <a:p>
            <a:pPr algn="l" indent="0" marL="0">
              <a:lnSpc>
                <a:spcPct val="115000"/>
              </a:lnSpc>
              <a:buNone/>
            </a:pPr>
            <a:r>
              <a:rPr lang="en-US" sz="1400" dirty="0">
                <a:solidFill>
                  <a:srgbClr val="F2F4F6"/>
                </a:solidFill>
                <a:latin typeface="Consolas" pitchFamily="34" charset="0"/>
                <a:cs typeface="Consolas"/>
              </a:rPr>
              <a:t>12% @ 130 → 88.7 kW → 899 °C</a:t>
            </a:r>
            <a:endParaRPr lang="en-US" sz="1400" dirty="0"/>
          </a:p>
        </p:txBody>
      </p:sp>
      <p:sp>
        <p:nvSpPr>
          <p:cNvPr id="18" name="Text 16"/>
          <p:cNvSpPr txBox="1"/>
          <p:nvPr/>
        </p:nvSpPr>
        <p:spPr>
          <a:xfrm>
            <a:off x="6391656" y="4187952"/>
            <a:ext cx="4526280" cy="292608"/>
          </a:xfrm>
          <a:prstGeom prst="rect">
            <a:avLst/>
          </a:prstGeom>
          <a:noFill/>
          <a:ln/>
        </p:spPr>
        <p:txBody>
          <a:bodyPr wrap="square" lIns="0" tIns="0" rIns="0" bIns="0" rtlCol="0" anchor="t"/>
          <a:lstStyle/>
          <a:p>
            <a:pPr algn="l" indent="0" marL="0">
              <a:lnSpc>
                <a:spcPct val="115000"/>
              </a:lnSpc>
              <a:buNone/>
            </a:pPr>
            <a:r>
              <a:rPr lang="en-US" sz="1400" dirty="0">
                <a:solidFill>
                  <a:srgbClr val="F2F4F6"/>
                </a:solidFill>
                <a:latin typeface="Consolas" pitchFamily="34" charset="0"/>
                <a:cs typeface="Consolas"/>
              </a:rPr>
              <a:t>16% @ 110 → 88.5 kW → 906 °C</a:t>
            </a:r>
            <a:endParaRPr lang="en-US" sz="1400" dirty="0"/>
          </a:p>
        </p:txBody>
      </p:sp>
      <p:sp>
        <p:nvSpPr>
          <p:cNvPr id="19" name="Text 17"/>
          <p:cNvSpPr txBox="1"/>
          <p:nvPr/>
        </p:nvSpPr>
        <p:spPr>
          <a:xfrm>
            <a:off x="813816" y="5074920"/>
            <a:ext cx="10561320" cy="548640"/>
          </a:xfrm>
          <a:prstGeom prst="rect">
            <a:avLst/>
          </a:prstGeom>
          <a:noFill/>
          <a:ln/>
        </p:spPr>
        <p:txBody>
          <a:bodyPr wrap="square" lIns="0" tIns="0" rIns="0" bIns="0" rtlCol="0" anchor="t"/>
          <a:lstStyle/>
          <a:p>
            <a:pPr algn="l" indent="0" marL="0">
              <a:lnSpc>
                <a:spcPct val="115000"/>
              </a:lnSpc>
              <a:buNone/>
            </a:pPr>
            <a:r>
              <a:rPr lang="en-US" sz="1250" dirty="0">
                <a:solidFill>
                  <a:srgbClr val="7D8E9E"/>
                </a:solidFill>
                <a:latin typeface="Calibri" pitchFamily="34" charset="0"/>
                <a:cs typeface="Calibri"/>
              </a:rPr>
              <a:t>The numbers in the lower box come from the envelope sweep before the real gearbox was added. With the real eight-speed the scenario settled at 884 °C — and it still exceeds the limit.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Where we are</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2800" b="1" dirty="0">
                <a:solidFill>
                  <a:srgbClr val="F2F4F6"/>
                </a:solidFill>
                <a:latin typeface="Calibri" pitchFamily="34" charset="0"/>
                <a:cs typeface="Calibri"/>
              </a:rPr>
              <a:t>The foundation is sound, and the original question is still open</a:t>
            </a:r>
            <a:endParaRPr lang="en-US" sz="2800" dirty="0"/>
          </a:p>
        </p:txBody>
      </p:sp>
      <p:sp>
        <p:nvSpPr>
          <p:cNvPr id="4" name="Shape 2"/>
          <p:cNvSpPr/>
          <p:nvPr/>
        </p:nvSpPr>
        <p:spPr>
          <a:xfrm>
            <a:off x="813816" y="1691640"/>
            <a:ext cx="5166360" cy="2697480"/>
          </a:xfrm>
          <a:prstGeom prst="roundRect">
            <a:avLst>
              <a:gd name="adj" fmla="val 2712"/>
            </a:avLst>
          </a:prstGeom>
          <a:solidFill>
            <a:srgbClr val="2A2318"/>
          </a:solidFill>
          <a:ln w="9525">
            <a:solidFill>
              <a:srgbClr val="6E5427"/>
            </a:solidFill>
            <a:prstDash val="solid"/>
          </a:ln>
        </p:spPr>
      </p:sp>
      <p:sp>
        <p:nvSpPr>
          <p:cNvPr id="5" name="Text 3"/>
          <p:cNvSpPr txBox="1"/>
          <p:nvPr/>
        </p:nvSpPr>
        <p:spPr>
          <a:xfrm>
            <a:off x="1088136" y="1874520"/>
            <a:ext cx="4617720" cy="292608"/>
          </a:xfrm>
          <a:prstGeom prst="rect">
            <a:avLst/>
          </a:prstGeom>
          <a:noFill/>
          <a:ln/>
        </p:spPr>
        <p:txBody>
          <a:bodyPr wrap="square" lIns="0" tIns="0" rIns="0" bIns="0" rtlCol="0" anchor="t"/>
          <a:lstStyle/>
          <a:p>
            <a:pPr algn="l" indent="0" marL="0">
              <a:lnSpc>
                <a:spcPct val="115000"/>
              </a:lnSpc>
              <a:buNone/>
            </a:pPr>
            <a:r>
              <a:rPr lang="en-US" sz="1450" b="1" dirty="0">
                <a:solidFill>
                  <a:srgbClr val="E3A857"/>
                </a:solidFill>
                <a:latin typeface="Calibri" pitchFamily="34" charset="0"/>
                <a:cs typeface="Calibri"/>
              </a:rPr>
              <a:t>Not settled yet</a:t>
            </a:r>
            <a:endParaRPr lang="en-US" sz="1450" dirty="0"/>
          </a:p>
        </p:txBody>
      </p:sp>
      <p:sp>
        <p:nvSpPr>
          <p:cNvPr id="6" name="Text 4"/>
          <p:cNvSpPr txBox="1"/>
          <p:nvPr/>
        </p:nvSpPr>
        <p:spPr>
          <a:xfrm>
            <a:off x="1088136" y="2267712"/>
            <a:ext cx="4617720" cy="685800"/>
          </a:xfrm>
          <a:prstGeom prst="rect">
            <a:avLst/>
          </a:prstGeom>
          <a:noFill/>
          <a:ln/>
        </p:spPr>
        <p:txBody>
          <a:bodyPr wrap="square" lIns="0" tIns="0" rIns="0" bIns="0" rtlCol="0" anchor="t"/>
          <a:lstStyle/>
          <a:p>
            <a:pPr algn="l" indent="0" marL="0">
              <a:lnSpc>
                <a:spcPct val="115000"/>
              </a:lnSpc>
              <a:buNone/>
            </a:pPr>
            <a:r>
              <a:rPr lang="en-US" sz="1500" dirty="0">
                <a:solidFill>
                  <a:srgbClr val="C9D3DD"/>
                </a:solidFill>
                <a:latin typeface="Calibri" pitchFamily="34" charset="0"/>
                <a:cs typeface="Calibri"/>
              </a:rPr>
              <a:t>With hand-written policies, preview </a:t>
            </a:r>
            <a:r>
              <a:rPr lang="en-US" sz="1500" b="1" dirty="0">
                <a:solidFill>
                  <a:srgbClr val="C9D3DD"/>
                </a:solidFill>
                <a:latin typeface="Calibri" pitchFamily="34" charset="0"/>
                <a:cs typeface="Calibri"/>
              </a:rPr>
              <a:t>still loses</a:t>
            </a:r>
            <a:r>
              <a:rPr lang="en-US" sz="1500" dirty="0">
                <a:solidFill>
                  <a:srgbClr val="C9D3DD"/>
                </a:solidFill>
                <a:latin typeface="Calibri" pitchFamily="34" charset="0"/>
                <a:cs typeface="Calibri"/>
              </a:rPr>
              <a:t>: from minus 1.8 points to minus 0.4 points.</a:t>
            </a:r>
            <a:endParaRPr lang="en-US" sz="1500" dirty="0"/>
          </a:p>
        </p:txBody>
      </p:sp>
      <p:sp>
        <p:nvSpPr>
          <p:cNvPr id="7" name="Text 5"/>
          <p:cNvSpPr txBox="1"/>
          <p:nvPr/>
        </p:nvSpPr>
        <p:spPr>
          <a:xfrm>
            <a:off x="1088136" y="3063240"/>
            <a:ext cx="4617720" cy="118872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Five scenarios and three policies, and preview loses in all of them — by a margin that changes just by changing the formula of one line inside one of the policies.</a:t>
            </a:r>
            <a:endParaRPr lang="en-US" sz="1350" dirty="0"/>
          </a:p>
        </p:txBody>
      </p:sp>
      <p:sp>
        <p:nvSpPr>
          <p:cNvPr id="8" name="Shape 6"/>
          <p:cNvSpPr/>
          <p:nvPr/>
        </p:nvSpPr>
        <p:spPr>
          <a:xfrm>
            <a:off x="6208776" y="1691640"/>
            <a:ext cx="5166360" cy="2697480"/>
          </a:xfrm>
          <a:prstGeom prst="roundRect">
            <a:avLst>
              <a:gd name="adj" fmla="val 2712"/>
            </a:avLst>
          </a:prstGeom>
          <a:solidFill>
            <a:srgbClr val="172B3D"/>
          </a:solidFill>
          <a:ln w="9525">
            <a:solidFill>
              <a:srgbClr val="2F6FA8"/>
            </a:solidFill>
            <a:prstDash val="solid"/>
          </a:ln>
        </p:spPr>
      </p:sp>
      <p:sp>
        <p:nvSpPr>
          <p:cNvPr id="9" name="Text 7"/>
          <p:cNvSpPr txBox="1"/>
          <p:nvPr/>
        </p:nvSpPr>
        <p:spPr>
          <a:xfrm>
            <a:off x="6483096" y="1874520"/>
            <a:ext cx="4617720" cy="292608"/>
          </a:xfrm>
          <a:prstGeom prst="rect">
            <a:avLst/>
          </a:prstGeom>
          <a:noFill/>
          <a:ln/>
        </p:spPr>
        <p:txBody>
          <a:bodyPr wrap="square" lIns="0" tIns="0" rIns="0" bIns="0" rtlCol="0" anchor="t"/>
          <a:lstStyle/>
          <a:p>
            <a:pPr algn="l" indent="0" marL="0">
              <a:lnSpc>
                <a:spcPct val="115000"/>
              </a:lnSpc>
              <a:buNone/>
            </a:pPr>
            <a:r>
              <a:rPr lang="en-US" sz="1450" b="1" dirty="0">
                <a:solidFill>
                  <a:srgbClr val="7FB2DC"/>
                </a:solidFill>
                <a:latin typeface="Calibri" pitchFamily="34" charset="0"/>
                <a:cs typeface="Calibri"/>
              </a:rPr>
              <a:t>What is settled</a:t>
            </a:r>
            <a:endParaRPr lang="en-US" sz="1450" dirty="0"/>
          </a:p>
        </p:txBody>
      </p:sp>
      <p:sp>
        <p:nvSpPr>
          <p:cNvPr id="10" name="Text 8"/>
          <p:cNvSpPr txBox="1"/>
          <p:nvPr/>
        </p:nvSpPr>
        <p:spPr>
          <a:xfrm>
            <a:off x="6483096" y="2267712"/>
            <a:ext cx="4617720" cy="1051560"/>
          </a:xfrm>
          <a:prstGeom prst="rect">
            <a:avLst/>
          </a:prstGeom>
          <a:noFill/>
          <a:ln/>
        </p:spPr>
        <p:txBody>
          <a:bodyPr wrap="square" lIns="0" tIns="0" rIns="0" bIns="0" rtlCol="0" anchor="t"/>
          <a:lstStyle/>
          <a:p>
            <a:pPr algn="l" indent="0" marL="0">
              <a:lnSpc>
                <a:spcPct val="115000"/>
              </a:lnSpc>
              <a:buNone/>
            </a:pPr>
            <a:r>
              <a:rPr lang="en-US" sz="1500" dirty="0">
                <a:solidFill>
                  <a:srgbClr val="C9D3DD"/>
                </a:solidFill>
                <a:latin typeface="Calibri" pitchFamily="34" charset="0"/>
                <a:cs typeface="Calibri"/>
              </a:rPr>
              <a:t>The simulator is corrected of five defects, the gearbox is the real one and checked against the car's logs, the scenario really loads the engine, and protection cuts damage by 34%.</a:t>
            </a:r>
            <a:endParaRPr lang="en-US" sz="1500" dirty="0"/>
          </a:p>
        </p:txBody>
      </p:sp>
      <p:sp>
        <p:nvSpPr>
          <p:cNvPr id="11" name="Text 9"/>
          <p:cNvSpPr txBox="1"/>
          <p:nvPr/>
        </p:nvSpPr>
        <p:spPr>
          <a:xfrm>
            <a:off x="6483096" y="3429000"/>
            <a:ext cx="4617720" cy="82296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And the evaluation protocol is fixed in advance: 20 frozen test cases that do not change after seeing any result.</a:t>
            </a:r>
            <a:endParaRPr lang="en-US" sz="1350" dirty="0"/>
          </a:p>
        </p:txBody>
      </p:sp>
      <p:sp>
        <p:nvSpPr>
          <p:cNvPr id="12" name="Shape 10"/>
          <p:cNvSpPr/>
          <p:nvPr/>
        </p:nvSpPr>
        <p:spPr>
          <a:xfrm>
            <a:off x="813816" y="4617720"/>
            <a:ext cx="10561320" cy="1600200"/>
          </a:xfrm>
          <a:prstGeom prst="roundRect">
            <a:avLst>
              <a:gd name="adj" fmla="val 4571"/>
            </a:avLst>
          </a:prstGeom>
          <a:solidFill>
            <a:srgbClr val="22303F"/>
          </a:solidFill>
          <a:ln w="9525">
            <a:solidFill>
              <a:srgbClr val="2D3E50"/>
            </a:solidFill>
            <a:prstDash val="solid"/>
          </a:ln>
        </p:spPr>
      </p:sp>
      <p:sp>
        <p:nvSpPr>
          <p:cNvPr id="13" name="Text 11"/>
          <p:cNvSpPr txBox="1"/>
          <p:nvPr/>
        </p:nvSpPr>
        <p:spPr>
          <a:xfrm>
            <a:off x="1088136" y="4773168"/>
            <a:ext cx="10012680" cy="292608"/>
          </a:xfrm>
          <a:prstGeom prst="rect">
            <a:avLst/>
          </a:prstGeom>
          <a:noFill/>
          <a:ln/>
        </p:spPr>
        <p:txBody>
          <a:bodyPr wrap="square" lIns="0" tIns="0" rIns="0" bIns="0" rtlCol="0" anchor="t"/>
          <a:lstStyle/>
          <a:p>
            <a:pPr algn="l" indent="0" marL="0">
              <a:lnSpc>
                <a:spcPct val="115000"/>
              </a:lnSpc>
              <a:buNone/>
            </a:pPr>
            <a:r>
              <a:rPr lang="en-US" sz="1450" b="1" dirty="0">
                <a:solidFill>
                  <a:srgbClr val="7FB2DC"/>
                </a:solidFill>
                <a:latin typeface="Calibri" pitchFamily="34" charset="0"/>
                <a:cs typeface="Calibri"/>
              </a:rPr>
              <a:t>And that is itself a conclusion, not a stumble</a:t>
            </a:r>
            <a:endParaRPr lang="en-US" sz="1450" dirty="0"/>
          </a:p>
        </p:txBody>
      </p:sp>
      <p:sp>
        <p:nvSpPr>
          <p:cNvPr id="14" name="Text 12"/>
          <p:cNvSpPr txBox="1"/>
          <p:nvPr/>
        </p:nvSpPr>
        <p:spPr>
          <a:xfrm>
            <a:off x="1088136" y="5120640"/>
            <a:ext cx="10012680" cy="347472"/>
          </a:xfrm>
          <a:prstGeom prst="rect">
            <a:avLst/>
          </a:prstGeom>
          <a:noFill/>
          <a:ln/>
        </p:spPr>
        <p:txBody>
          <a:bodyPr wrap="square" lIns="0" tIns="0" rIns="0" bIns="0" rtlCol="0" anchor="t"/>
          <a:lstStyle/>
          <a:p>
            <a:pPr algn="l" indent="0" marL="0">
              <a:lnSpc>
                <a:spcPct val="115000"/>
              </a:lnSpc>
              <a:buNone/>
            </a:pPr>
            <a:r>
              <a:rPr lang="en-US" sz="1700" b="1" dirty="0">
                <a:solidFill>
                  <a:srgbClr val="F2F4F6"/>
                </a:solidFill>
                <a:latin typeface="Calibri" pitchFamily="34" charset="0"/>
                <a:cs typeface="Calibri"/>
              </a:rPr>
              <a:t>The question "is preview worth acquiring?" cannot be answered by a policy written by hand.</a:t>
            </a:r>
            <a:endParaRPr lang="en-US" sz="1700" dirty="0"/>
          </a:p>
        </p:txBody>
      </p:sp>
      <p:sp>
        <p:nvSpPr>
          <p:cNvPr id="15" name="Text 13"/>
          <p:cNvSpPr txBox="1"/>
          <p:nvPr/>
        </p:nvSpPr>
        <p:spPr>
          <a:xfrm>
            <a:off x="1088136" y="5532120"/>
            <a:ext cx="10012680" cy="59436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A hand-written policy protects all the time at the first sign of danger, so it pays the cost of protection on the easy parts of the road. The learning phase is not one route to the answer — it is the only one.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02B"/>
        </a:solidFill>
      </p:bgPr>
    </p:bg>
    <p:spTree>
      <p:nvGrpSpPr>
        <p:cNvPr id="1" name=""/>
        <p:cNvGrpSpPr/>
        <p:nvPr/>
      </p:nvGrpSpPr>
      <p:grpSpPr>
        <a:xfrm>
          <a:off x="0" y="0"/>
          <a:ext cx="0" cy="0"/>
          <a:chOff x="0" y="0"/>
          <a:chExt cx="0" cy="0"/>
        </a:xfrm>
      </p:grpSpPr>
      <p:sp>
        <p:nvSpPr>
          <p:cNvPr id="2" name="Text 0"/>
          <p:cNvSpPr txBox="1"/>
          <p:nvPr/>
        </p:nvSpPr>
        <p:spPr>
          <a:xfrm>
            <a:off x="813816" y="713232"/>
            <a:ext cx="10561320" cy="274320"/>
          </a:xfrm>
          <a:prstGeom prst="rect">
            <a:avLst/>
          </a:prstGeom>
          <a:noFill/>
          <a:ln/>
        </p:spPr>
        <p:txBody>
          <a:bodyPr wrap="square" lIns="0" tIns="0" rIns="0" bIns="0" rtlCol="0" anchor="t"/>
          <a:lstStyle/>
          <a:p>
            <a:pPr algn="l" indent="0" marL="0">
              <a:lnSpc>
                <a:spcPct val="115000"/>
              </a:lnSpc>
              <a:buNone/>
            </a:pPr>
            <a:r>
              <a:rPr lang="en-US" sz="1300" b="1" dirty="0">
                <a:solidFill>
                  <a:srgbClr val="7FB2DC"/>
                </a:solidFill>
                <a:latin typeface="Calibri" pitchFamily="34" charset="0"/>
                <a:cs typeface="Calibri"/>
              </a:rPr>
              <a:t>The next step</a:t>
            </a:r>
            <a:endParaRPr lang="en-US" sz="1300" dirty="0"/>
          </a:p>
        </p:txBody>
      </p:sp>
      <p:sp>
        <p:nvSpPr>
          <p:cNvPr id="3" name="Text 1"/>
          <p:cNvSpPr txBox="1"/>
          <p:nvPr/>
        </p:nvSpPr>
        <p:spPr>
          <a:xfrm>
            <a:off x="813816" y="987552"/>
            <a:ext cx="10561320" cy="566928"/>
          </a:xfrm>
          <a:prstGeom prst="rect">
            <a:avLst/>
          </a:prstGeom>
          <a:noFill/>
          <a:ln/>
        </p:spPr>
        <p:txBody>
          <a:bodyPr wrap="square" lIns="0" tIns="0" rIns="0" bIns="0" rtlCol="0" anchor="t"/>
          <a:lstStyle/>
          <a:p>
            <a:pPr algn="l" indent="0" marL="0">
              <a:lnSpc>
                <a:spcPct val="100000"/>
              </a:lnSpc>
              <a:buNone/>
            </a:pPr>
            <a:r>
              <a:rPr lang="en-US" sz="3000" b="1" dirty="0">
                <a:solidFill>
                  <a:srgbClr val="F2F4F6"/>
                </a:solidFill>
                <a:latin typeface="Calibri" pitchFamily="34" charset="0"/>
                <a:cs typeface="Calibri"/>
              </a:rPr>
              <a:t>The same comparison, but in a form that can fail</a:t>
            </a:r>
            <a:endParaRPr lang="en-US" sz="3000" dirty="0"/>
          </a:p>
        </p:txBody>
      </p:sp>
      <p:sp>
        <p:nvSpPr>
          <p:cNvPr id="4" name="Shape 2"/>
          <p:cNvSpPr/>
          <p:nvPr/>
        </p:nvSpPr>
        <p:spPr>
          <a:xfrm>
            <a:off x="813816" y="1691640"/>
            <a:ext cx="5166360" cy="1600200"/>
          </a:xfrm>
          <a:prstGeom prst="roundRect">
            <a:avLst>
              <a:gd name="adj" fmla="val 4571"/>
            </a:avLst>
          </a:prstGeom>
          <a:solidFill>
            <a:srgbClr val="1C2A36"/>
          </a:solidFill>
          <a:ln w="9525">
            <a:solidFill>
              <a:srgbClr val="2D3E50"/>
            </a:solidFill>
            <a:prstDash val="solid"/>
          </a:ln>
        </p:spPr>
      </p:sp>
      <p:sp>
        <p:nvSpPr>
          <p:cNvPr id="5" name="Text 3"/>
          <p:cNvSpPr txBox="1"/>
          <p:nvPr/>
        </p:nvSpPr>
        <p:spPr>
          <a:xfrm>
            <a:off x="1069848" y="1874520"/>
            <a:ext cx="4654296" cy="310896"/>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A protocol frozen before the result</a:t>
            </a:r>
            <a:endParaRPr lang="en-US" sz="1650" dirty="0"/>
          </a:p>
        </p:txBody>
      </p:sp>
      <p:sp>
        <p:nvSpPr>
          <p:cNvPr id="6" name="Text 4"/>
          <p:cNvSpPr txBox="1"/>
          <p:nvPr/>
        </p:nvSpPr>
        <p:spPr>
          <a:xfrm>
            <a:off x="1069848" y="2240280"/>
            <a:ext cx="4654296" cy="96012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20 fixed test cases · five random seeds · the median and the interquartile range · three reference comparisons. </a:t>
            </a:r>
            <a:r>
              <a:rPr lang="en-US" sz="1350" b="1" dirty="0">
                <a:solidFill>
                  <a:srgbClr val="C9D3DD"/>
                </a:solidFill>
                <a:latin typeface="Calibri" pitchFamily="34" charset="0"/>
                <a:cs typeface="Calibri"/>
              </a:rPr>
              <a:t>Changing the test after seeing the result is the one unforgivable mistake.</a:t>
            </a:r>
            <a:endParaRPr lang="en-US" sz="1350" dirty="0"/>
          </a:p>
        </p:txBody>
      </p:sp>
      <p:sp>
        <p:nvSpPr>
          <p:cNvPr id="7" name="Shape 5"/>
          <p:cNvSpPr/>
          <p:nvPr/>
        </p:nvSpPr>
        <p:spPr>
          <a:xfrm>
            <a:off x="6208776" y="1691640"/>
            <a:ext cx="5166360" cy="1600200"/>
          </a:xfrm>
          <a:prstGeom prst="roundRect">
            <a:avLst>
              <a:gd name="adj" fmla="val 4571"/>
            </a:avLst>
          </a:prstGeom>
          <a:solidFill>
            <a:srgbClr val="1C2A36"/>
          </a:solidFill>
          <a:ln w="9525">
            <a:solidFill>
              <a:srgbClr val="2D3E50"/>
            </a:solidFill>
            <a:prstDash val="solid"/>
          </a:ln>
        </p:spPr>
      </p:sp>
      <p:sp>
        <p:nvSpPr>
          <p:cNvPr id="8" name="Text 6"/>
          <p:cNvSpPr txBox="1"/>
          <p:nvPr/>
        </p:nvSpPr>
        <p:spPr>
          <a:xfrm>
            <a:off x="6464808" y="1874520"/>
            <a:ext cx="4654296" cy="310896"/>
          </a:xfrm>
          <a:prstGeom prst="rect">
            <a:avLst/>
          </a:prstGeom>
          <a:noFill/>
          <a:ln/>
        </p:spPr>
        <p:txBody>
          <a:bodyPr wrap="square" lIns="0" tIns="0" rIns="0" bIns="0" rtlCol="0" anchor="t"/>
          <a:lstStyle/>
          <a:p>
            <a:pPr algn="l" indent="0" marL="0">
              <a:lnSpc>
                <a:spcPct val="115000"/>
              </a:lnSpc>
              <a:buNone/>
            </a:pPr>
            <a:r>
              <a:rPr lang="en-US" sz="1650" b="1" dirty="0">
                <a:solidFill>
                  <a:srgbClr val="F2F4F6"/>
                </a:solidFill>
                <a:latin typeface="Calibri" pitchFamily="34" charset="0"/>
                <a:cs typeface="Calibri"/>
              </a:rPr>
              <a:t>Two trained models, not two written policies</a:t>
            </a:r>
            <a:endParaRPr lang="en-US" sz="1650" dirty="0"/>
          </a:p>
        </p:txBody>
      </p:sp>
      <p:sp>
        <p:nvSpPr>
          <p:cNvPr id="9" name="Text 7"/>
          <p:cNvSpPr txBox="1"/>
          <p:nvPr/>
        </p:nvSpPr>
        <p:spPr>
          <a:xfrm>
            <a:off x="6464808" y="2240280"/>
            <a:ext cx="4654296" cy="96012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One sees the road ahead and one does not, and both learn with the same budget. Then a tie becomes a result, because a difference was possible.</a:t>
            </a:r>
            <a:endParaRPr lang="en-US" sz="1350" dirty="0"/>
          </a:p>
        </p:txBody>
      </p:sp>
      <p:sp>
        <p:nvSpPr>
          <p:cNvPr id="10" name="Shape 8"/>
          <p:cNvSpPr/>
          <p:nvPr/>
        </p:nvSpPr>
        <p:spPr>
          <a:xfrm>
            <a:off x="813816" y="3520440"/>
            <a:ext cx="10561320" cy="1783080"/>
          </a:xfrm>
          <a:prstGeom prst="roundRect">
            <a:avLst>
              <a:gd name="adj" fmla="val 4103"/>
            </a:avLst>
          </a:prstGeom>
          <a:solidFill>
            <a:srgbClr val="2A2318"/>
          </a:solidFill>
          <a:ln w="9525">
            <a:solidFill>
              <a:srgbClr val="6E5427"/>
            </a:solidFill>
            <a:prstDash val="solid"/>
          </a:ln>
        </p:spPr>
      </p:sp>
      <p:sp>
        <p:nvSpPr>
          <p:cNvPr id="11" name="Text 9"/>
          <p:cNvSpPr txBox="1"/>
          <p:nvPr/>
        </p:nvSpPr>
        <p:spPr>
          <a:xfrm>
            <a:off x="1088136" y="3685032"/>
            <a:ext cx="10012680" cy="292608"/>
          </a:xfrm>
          <a:prstGeom prst="rect">
            <a:avLst/>
          </a:prstGeom>
          <a:noFill/>
          <a:ln/>
        </p:spPr>
        <p:txBody>
          <a:bodyPr wrap="square" lIns="0" tIns="0" rIns="0" bIns="0" rtlCol="0" anchor="t"/>
          <a:lstStyle/>
          <a:p>
            <a:pPr algn="l" indent="0" marL="0">
              <a:lnSpc>
                <a:spcPct val="115000"/>
              </a:lnSpc>
              <a:buNone/>
            </a:pPr>
            <a:r>
              <a:rPr lang="en-US" sz="1450" b="1" dirty="0">
                <a:solidFill>
                  <a:srgbClr val="E3A857"/>
                </a:solidFill>
                <a:latin typeface="Calibri" pitchFamily="34" charset="0"/>
                <a:cs typeface="Calibri"/>
              </a:rPr>
              <a:t>And three limits we will write into the thesis instead of hiding them</a:t>
            </a:r>
            <a:endParaRPr lang="en-US" sz="1450" dirty="0"/>
          </a:p>
        </p:txBody>
      </p:sp>
      <p:sp>
        <p:nvSpPr>
          <p:cNvPr id="12" name="Text 10"/>
          <p:cNvSpPr txBox="1"/>
          <p:nvPr/>
        </p:nvSpPr>
        <p:spPr>
          <a:xfrm>
            <a:off x="1088136" y="4069080"/>
            <a:ext cx="3215640" cy="1143000"/>
          </a:xfrm>
          <a:prstGeom prst="rect">
            <a:avLst/>
          </a:prstGeom>
          <a:noFill/>
          <a:ln/>
        </p:spPr>
        <p:txBody>
          <a:bodyPr wrap="square" lIns="0" tIns="0" rIns="0" bIns="0" rtlCol="0" anchor="t"/>
          <a:lstStyle/>
          <a:p>
            <a:pPr algn="l" indent="0" marL="0">
              <a:lnSpc>
                <a:spcPct val="115000"/>
              </a:lnSpc>
              <a:buNone/>
            </a:pPr>
            <a:r>
              <a:rPr lang="en-US" sz="1300" b="1" dirty="0">
                <a:solidFill>
                  <a:srgbClr val="F2F4F6"/>
                </a:solidFill>
                <a:latin typeface="Calibri" pitchFamily="34" charset="0"/>
                <a:cs typeface="Calibri"/>
              </a:rPr>
              <a:t>The time step is not the same</a:t>
            </a:r>
            <a:r>
              <a:rPr lang="en-US" sz="1300" dirty="0">
                <a:solidFill>
                  <a:srgbClr val="C9D3DD"/>
                </a:solidFill>
                <a:latin typeface="Calibri" pitchFamily="34" charset="0"/>
                <a:cs typeface="Calibri"/>
              </a:rPr>
              <a:t> in training and evaluation, and we measured its effect: it moves the numbers by about the size of the signal itself</a:t>
            </a:r>
            <a:endParaRPr lang="en-US" sz="1300" dirty="0"/>
          </a:p>
        </p:txBody>
      </p:sp>
      <p:sp>
        <p:nvSpPr>
          <p:cNvPr id="13" name="Text 11"/>
          <p:cNvSpPr txBox="1"/>
          <p:nvPr/>
        </p:nvSpPr>
        <p:spPr>
          <a:xfrm>
            <a:off x="4486656" y="4069080"/>
            <a:ext cx="3215640" cy="1143000"/>
          </a:xfrm>
          <a:prstGeom prst="rect">
            <a:avLst/>
          </a:prstGeom>
          <a:noFill/>
          <a:ln/>
        </p:spPr>
        <p:txBody>
          <a:bodyPr wrap="square" lIns="0" tIns="0" rIns="0" bIns="0" rtlCol="0" anchor="t"/>
          <a:lstStyle/>
          <a:p>
            <a:pPr algn="l" indent="0" marL="0">
              <a:lnSpc>
                <a:spcPct val="115000"/>
              </a:lnSpc>
              <a:buNone/>
            </a:pPr>
            <a:r>
              <a:rPr lang="en-US" sz="1300" b="1" dirty="0">
                <a:solidFill>
                  <a:srgbClr val="F2F4F6"/>
                </a:solidFill>
                <a:latin typeface="Calibri" pitchFamily="34" charset="0"/>
                <a:cs typeface="Calibri"/>
              </a:rPr>
              <a:t>The knock model is not validated</a:t>
            </a:r>
            <a:r>
              <a:rPr lang="en-US" sz="1300" dirty="0">
                <a:solidFill>
                  <a:srgbClr val="C9D3DD"/>
                </a:solidFill>
                <a:latin typeface="Calibri" pitchFamily="34" charset="0"/>
                <a:cs typeface="Calibri"/>
              </a:rPr>
              <a:t> against this car — we compared it with the spark retard the car itself applies, and there is no relationship</a:t>
            </a:r>
            <a:endParaRPr lang="en-US" sz="1300" dirty="0"/>
          </a:p>
        </p:txBody>
      </p:sp>
      <p:sp>
        <p:nvSpPr>
          <p:cNvPr id="14" name="Text 12"/>
          <p:cNvSpPr txBox="1"/>
          <p:nvPr/>
        </p:nvSpPr>
        <p:spPr>
          <a:xfrm>
            <a:off x="7885176" y="4069080"/>
            <a:ext cx="3215640" cy="1143000"/>
          </a:xfrm>
          <a:prstGeom prst="rect">
            <a:avLst/>
          </a:prstGeom>
          <a:noFill/>
          <a:ln/>
        </p:spPr>
        <p:txBody>
          <a:bodyPr wrap="square" lIns="0" tIns="0" rIns="0" bIns="0" rtlCol="0" anchor="t"/>
          <a:lstStyle/>
          <a:p>
            <a:pPr algn="l" indent="0" marL="0">
              <a:lnSpc>
                <a:spcPct val="115000"/>
              </a:lnSpc>
              <a:buNone/>
            </a:pPr>
            <a:r>
              <a:rPr lang="en-US" sz="1300" b="1" dirty="0">
                <a:solidFill>
                  <a:srgbClr val="F2F4F6"/>
                </a:solidFill>
                <a:latin typeface="Calibri" pitchFamily="34" charset="0"/>
                <a:cs typeface="Calibri"/>
              </a:rPr>
              <a:t>The turbine's heat capacity is assumed</a:t>
            </a:r>
            <a:r>
              <a:rPr lang="en-US" sz="1300" dirty="0">
                <a:solidFill>
                  <a:srgbClr val="C9D3DD"/>
                </a:solidFill>
                <a:latin typeface="Calibri" pitchFamily="34" charset="0"/>
                <a:cs typeface="Calibri"/>
              </a:rPr>
              <a:t>, not measured — which is why we sweep it over a 75-fold range, so the claim is about the ratio, not the number</a:t>
            </a:r>
            <a:endParaRPr lang="en-US" sz="1300" dirty="0"/>
          </a:p>
        </p:txBody>
      </p:sp>
      <p:sp>
        <p:nvSpPr>
          <p:cNvPr id="15" name="Text 13"/>
          <p:cNvSpPr txBox="1"/>
          <p:nvPr/>
        </p:nvSpPr>
        <p:spPr>
          <a:xfrm>
            <a:off x="813816" y="5532120"/>
            <a:ext cx="10561320" cy="548640"/>
          </a:xfrm>
          <a:prstGeom prst="rect">
            <a:avLst/>
          </a:prstGeom>
          <a:noFill/>
          <a:ln/>
        </p:spPr>
        <p:txBody>
          <a:bodyPr wrap="square" lIns="0" tIns="0" rIns="0" bIns="0" rtlCol="0" anchor="t"/>
          <a:lstStyle/>
          <a:p>
            <a:pPr algn="l" indent="0" marL="0">
              <a:lnSpc>
                <a:spcPct val="115000"/>
              </a:lnSpc>
              <a:buNone/>
            </a:pPr>
            <a:r>
              <a:rPr lang="en-US" sz="1350" dirty="0">
                <a:solidFill>
                  <a:srgbClr val="93A5B6"/>
                </a:solidFill>
                <a:latin typeface="Calibri" pitchFamily="34" charset="0"/>
                <a:cs typeface="Calibri"/>
              </a:rPr>
              <a:t>In parallel: the live app runs beside the car with the same calibrated physics, and estimates a temperature the car has no sensor for. Ready to demo.</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Update — 20 September</dc:title>
  <dc:subject>PptxGenJS Presentation</dc:subject>
  <dc:creator>Graduation project team</dc:creator>
  <cp:lastModifiedBy>Graduation project team</cp:lastModifiedBy>
  <cp:revision>1</cp:revision>
  <dcterms:created xsi:type="dcterms:W3CDTF">2026-10-01T12:29:23Z</dcterms:created>
  <dcterms:modified xsi:type="dcterms:W3CDTF">2026-10-01T12:29:23Z</dcterms:modified>
</cp:coreProperties>
</file>