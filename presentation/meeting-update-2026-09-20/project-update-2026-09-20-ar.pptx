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افتح بهذي الجملة: "منذ اجتماعنا الأخير دقّقنا المحاكاة، ووجدنا خمسة عيوب أبطلت أرقامنا السابقة. راح أعرض ما وجدناه، وما فعلناه، وأين وصلنا." لا تبدأ بالاعتذار — ابدأ بأن التدقيق كان قرارنا نحن.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هذي الشريحة هي العرض كله. لو الدكتور ما عنده وقت، هذي تكفي. النقطة الثالثة مهمة — النتائج السالبة ليست فشلاً، هي جزء من الجواب.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لو سأل "كيف تأكدتم من ناقل الحركة؟" — الجواب في السطر الأخير: أخذنا نسبة سرعة المحرك إلى سرعة السيارة لكل عيّنة، وقارنّاها بالنسب الثماني المنشورة. 86.7% تقع عليها. وهذا يستبعد الناقل اليدوي: نسبته العليا 2.927 والسيارة تقيس 1.993، والأوتوماتيك 2.016.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أصعب شريحة وأهمّها. قلها بثقة لا باعتذار: نحن من دقّق، ونحن من اكتشف، ونحن من سحب الرقم. لو سأل كيف اكتشفتوها — تدقيق كامل للكود في 14 سبتمبر، مكتوب في AUDIT.md بثلاث نتائج حرجة.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النقطة: ما فشلنا في إيجاد بيانات — نحن قِسنا، والقياس نفسه جواب. لو سأل: ليش تقيسون حرارة ما فيها حسّاس — قل إن هذا هو المشروع، نموذج يقدّر ما لا تقيسه السيارة، وهو نفس النموذج المعايَر على 26 نقطة تشغيل من سجلّاتنا.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الرسالة: ما جرّبنا شيئاً واحداً ونجح بالصدفة. جرّبنا أربعة، ثلاثة أعطت نتائج سالبة، وكلّها مكتوبة في المستودع بالتاريخ والأرقام. كلّ نتيجة سالبة من الثلاث تدخل الرسالة كفقرة قائمة بذاتها.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لو سأل الدكتور: طيب ليش ما تستخدمون معيار منشور بدل سيناريو من عندكم — هذي الشريحة هي الجواب. جرّبناه، ولم يُجهد السيارة، والسبب فيزيائيّ مكتوب. وفيها فائدة ثانية: علّمَتنا أنّ ما يسخّن التوربين هو قدرة الطريق، وهذا ما بنينا عليه السيناريو الناجح.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لو قال: أنتم اخترتم سيناريو مبالغاً فيه — هذي الشريحة والّتي بعدها هما الجواب. سُقنا أصعب طريق حقيقيّ عندنا، وهو أبرد من سيناريونا بـ 86 درجة. يعني السيناريو أشدّ من الواقع عن قصد، وهذا قرار تصميم معلَن لا صدفة.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هذي الشريحة تقلب النتيجة السالبة إلى مكسب. الأهمّ فيها هو العمود الأوسط: قبل الطائف كان خلاف نموذجنا مع النطاق المنشور غير قابل للتفسير، لأنّ سيارتنا لم تصل أصلاً إلى ذلك النطاق. الآن وصلت، فصار الخلاف مَقيساً ومعروف الاتجاه.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لو سأل: كيف اخترتم 12 % و 130 — الجواب في المستطيل الأسفل، مسح ثماني تركيبات. ولو سأل عن فرق 899 و 884 — قل إنّ ناقل الحركة الحقيقيّ غيّر النتيجة قليلاً وما زال السيناريو يتجاوز الحدّ، والسطر الأخير مكتوب في الشريحة عن قصد حتى لا يبدو أنّنا نخفيه.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لا تقدّم هذي الشريحة كخبر سيّئ. الاستشراف يخسر مع السياسات اليدويّة لأنّ السياسة اليدويّة غبيّة في استعمال المعلومة، لا لأنّ المعلومة بلا قيمة. وهذا بالضبط ما يبرّر المرحلة القادمة علمياً. لو سأل عن رقم نهائيّ للاستشراف — قل إنّه ما زال مفتوحاً وسيُقاس في المرحلة القادمة بالبروتوكول المجمّد.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اختم بهذي: نحن الآن نعرف بالضبط ما الذي نقيسه، وكيف نقيسه، وماذا سنقول لو جاءت النتيجة سالبة. البروتوكول مجمّد قبل النتيجة عن قصد. ولو بقي وقت، اعرض التطبيق الحيّ — هو الجزء الذي يُرى.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02B"/>
        </a:solidFill>
      </p:bgPr>
    </p:bg>
    <p:spTree>
      <p:nvGrpSpPr>
        <p:cNvPr id="1" name=""/>
        <p:cNvGrpSpPr/>
        <p:nvPr/>
      </p:nvGrpSpPr>
      <p:grpSpPr>
        <a:xfrm>
          <a:off x="0" y="0"/>
          <a:ext cx="0" cy="0"/>
          <a:chOff x="0" y="0"/>
          <a:chExt cx="0" cy="0"/>
        </a:xfrm>
      </p:grpSpPr>
      <p:sp>
        <p:nvSpPr>
          <p:cNvPr id="2" name="Text 0"/>
          <p:cNvSpPr/>
          <p:nvPr/>
        </p:nvSpPr>
        <p:spPr>
          <a:xfrm>
            <a:off x="495808" y="812800"/>
            <a:ext cx="10883392" cy="274241"/>
          </a:xfrm>
          <a:prstGeom prst="rect">
            <a:avLst/>
          </a:prstGeom>
          <a:noFill/>
          <a:ln/>
        </p:spPr>
        <p:txBody>
          <a:bodyPr wrap="square" lIns="0" tIns="0" rIns="0" bIns="0" rtlCol="0" anchor="t">
            <a:normAutofit/>
          </a:bodyPr>
          <a:lstStyle/>
          <a:p>
            <a:pPr algn="r" indent="0" marL="0">
              <a:lnSpc>
                <a:spcPts val="1960"/>
              </a:lnSpc>
              <a:buNone/>
            </a:pPr>
            <a:r>
              <a:rPr lang="en-US" sz="1400" spc="100" kern="0" dirty="0">
                <a:solidFill>
                  <a:srgbClr val="7FB2DC"/>
                </a:solidFill>
                <a:latin typeface="IBM Plex Sans Arabic" pitchFamily="34" charset="0"/>
                <a:ea typeface="IBM Plex Sans Arabic" pitchFamily="34" charset="-122"/>
                <a:cs typeface="IBM Plex Sans Arabic" pitchFamily="34" charset="-120"/>
              </a:rPr>
              <a:t>مشروع التخرّج · جامعة جدة</a:t>
            </a:r>
            <a:endParaRPr lang="en-US" sz="1400" dirty="0"/>
          </a:p>
        </p:txBody>
      </p:sp>
      <p:sp>
        <p:nvSpPr>
          <p:cNvPr id="3" name="Text 1"/>
          <p:cNvSpPr/>
          <p:nvPr/>
        </p:nvSpPr>
        <p:spPr>
          <a:xfrm>
            <a:off x="495808" y="2761059"/>
            <a:ext cx="10883392" cy="784820"/>
          </a:xfrm>
          <a:prstGeom prst="rect">
            <a:avLst/>
          </a:prstGeom>
          <a:noFill/>
          <a:ln/>
        </p:spPr>
        <p:txBody>
          <a:bodyPr wrap="square" lIns="0" tIns="0" rIns="0" bIns="0" rtlCol="0" anchor="t">
            <a:normAutofit/>
          </a:bodyPr>
          <a:lstStyle/>
          <a:p>
            <a:pPr algn="r" indent="0" marL="0">
              <a:lnSpc>
                <a:spcPts val="5980"/>
              </a:lnSpc>
              <a:buNone/>
            </a:pPr>
            <a:r>
              <a:rPr lang="en-US" sz="5200" b="1" dirty="0">
                <a:solidFill>
                  <a:srgbClr val="F2F4F6"/>
                </a:solidFill>
                <a:latin typeface="IBM Plex Sans Arabic" pitchFamily="34" charset="0"/>
                <a:ea typeface="IBM Plex Sans Arabic" pitchFamily="34" charset="-122"/>
                <a:cs typeface="IBM Plex Sans Arabic" pitchFamily="34" charset="-120"/>
              </a:rPr>
              <a:t>تحديث المشروع</a:t>
            </a:r>
            <a:endParaRPr lang="en-US" sz="5200" dirty="0"/>
          </a:p>
        </p:txBody>
      </p:sp>
      <p:sp>
        <p:nvSpPr>
          <p:cNvPr id="4" name="Text 2"/>
          <p:cNvSpPr/>
          <p:nvPr/>
        </p:nvSpPr>
        <p:spPr>
          <a:xfrm>
            <a:off x="495808" y="3723680"/>
            <a:ext cx="10883392" cy="416520"/>
          </a:xfrm>
          <a:prstGeom prst="rect">
            <a:avLst/>
          </a:prstGeom>
          <a:noFill/>
          <a:ln/>
        </p:spPr>
        <p:txBody>
          <a:bodyPr wrap="square" lIns="0" tIns="0" rIns="0" bIns="0" rtlCol="0" anchor="t">
            <a:normAutofit/>
          </a:bodyPr>
          <a:lstStyle/>
          <a:p>
            <a:pPr algn="r" indent="0" marL="0">
              <a:lnSpc>
                <a:spcPts val="3080"/>
              </a:lnSpc>
              <a:buNone/>
            </a:pPr>
            <a:r>
              <a:rPr lang="en-US" sz="2200" dirty="0">
                <a:solidFill>
                  <a:srgbClr val="B8C6D4"/>
                </a:solidFill>
                <a:latin typeface="IBM Plex Sans Arabic" pitchFamily="34" charset="0"/>
                <a:ea typeface="IBM Plex Sans Arabic" pitchFamily="34" charset="-122"/>
                <a:cs typeface="IBM Plex Sans Arabic" pitchFamily="34" charset="-120"/>
              </a:rPr>
              <a:t>ما حدث منذ اجتماع الأحد 13 سبتمبر</a:t>
            </a:r>
            <a:endParaRPr lang="en-US" sz="2200" dirty="0"/>
          </a:p>
        </p:txBody>
      </p:sp>
      <p:sp>
        <p:nvSpPr>
          <p:cNvPr id="5" name="Text 3"/>
          <p:cNvSpPr/>
          <p:nvPr/>
        </p:nvSpPr>
        <p:spPr>
          <a:xfrm>
            <a:off x="812800" y="5814120"/>
            <a:ext cx="3105409"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8A9AA8"/>
                </a:solidFill>
                <a:latin typeface="IBM Plex Sans Arabic" pitchFamily="34" charset="0"/>
                <a:ea typeface="IBM Plex Sans Arabic" pitchFamily="34" charset="-122"/>
                <a:cs typeface="IBM Plex Sans Arabic" pitchFamily="34" charset="-120"/>
              </a:rPr>
              <a:t>كل رقم في هذا العرض يطبعه سكربت في المستودع</a:t>
            </a:r>
            <a:endParaRPr lang="en-US" sz="1300" dirty="0"/>
          </a:p>
        </p:txBody>
      </p:sp>
      <p:sp>
        <p:nvSpPr>
          <p:cNvPr id="6" name="Text 4"/>
          <p:cNvSpPr/>
          <p:nvPr/>
        </p:nvSpPr>
        <p:spPr>
          <a:xfrm>
            <a:off x="10248503" y="5814120"/>
            <a:ext cx="1130697"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8A9AA8"/>
                </a:solidFill>
                <a:latin typeface="IBM Plex Sans Arabic" pitchFamily="34" charset="0"/>
                <a:ea typeface="IBM Plex Sans Arabic" pitchFamily="34" charset="-122"/>
                <a:cs typeface="IBM Plex Sans Arabic" pitchFamily="34" charset="-120"/>
              </a:rPr>
              <a:t>20 سبتمبر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4F6"/>
        </a:solidFill>
      </p:bgPr>
    </p:bg>
    <p:spTree>
      <p:nvGrpSpPr>
        <p:cNvPr id="1" name=""/>
        <p:cNvGrpSpPr/>
        <p:nvPr/>
      </p:nvGrpSpPr>
      <p:grpSpPr>
        <a:xfrm>
          <a:off x="0" y="0"/>
          <a:ext cx="0" cy="0"/>
          <a:chOff x="0" y="0"/>
          <a:chExt cx="0" cy="0"/>
        </a:xfrm>
      </p:grpSpPr>
      <p:sp>
        <p:nvSpPr>
          <p:cNvPr id="2" name="Text 0"/>
          <p:cNvSpPr/>
          <p:nvPr/>
        </p:nvSpPr>
        <p:spPr>
          <a:xfrm>
            <a:off x="495808" y="812800"/>
            <a:ext cx="10883392" cy="521891"/>
          </a:xfrm>
          <a:prstGeom prst="rect">
            <a:avLst/>
          </a:prstGeom>
          <a:noFill/>
          <a:ln/>
        </p:spPr>
        <p:txBody>
          <a:bodyPr wrap="square" lIns="0" tIns="0" rIns="0" bIns="0" rtlCol="0" anchor="t">
            <a:normAutofit/>
          </a:bodyPr>
          <a:lstStyle/>
          <a:p>
            <a:pPr algn="r" indent="0" marL="0">
              <a:lnSpc>
                <a:spcPts val="3910"/>
              </a:lnSpc>
              <a:buNone/>
            </a:pPr>
            <a:r>
              <a:rPr lang="en-US" sz="3400" b="1" dirty="0">
                <a:solidFill>
                  <a:srgbClr val="16202B"/>
                </a:solidFill>
                <a:latin typeface="IBM Plex Sans Arabic" pitchFamily="34" charset="0"/>
                <a:ea typeface="IBM Plex Sans Arabic" pitchFamily="34" charset="-122"/>
                <a:cs typeface="IBM Plex Sans Arabic" pitchFamily="34" charset="-120"/>
              </a:rPr>
              <a:t>الخلاصة في ثلاثة أسطر</a:t>
            </a:r>
            <a:endParaRPr lang="en-US" sz="3400" dirty="0"/>
          </a:p>
        </p:txBody>
      </p:sp>
      <p:sp>
        <p:nvSpPr>
          <p:cNvPr id="3" name="Shape 1"/>
          <p:cNvSpPr/>
          <p:nvPr/>
        </p:nvSpPr>
        <p:spPr>
          <a:xfrm>
            <a:off x="815975" y="1668066"/>
            <a:ext cx="10560050" cy="1153120"/>
          </a:xfrm>
          <a:prstGeom prst="roundRect">
            <a:avLst>
              <a:gd name="adj" fmla="val 7434"/>
            </a:avLst>
          </a:prstGeom>
          <a:solidFill>
            <a:srgbClr val="FFFFFF"/>
          </a:solidFill>
          <a:ln w="6350">
            <a:solidFill>
              <a:srgbClr val="D4DCE3"/>
            </a:solidFill>
            <a:prstDash val="solid"/>
          </a:ln>
        </p:spPr>
      </p:sp>
      <p:sp>
        <p:nvSpPr>
          <p:cNvPr id="4" name="Text 2"/>
          <p:cNvSpPr/>
          <p:nvPr/>
        </p:nvSpPr>
        <p:spPr>
          <a:xfrm>
            <a:off x="798703" y="1925241"/>
            <a:ext cx="10294747" cy="314920"/>
          </a:xfrm>
          <a:prstGeom prst="rect">
            <a:avLst/>
          </a:prstGeom>
          <a:noFill/>
          <a:ln/>
        </p:spPr>
        <p:txBody>
          <a:bodyPr wrap="square" lIns="0" tIns="0" rIns="0" bIns="0" rtlCol="0" anchor="t">
            <a:normAutofit/>
          </a:bodyPr>
          <a:lstStyle/>
          <a:p>
            <a:pPr algn="r" indent="0" marL="0">
              <a:lnSpc>
                <a:spcPts val="2280"/>
              </a:lnSpc>
              <a:buNone/>
            </a:pPr>
            <a:r>
              <a:rPr lang="en-US" sz="1900" b="1" dirty="0">
                <a:solidFill>
                  <a:srgbClr val="16202B"/>
                </a:solidFill>
                <a:latin typeface="IBM Plex Sans Arabic" pitchFamily="34" charset="0"/>
                <a:ea typeface="IBM Plex Sans Arabic" pitchFamily="34" charset="-122"/>
                <a:cs typeface="IBM Plex Sans Arabic" pitchFamily="34" charset="-120"/>
              </a:rPr>
              <a:t>دقّقنا المحاكاة ووجدنا خمسة عيوب</a:t>
            </a:r>
            <a:endParaRPr lang="en-US" sz="1900" dirty="0"/>
          </a:p>
        </p:txBody>
      </p:sp>
      <p:sp>
        <p:nvSpPr>
          <p:cNvPr id="5" name="Text 3"/>
          <p:cNvSpPr/>
          <p:nvPr/>
        </p:nvSpPr>
        <p:spPr>
          <a:xfrm>
            <a:off x="798703" y="2278261"/>
            <a:ext cx="10294747" cy="311150"/>
          </a:xfrm>
          <a:prstGeom prst="rect">
            <a:avLst/>
          </a:prstGeom>
          <a:noFill/>
          <a:ln/>
        </p:spPr>
        <p:txBody>
          <a:bodyPr wrap="square" lIns="0" tIns="0" rIns="0" bIns="0" rtlCol="0" anchor="t">
            <a:normAutofit/>
          </a:bodyPr>
          <a:lstStyle/>
          <a:p>
            <a:pPr algn="r" indent="0" marL="0">
              <a:lnSpc>
                <a:spcPts val="2250"/>
              </a:lnSpc>
              <a:buNone/>
            </a:pPr>
            <a:r>
              <a:rPr lang="en-US" sz="1500" dirty="0">
                <a:solidFill>
                  <a:srgbClr val="5D6E7D"/>
                </a:solidFill>
                <a:latin typeface="IBM Plex Sans Arabic" pitchFamily="34" charset="0"/>
                <a:ea typeface="IBM Plex Sans Arabic" pitchFamily="34" charset="-122"/>
                <a:cs typeface="IBM Plex Sans Arabic" pitchFamily="34" charset="-120"/>
              </a:rPr>
              <a:t>أرقامنا السابقة مبنيّة عليها، فهي باطلة ولا تُقتبس</a:t>
            </a:r>
            <a:endParaRPr lang="en-US" sz="1500" dirty="0"/>
          </a:p>
        </p:txBody>
      </p:sp>
      <p:sp>
        <p:nvSpPr>
          <p:cNvPr id="6" name="Shape 4"/>
          <p:cNvSpPr/>
          <p:nvPr/>
        </p:nvSpPr>
        <p:spPr>
          <a:xfrm>
            <a:off x="815975" y="3005336"/>
            <a:ext cx="10560050" cy="1153120"/>
          </a:xfrm>
          <a:prstGeom prst="roundRect">
            <a:avLst>
              <a:gd name="adj" fmla="val 7434"/>
            </a:avLst>
          </a:prstGeom>
          <a:solidFill>
            <a:srgbClr val="FFFFFF"/>
          </a:solidFill>
          <a:ln w="6350">
            <a:solidFill>
              <a:srgbClr val="D4DCE3"/>
            </a:solidFill>
            <a:prstDash val="solid"/>
          </a:ln>
        </p:spPr>
      </p:sp>
      <p:sp>
        <p:nvSpPr>
          <p:cNvPr id="7" name="Text 5"/>
          <p:cNvSpPr/>
          <p:nvPr/>
        </p:nvSpPr>
        <p:spPr>
          <a:xfrm>
            <a:off x="798703" y="3262511"/>
            <a:ext cx="10294747" cy="314920"/>
          </a:xfrm>
          <a:prstGeom prst="rect">
            <a:avLst/>
          </a:prstGeom>
          <a:noFill/>
          <a:ln/>
        </p:spPr>
        <p:txBody>
          <a:bodyPr wrap="square" lIns="0" tIns="0" rIns="0" bIns="0" rtlCol="0" anchor="t">
            <a:normAutofit/>
          </a:bodyPr>
          <a:lstStyle/>
          <a:p>
            <a:pPr algn="r" indent="0" marL="0">
              <a:lnSpc>
                <a:spcPts val="2280"/>
              </a:lnSpc>
              <a:buNone/>
            </a:pPr>
            <a:r>
              <a:rPr lang="en-US" sz="1900" b="1" dirty="0">
                <a:solidFill>
                  <a:srgbClr val="16202B"/>
                </a:solidFill>
                <a:latin typeface="IBM Plex Sans Arabic" pitchFamily="34" charset="0"/>
                <a:ea typeface="IBM Plex Sans Arabic" pitchFamily="34" charset="-122"/>
                <a:cs typeface="IBM Plex Sans Arabic" pitchFamily="34" charset="-120"/>
              </a:rPr>
              <a:t>وبعد التصحيح ظهر أن سيناريو الاختبار نفسه ضعيف</a:t>
            </a:r>
            <a:endParaRPr lang="en-US" sz="1900" dirty="0"/>
          </a:p>
        </p:txBody>
      </p:sp>
      <p:sp>
        <p:nvSpPr>
          <p:cNvPr id="8" name="Text 6"/>
          <p:cNvSpPr/>
          <p:nvPr/>
        </p:nvSpPr>
        <p:spPr>
          <a:xfrm>
            <a:off x="798703" y="3615531"/>
            <a:ext cx="10294747" cy="311150"/>
          </a:xfrm>
          <a:prstGeom prst="rect">
            <a:avLst/>
          </a:prstGeom>
          <a:noFill/>
          <a:ln/>
        </p:spPr>
        <p:txBody>
          <a:bodyPr wrap="square" lIns="0" tIns="0" rIns="0" bIns="0" rtlCol="0" anchor="t">
            <a:normAutofit/>
          </a:bodyPr>
          <a:lstStyle/>
          <a:p>
            <a:pPr algn="r" indent="0" marL="0">
              <a:lnSpc>
                <a:spcPts val="2250"/>
              </a:lnSpc>
              <a:buNone/>
            </a:pPr>
            <a:r>
              <a:rPr lang="en-US" sz="1500" dirty="0">
                <a:solidFill>
                  <a:srgbClr val="5D6E7D"/>
                </a:solidFill>
                <a:latin typeface="IBM Plex Sans Arabic" pitchFamily="34" charset="0"/>
                <a:ea typeface="IBM Plex Sans Arabic" pitchFamily="34" charset="-122"/>
                <a:cs typeface="IBM Plex Sans Arabic" pitchFamily="34" charset="-120"/>
              </a:rPr>
              <a:t>المحرك لم يُجهَد كفاية، فالحماية لم يكن لها عمل تقوم به</a:t>
            </a:r>
            <a:endParaRPr lang="en-US" sz="1500" dirty="0"/>
          </a:p>
        </p:txBody>
      </p:sp>
      <p:sp>
        <p:nvSpPr>
          <p:cNvPr id="9" name="Shape 7"/>
          <p:cNvSpPr/>
          <p:nvPr/>
        </p:nvSpPr>
        <p:spPr>
          <a:xfrm>
            <a:off x="815975" y="4342606"/>
            <a:ext cx="10560050" cy="1153120"/>
          </a:xfrm>
          <a:prstGeom prst="roundRect">
            <a:avLst>
              <a:gd name="adj" fmla="val 7434"/>
            </a:avLst>
          </a:prstGeom>
          <a:solidFill>
            <a:srgbClr val="FFFFFF"/>
          </a:solidFill>
          <a:ln w="6350">
            <a:solidFill>
              <a:srgbClr val="D4DCE3"/>
            </a:solidFill>
            <a:prstDash val="solid"/>
          </a:ln>
        </p:spPr>
      </p:sp>
      <p:sp>
        <p:nvSpPr>
          <p:cNvPr id="10" name="Text 8"/>
          <p:cNvSpPr/>
          <p:nvPr/>
        </p:nvSpPr>
        <p:spPr>
          <a:xfrm>
            <a:off x="798703" y="4599781"/>
            <a:ext cx="10294747" cy="314920"/>
          </a:xfrm>
          <a:prstGeom prst="rect">
            <a:avLst/>
          </a:prstGeom>
          <a:noFill/>
          <a:ln/>
        </p:spPr>
        <p:txBody>
          <a:bodyPr wrap="square" lIns="0" tIns="0" rIns="0" bIns="0" rtlCol="0" anchor="t">
            <a:normAutofit/>
          </a:bodyPr>
          <a:lstStyle/>
          <a:p>
            <a:pPr algn="r" indent="0" marL="0">
              <a:lnSpc>
                <a:spcPts val="2280"/>
              </a:lnSpc>
              <a:buNone/>
            </a:pPr>
            <a:r>
              <a:rPr lang="en-US" sz="1900" b="1" dirty="0">
                <a:solidFill>
                  <a:srgbClr val="16202B"/>
                </a:solidFill>
                <a:latin typeface="IBM Plex Sans Arabic" pitchFamily="34" charset="0"/>
                <a:ea typeface="IBM Plex Sans Arabic" pitchFamily="34" charset="-122"/>
                <a:cs typeface="IBM Plex Sans Arabic" pitchFamily="34" charset="-120"/>
              </a:rPr>
              <a:t>جرّبنا أربعة حلول — واحد منها نجح</a:t>
            </a:r>
            <a:endParaRPr lang="en-US" sz="1900" dirty="0"/>
          </a:p>
        </p:txBody>
      </p:sp>
      <p:sp>
        <p:nvSpPr>
          <p:cNvPr id="11" name="Text 9"/>
          <p:cNvSpPr/>
          <p:nvPr/>
        </p:nvSpPr>
        <p:spPr>
          <a:xfrm>
            <a:off x="798703" y="4952802"/>
            <a:ext cx="10294747" cy="311150"/>
          </a:xfrm>
          <a:prstGeom prst="rect">
            <a:avLst/>
          </a:prstGeom>
          <a:noFill/>
          <a:ln/>
        </p:spPr>
        <p:txBody>
          <a:bodyPr wrap="square" lIns="0" tIns="0" rIns="0" bIns="0" rtlCol="0" anchor="t">
            <a:normAutofit/>
          </a:bodyPr>
          <a:lstStyle/>
          <a:p>
            <a:pPr algn="r" indent="0" marL="0">
              <a:lnSpc>
                <a:spcPts val="2250"/>
              </a:lnSpc>
              <a:buNone/>
            </a:pPr>
            <a:r>
              <a:rPr lang="en-US" sz="1500" dirty="0">
                <a:solidFill>
                  <a:srgbClr val="5D6E7D"/>
                </a:solidFill>
                <a:latin typeface="IBM Plex Sans Arabic" pitchFamily="34" charset="0"/>
                <a:ea typeface="IBM Plex Sans Arabic" pitchFamily="34" charset="-122"/>
                <a:cs typeface="IBM Plex Sans Arabic" pitchFamily="34" charset="-120"/>
              </a:rPr>
              <a:t>والثلاثة الأخرى أعطت نتائج سالبة تستحقّ أن تُنشر</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95808" y="812800"/>
            <a:ext cx="10883392" cy="256480"/>
          </a:xfrm>
          <a:prstGeom prst="rect">
            <a:avLst/>
          </a:prstGeom>
          <a:noFill/>
          <a:ln/>
        </p:spPr>
        <p:txBody>
          <a:bodyPr wrap="square" lIns="0" tIns="0" rIns="0" bIns="0" rtlCol="0" anchor="t">
            <a:normAutofit/>
          </a:bodyPr>
          <a:lstStyle/>
          <a:p>
            <a:pPr algn="r" indent="0" marL="0">
              <a:lnSpc>
                <a:spcPts val="1820"/>
              </a:lnSpc>
              <a:buNone/>
            </a:pPr>
            <a:r>
              <a:rPr lang="en-US" sz="1300" b="1" spc="100" kern="0" dirty="0">
                <a:solidFill>
                  <a:srgbClr val="BD3F2C"/>
                </a:solidFill>
                <a:latin typeface="IBM Plex Sans Arabic" pitchFamily="34" charset="0"/>
                <a:ea typeface="IBM Plex Sans Arabic" pitchFamily="34" charset="-122"/>
                <a:cs typeface="IBM Plex Sans Arabic" pitchFamily="34" charset="-120"/>
              </a:rPr>
              <a:t>العيوب الخمسة</a:t>
            </a:r>
            <a:endParaRPr lang="en-US" sz="1300" dirty="0"/>
          </a:p>
        </p:txBody>
      </p:sp>
      <p:sp>
        <p:nvSpPr>
          <p:cNvPr id="3" name="Text 1"/>
          <p:cNvSpPr/>
          <p:nvPr/>
        </p:nvSpPr>
        <p:spPr>
          <a:xfrm>
            <a:off x="495808" y="1120080"/>
            <a:ext cx="10883392" cy="492720"/>
          </a:xfrm>
          <a:prstGeom prst="rect">
            <a:avLst/>
          </a:prstGeom>
          <a:noFill/>
          <a:ln/>
        </p:spPr>
        <p:txBody>
          <a:bodyPr wrap="square" lIns="0" tIns="0" rIns="0" bIns="0" rtlCol="0" anchor="t">
            <a:normAutofit/>
          </a:bodyPr>
          <a:lstStyle/>
          <a:p>
            <a:pPr algn="r" indent="0" marL="0">
              <a:lnSpc>
                <a:spcPts val="3680"/>
              </a:lnSpc>
              <a:buNone/>
            </a:pPr>
            <a:r>
              <a:rPr lang="en-US" sz="3200" b="1" dirty="0">
                <a:solidFill>
                  <a:srgbClr val="16202B"/>
                </a:solidFill>
                <a:latin typeface="IBM Plex Sans Arabic" pitchFamily="34" charset="0"/>
                <a:ea typeface="IBM Plex Sans Arabic" pitchFamily="34" charset="-122"/>
                <a:cs typeface="IBM Plex Sans Arabic" pitchFamily="34" charset="-120"/>
              </a:rPr>
              <a:t>المحاكاة لم تكن تشغّل خمسة أشياء بشكل صحيح</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12800" y="1866801"/>
          <a:ext cx="10566400" cy="2395538"/>
        </p:xfrm>
        <a:graphic>
          <a:graphicData uri="http://schemas.openxmlformats.org/drawingml/2006/table">
            <a:tbl>
              <a:tblPr/>
              <a:tblGrid>
                <a:gridCol w="2324608"/>
                <a:gridCol w="8241792"/>
              </a:tblGrid>
              <a:tr h="399256">
                <a:tc>
                  <a:txBody>
                    <a:bodyPr/>
                    <a:lstStyle/>
                    <a:p>
                      <a:pPr algn="r" indent="0" marL="0">
                        <a:lnSpc>
                          <a:spcPts val="2030"/>
                        </a:lnSpc>
                        <a:buNone/>
                      </a:pPr>
                      <a:r>
                        <a:rPr lang="en-US" sz="1450" b="1" dirty="0">
                          <a:solidFill>
                            <a:srgbClr val="F2F4F6"/>
                          </a:solidFill>
                          <a:latin typeface="IBM Plex Sans Arabic" pitchFamily="34" charset="0"/>
                          <a:ea typeface="IBM Plex Sans Arabic" pitchFamily="34" charset="-122"/>
                          <a:cs typeface="IBM Plex Sans Arabic" pitchFamily="34" charset="-120"/>
                        </a:rPr>
                        <a:t>ما هو</a:t>
                      </a:r>
                      <a:endParaRPr lang="en-US" sz="1450" dirty="0">
                        <a:latin typeface="IBM Plex Sans Arabic" charset="0"/>
                        <a:ea typeface="IBM Plex Sans Arabic" charset="0"/>
                        <a:cs typeface="IBM Plex Sans Arabic" charset="0"/>
                      </a:endParaRPr>
                    </a:p>
                  </a:txBody>
                  <a:tcPr marL="64452" marR="64452" marT="64452" marB="64452" anchor="t">
                    <a:lnL w="12700" cap="flat" cmpd="sng" algn="ctr">
                      <a:solidFill>
                        <a:srgbClr val="CCCED0"/>
                      </a:solidFill>
                      <a:prstDash val="solid"/>
                      <a:round/>
                      <a:headEnd type="none" w="med" len="med"/>
                      <a:tailEnd type="none" w="med" len="med"/>
                    </a:lnL>
                    <a:lnR w="12700" cap="flat" cmpd="sng" algn="ctr">
                      <a:solidFill>
                        <a:srgbClr val="CCCED0"/>
                      </a:solidFill>
                      <a:prstDash val="solid"/>
                      <a:round/>
                      <a:headEnd type="none" w="med" len="med"/>
                      <a:tailEnd type="none" w="med" len="med"/>
                    </a:lnR>
                    <a:lnT w="12700" cap="flat" cmpd="sng" algn="ctr">
                      <a:solidFill>
                        <a:srgbClr val="CCCED0"/>
                      </a:solidFill>
                      <a:prstDash val="solid"/>
                      <a:round/>
                      <a:headEnd type="none" w="med" len="med"/>
                      <a:tailEnd type="none" w="med" len="med"/>
                    </a:lnT>
                    <a:lnB w="12700" cap="flat" cmpd="sng" algn="ctr">
                      <a:solidFill>
                        <a:srgbClr val="CCCED0"/>
                      </a:solidFill>
                      <a:prstDash val="solid"/>
                      <a:round/>
                      <a:headEnd type="none" w="med" len="med"/>
                      <a:tailEnd type="none" w="med" len="med"/>
                    </a:lnB>
                    <a:solidFill>
                      <a:srgbClr val="16202B"/>
                    </a:solidFill>
                  </a:tcPr>
                </a:tc>
                <a:tc>
                  <a:txBody>
                    <a:bodyPr/>
                    <a:lstStyle/>
                    <a:p>
                      <a:pPr algn="r" indent="0" marL="0">
                        <a:lnSpc>
                          <a:spcPts val="2030"/>
                        </a:lnSpc>
                        <a:buNone/>
                      </a:pPr>
                      <a:r>
                        <a:rPr lang="en-US" sz="1450" b="1" dirty="0">
                          <a:solidFill>
                            <a:srgbClr val="F2F4F6"/>
                          </a:solidFill>
                          <a:latin typeface="IBM Plex Sans Arabic" pitchFamily="34" charset="0"/>
                          <a:ea typeface="IBM Plex Sans Arabic" pitchFamily="34" charset="-122"/>
                          <a:cs typeface="IBM Plex Sans Arabic" pitchFamily="34" charset="-120"/>
                        </a:rPr>
                        <a:t>ما كان يحدث</a:t>
                      </a:r>
                      <a:endParaRPr lang="en-US" sz="1450" dirty="0">
                        <a:latin typeface="IBM Plex Sans Arabic" charset="0"/>
                        <a:ea typeface="IBM Plex Sans Arabic" charset="0"/>
                        <a:cs typeface="IBM Plex Sans Arabic" charset="0"/>
                      </a:endParaRPr>
                    </a:p>
                  </a:txBody>
                  <a:tcPr marL="64452" marR="64452" marT="64452" marB="64452" anchor="t">
                    <a:lnL w="12700" cap="flat" cmpd="sng" algn="ctr">
                      <a:solidFill>
                        <a:srgbClr val="CCCED0"/>
                      </a:solidFill>
                      <a:prstDash val="solid"/>
                      <a:round/>
                      <a:headEnd type="none" w="med" len="med"/>
                      <a:tailEnd type="none" w="med" len="med"/>
                    </a:lnL>
                    <a:lnR w="12700" cap="flat" cmpd="sng" algn="ctr">
                      <a:solidFill>
                        <a:srgbClr val="CCCED0"/>
                      </a:solidFill>
                      <a:prstDash val="solid"/>
                      <a:round/>
                      <a:headEnd type="none" w="med" len="med"/>
                      <a:tailEnd type="none" w="med" len="med"/>
                    </a:lnR>
                    <a:lnT w="12700" cap="flat" cmpd="sng" algn="ctr">
                      <a:solidFill>
                        <a:srgbClr val="CCCED0"/>
                      </a:solidFill>
                      <a:prstDash val="solid"/>
                      <a:round/>
                      <a:headEnd type="none" w="med" len="med"/>
                      <a:tailEnd type="none" w="med" len="med"/>
                    </a:lnT>
                    <a:lnB w="12700" cap="flat" cmpd="sng" algn="ctr">
                      <a:solidFill>
                        <a:srgbClr val="CCCED0"/>
                      </a:solidFill>
                      <a:prstDash val="solid"/>
                      <a:round/>
                      <a:headEnd type="none" w="med" len="med"/>
                      <a:tailEnd type="none" w="med" len="med"/>
                    </a:lnB>
                    <a:solidFill>
                      <a:srgbClr val="16202B"/>
                    </a:solidFill>
                  </a:tcPr>
                </a:tc>
              </a:tr>
              <a:tr h="399256">
                <a:tc>
                  <a:txBody>
                    <a:bodyPr/>
                    <a:lstStyle/>
                    <a:p>
                      <a:pPr algn="r" indent="0" marL="0">
                        <a:lnSpc>
                          <a:spcPts val="2030"/>
                        </a:lnSpc>
                        <a:buNone/>
                      </a:pPr>
                      <a:r>
                        <a:rPr lang="en-US" sz="1450" dirty="0">
                          <a:solidFill>
                            <a:srgbClr val="16202B"/>
                          </a:solidFill>
                          <a:latin typeface="IBM Plex Sans Arabic" pitchFamily="34" charset="0"/>
                          <a:ea typeface="IBM Plex Sans Arabic" pitchFamily="34" charset="-122"/>
                          <a:cs typeface="IBM Plex Sans Arabic" pitchFamily="34" charset="-120"/>
                        </a:rPr>
                        <a:t>المبرّد</a:t>
                      </a:r>
                      <a:endParaRPr lang="en-US" sz="1450" dirty="0">
                        <a:latin typeface="IBM Plex Sans Arabic" charset="0"/>
                        <a:ea typeface="IBM Plex Sans Arabic" charset="0"/>
                        <a:cs typeface="IBM Plex Sans Arabic" charset="0"/>
                      </a:endParaRPr>
                    </a:p>
                  </a:txBody>
                  <a:tcPr marL="64452" marR="64452" marT="64452" marB="64452" anchor="t">
                    <a:lnL w="12700" cap="flat" cmpd="sng" algn="ctr">
                      <a:solidFill>
                        <a:srgbClr val="CCCED0"/>
                      </a:solidFill>
                      <a:prstDash val="solid"/>
                      <a:round/>
                      <a:headEnd type="none" w="med" len="med"/>
                      <a:tailEnd type="none" w="med" len="med"/>
                    </a:lnL>
                    <a:lnR w="12700" cap="flat" cmpd="sng" algn="ctr">
                      <a:solidFill>
                        <a:srgbClr val="CCCED0"/>
                      </a:solidFill>
                      <a:prstDash val="solid"/>
                      <a:round/>
                      <a:headEnd type="none" w="med" len="med"/>
                      <a:tailEnd type="none" w="med" len="med"/>
                    </a:lnR>
                    <a:lnT w="12700" cap="flat" cmpd="sng" algn="ctr">
                      <a:solidFill>
                        <a:srgbClr val="CCCED0"/>
                      </a:solidFill>
                      <a:prstDash val="solid"/>
                      <a:round/>
                      <a:headEnd type="none" w="med" len="med"/>
                      <a:tailEnd type="none" w="med" len="med"/>
                    </a:lnT>
                    <a:lnB w="12700" cap="flat" cmpd="sng" algn="ctr">
                      <a:solidFill>
                        <a:srgbClr val="CCCED0"/>
                      </a:solidFill>
                      <a:prstDash val="solid"/>
                      <a:round/>
                      <a:headEnd type="none" w="med" len="med"/>
                      <a:tailEnd type="none" w="med" len="med"/>
                    </a:lnB>
                  </a:tcPr>
                </a:tc>
                <a:tc>
                  <a:txBody>
                    <a:bodyPr/>
                    <a:lstStyle/>
                    <a:p>
                      <a:pPr algn="r" indent="0" marL="0">
                        <a:lnSpc>
                          <a:spcPts val="2030"/>
                        </a:lnSpc>
                        <a:buNone/>
                      </a:pPr>
                      <a:r>
                        <a:rPr lang="en-US" sz="1450" dirty="0">
                          <a:solidFill>
                            <a:srgbClr val="3D4C5A"/>
                          </a:solidFill>
                          <a:latin typeface="IBM Plex Sans Arabic" pitchFamily="34" charset="0"/>
                          <a:ea typeface="IBM Plex Sans Arabic" pitchFamily="34" charset="-122"/>
                          <a:cs typeface="IBM Plex Sans Arabic" pitchFamily="34" charset="-120"/>
                        </a:rPr>
                        <a:t>المروحة مطفأة والمضخّة على أدنى حدّ — في السيارة التي نقارن معها</a:t>
                      </a:r>
                      <a:endParaRPr lang="en-US" sz="1450" dirty="0">
                        <a:latin typeface="IBM Plex Sans Arabic" charset="0"/>
                        <a:ea typeface="IBM Plex Sans Arabic" charset="0"/>
                        <a:cs typeface="IBM Plex Sans Arabic" charset="0"/>
                      </a:endParaRPr>
                    </a:p>
                  </a:txBody>
                  <a:tcPr marL="64452" marR="64452" marT="64452" marB="64452" anchor="t">
                    <a:lnL w="12700" cap="flat" cmpd="sng" algn="ctr">
                      <a:solidFill>
                        <a:srgbClr val="CCCED0"/>
                      </a:solidFill>
                      <a:prstDash val="solid"/>
                      <a:round/>
                      <a:headEnd type="none" w="med" len="med"/>
                      <a:tailEnd type="none" w="med" len="med"/>
                    </a:lnL>
                    <a:lnR w="12700" cap="flat" cmpd="sng" algn="ctr">
                      <a:solidFill>
                        <a:srgbClr val="CCCED0"/>
                      </a:solidFill>
                      <a:prstDash val="solid"/>
                      <a:round/>
                      <a:headEnd type="none" w="med" len="med"/>
                      <a:tailEnd type="none" w="med" len="med"/>
                    </a:lnR>
                    <a:lnT w="12700" cap="flat" cmpd="sng" algn="ctr">
                      <a:solidFill>
                        <a:srgbClr val="CCCED0"/>
                      </a:solidFill>
                      <a:prstDash val="solid"/>
                      <a:round/>
                      <a:headEnd type="none" w="med" len="med"/>
                      <a:tailEnd type="none" w="med" len="med"/>
                    </a:lnT>
                    <a:lnB w="12700" cap="flat" cmpd="sng" algn="ctr">
                      <a:solidFill>
                        <a:srgbClr val="CCCED0"/>
                      </a:solidFill>
                      <a:prstDash val="solid"/>
                      <a:round/>
                      <a:headEnd type="none" w="med" len="med"/>
                      <a:tailEnd type="none" w="med" len="med"/>
                    </a:lnB>
                  </a:tcPr>
                </a:tc>
              </a:tr>
              <a:tr h="399256">
                <a:tc>
                  <a:txBody>
                    <a:bodyPr/>
                    <a:lstStyle/>
                    <a:p>
                      <a:pPr algn="r" indent="0" marL="0">
                        <a:lnSpc>
                          <a:spcPts val="2030"/>
                        </a:lnSpc>
                        <a:buNone/>
                      </a:pPr>
                      <a:r>
                        <a:rPr lang="en-US" sz="1450" dirty="0">
                          <a:solidFill>
                            <a:srgbClr val="16202B"/>
                          </a:solidFill>
                          <a:latin typeface="IBM Plex Sans Arabic" pitchFamily="34" charset="0"/>
                          <a:ea typeface="IBM Plex Sans Arabic" pitchFamily="34" charset="-122"/>
                          <a:cs typeface="IBM Plex Sans Arabic" pitchFamily="34" charset="-120"/>
                        </a:rPr>
                        <a:t>وحدة التحكّم</a:t>
                      </a:r>
                      <a:endParaRPr lang="en-US" sz="1450" dirty="0">
                        <a:latin typeface="IBM Plex Sans Arabic" charset="0"/>
                        <a:ea typeface="IBM Plex Sans Arabic" charset="0"/>
                        <a:cs typeface="IBM Plex Sans Arabic" charset="0"/>
                      </a:endParaRPr>
                    </a:p>
                  </a:txBody>
                  <a:tcPr marL="64452" marR="64452" marT="64452" marB="64452" anchor="t">
                    <a:lnL w="12700" cap="flat" cmpd="sng" algn="ctr">
                      <a:solidFill>
                        <a:srgbClr val="CCCED0"/>
                      </a:solidFill>
                      <a:prstDash val="solid"/>
                      <a:round/>
                      <a:headEnd type="none" w="med" len="med"/>
                      <a:tailEnd type="none" w="med" len="med"/>
                    </a:lnL>
                    <a:lnR w="12700" cap="flat" cmpd="sng" algn="ctr">
                      <a:solidFill>
                        <a:srgbClr val="CCCED0"/>
                      </a:solidFill>
                      <a:prstDash val="solid"/>
                      <a:round/>
                      <a:headEnd type="none" w="med" len="med"/>
                      <a:tailEnd type="none" w="med" len="med"/>
                    </a:lnR>
                    <a:lnT w="12700" cap="flat" cmpd="sng" algn="ctr">
                      <a:solidFill>
                        <a:srgbClr val="CCCED0"/>
                      </a:solidFill>
                      <a:prstDash val="solid"/>
                      <a:round/>
                      <a:headEnd type="none" w="med" len="med"/>
                      <a:tailEnd type="none" w="med" len="med"/>
                    </a:lnT>
                    <a:lnB w="12700" cap="flat" cmpd="sng" algn="ctr">
                      <a:solidFill>
                        <a:srgbClr val="CCCED0"/>
                      </a:solidFill>
                      <a:prstDash val="solid"/>
                      <a:round/>
                      <a:headEnd type="none" w="med" len="med"/>
                      <a:tailEnd type="none" w="med" len="med"/>
                    </a:lnB>
                    <a:solidFill>
                      <a:srgbClr val="F2F4F6"/>
                    </a:solidFill>
                  </a:tcPr>
                </a:tc>
                <a:tc>
                  <a:txBody>
                    <a:bodyPr/>
                    <a:lstStyle/>
                    <a:p>
                      <a:pPr algn="r" indent="0" marL="0">
                        <a:lnSpc>
                          <a:spcPts val="2030"/>
                        </a:lnSpc>
                        <a:buNone/>
                      </a:pPr>
                      <a:r>
                        <a:rPr lang="en-US" sz="1450" dirty="0">
                          <a:solidFill>
                            <a:srgbClr val="3D4C5A"/>
                          </a:solidFill>
                          <a:latin typeface="IBM Plex Sans Arabic" pitchFamily="34" charset="0"/>
                          <a:ea typeface="IBM Plex Sans Arabic" pitchFamily="34" charset="-122"/>
                          <a:cs typeface="IBM Plex Sans Arabic" pitchFamily="34" charset="-120"/>
                        </a:rPr>
                        <a:t>تقرأ ضغطاً وهمياً 224 والمحرك فعلياً على 175 — فتؤخّر الشرارة وتسخّنه بلا سبب</a:t>
                      </a:r>
                      <a:endParaRPr lang="en-US" sz="1450" dirty="0">
                        <a:latin typeface="IBM Plex Sans Arabic" charset="0"/>
                        <a:ea typeface="IBM Plex Sans Arabic" charset="0"/>
                        <a:cs typeface="IBM Plex Sans Arabic" charset="0"/>
                      </a:endParaRPr>
                    </a:p>
                  </a:txBody>
                  <a:tcPr marL="64452" marR="64452" marT="64452" marB="64452" anchor="t">
                    <a:lnL w="12700" cap="flat" cmpd="sng" algn="ctr">
                      <a:solidFill>
                        <a:srgbClr val="CCCED0"/>
                      </a:solidFill>
                      <a:prstDash val="solid"/>
                      <a:round/>
                      <a:headEnd type="none" w="med" len="med"/>
                      <a:tailEnd type="none" w="med" len="med"/>
                    </a:lnL>
                    <a:lnR w="12700" cap="flat" cmpd="sng" algn="ctr">
                      <a:solidFill>
                        <a:srgbClr val="CCCED0"/>
                      </a:solidFill>
                      <a:prstDash val="solid"/>
                      <a:round/>
                      <a:headEnd type="none" w="med" len="med"/>
                      <a:tailEnd type="none" w="med" len="med"/>
                    </a:lnR>
                    <a:lnT w="12700" cap="flat" cmpd="sng" algn="ctr">
                      <a:solidFill>
                        <a:srgbClr val="CCCED0"/>
                      </a:solidFill>
                      <a:prstDash val="solid"/>
                      <a:round/>
                      <a:headEnd type="none" w="med" len="med"/>
                      <a:tailEnd type="none" w="med" len="med"/>
                    </a:lnT>
                    <a:lnB w="12700" cap="flat" cmpd="sng" algn="ctr">
                      <a:solidFill>
                        <a:srgbClr val="CCCED0"/>
                      </a:solidFill>
                      <a:prstDash val="solid"/>
                      <a:round/>
                      <a:headEnd type="none" w="med" len="med"/>
                      <a:tailEnd type="none" w="med" len="med"/>
                    </a:lnB>
                    <a:solidFill>
                      <a:srgbClr val="F2F4F6"/>
                    </a:solidFill>
                  </a:tcPr>
                </a:tc>
              </a:tr>
              <a:tr h="399256">
                <a:tc>
                  <a:txBody>
                    <a:bodyPr/>
                    <a:lstStyle/>
                    <a:p>
                      <a:pPr algn="r" indent="0" marL="0">
                        <a:lnSpc>
                          <a:spcPts val="2030"/>
                        </a:lnSpc>
                        <a:buNone/>
                      </a:pPr>
                      <a:r>
                        <a:rPr lang="en-US" sz="1450" dirty="0">
                          <a:solidFill>
                            <a:srgbClr val="16202B"/>
                          </a:solidFill>
                          <a:latin typeface="IBM Plex Sans Arabic" pitchFamily="34" charset="0"/>
                          <a:ea typeface="IBM Plex Sans Arabic" pitchFamily="34" charset="-122"/>
                          <a:cs typeface="IBM Plex Sans Arabic" pitchFamily="34" charset="-120"/>
                        </a:rPr>
                        <a:t>اختبار المقارنة</a:t>
                      </a:r>
                      <a:endParaRPr lang="en-US" sz="1450" dirty="0">
                        <a:latin typeface="IBM Plex Sans Arabic" charset="0"/>
                        <a:ea typeface="IBM Plex Sans Arabic" charset="0"/>
                        <a:cs typeface="IBM Plex Sans Arabic" charset="0"/>
                      </a:endParaRPr>
                    </a:p>
                  </a:txBody>
                  <a:tcPr marL="64452" marR="64452" marT="64452" marB="64452" anchor="t">
                    <a:lnL w="12700" cap="flat" cmpd="sng" algn="ctr">
                      <a:solidFill>
                        <a:srgbClr val="CCCED0"/>
                      </a:solidFill>
                      <a:prstDash val="solid"/>
                      <a:round/>
                      <a:headEnd type="none" w="med" len="med"/>
                      <a:tailEnd type="none" w="med" len="med"/>
                    </a:lnL>
                    <a:lnR w="12700" cap="flat" cmpd="sng" algn="ctr">
                      <a:solidFill>
                        <a:srgbClr val="CCCED0"/>
                      </a:solidFill>
                      <a:prstDash val="solid"/>
                      <a:round/>
                      <a:headEnd type="none" w="med" len="med"/>
                      <a:tailEnd type="none" w="med" len="med"/>
                    </a:lnR>
                    <a:lnT w="12700" cap="flat" cmpd="sng" algn="ctr">
                      <a:solidFill>
                        <a:srgbClr val="CCCED0"/>
                      </a:solidFill>
                      <a:prstDash val="solid"/>
                      <a:round/>
                      <a:headEnd type="none" w="med" len="med"/>
                      <a:tailEnd type="none" w="med" len="med"/>
                    </a:lnT>
                    <a:lnB w="12700" cap="flat" cmpd="sng" algn="ctr">
                      <a:solidFill>
                        <a:srgbClr val="CCCED0"/>
                      </a:solidFill>
                      <a:prstDash val="solid"/>
                      <a:round/>
                      <a:headEnd type="none" w="med" len="med"/>
                      <a:tailEnd type="none" w="med" len="med"/>
                    </a:lnB>
                  </a:tcPr>
                </a:tc>
                <a:tc>
                  <a:txBody>
                    <a:bodyPr/>
                    <a:lstStyle/>
                    <a:p>
                      <a:pPr algn="r" indent="0" marL="0">
                        <a:lnSpc>
                          <a:spcPts val="2030"/>
                        </a:lnSpc>
                        <a:buNone/>
                      </a:pPr>
                      <a:r>
                        <a:rPr lang="en-US" sz="1450" dirty="0">
                          <a:solidFill>
                            <a:srgbClr val="3D4C5A"/>
                          </a:solidFill>
                          <a:latin typeface="IBM Plex Sans Arabic" pitchFamily="34" charset="0"/>
                          <a:ea typeface="IBM Plex Sans Arabic" pitchFamily="34" charset="-122"/>
                          <a:cs typeface="IBM Plex Sans Arabic" pitchFamily="34" charset="-120"/>
                        </a:rPr>
                        <a:t>مطابقة حسابية لا تستطيع أن تفشل — فهي لم تكن تقيس شيئاً أصلاً</a:t>
                      </a:r>
                      <a:endParaRPr lang="en-US" sz="1450" dirty="0">
                        <a:latin typeface="IBM Plex Sans Arabic" charset="0"/>
                        <a:ea typeface="IBM Plex Sans Arabic" charset="0"/>
                        <a:cs typeface="IBM Plex Sans Arabic" charset="0"/>
                      </a:endParaRPr>
                    </a:p>
                  </a:txBody>
                  <a:tcPr marL="64452" marR="64452" marT="64452" marB="64452" anchor="t">
                    <a:lnL w="12700" cap="flat" cmpd="sng" algn="ctr">
                      <a:solidFill>
                        <a:srgbClr val="CCCED0"/>
                      </a:solidFill>
                      <a:prstDash val="solid"/>
                      <a:round/>
                      <a:headEnd type="none" w="med" len="med"/>
                      <a:tailEnd type="none" w="med" len="med"/>
                    </a:lnL>
                    <a:lnR w="12700" cap="flat" cmpd="sng" algn="ctr">
                      <a:solidFill>
                        <a:srgbClr val="CCCED0"/>
                      </a:solidFill>
                      <a:prstDash val="solid"/>
                      <a:round/>
                      <a:headEnd type="none" w="med" len="med"/>
                      <a:tailEnd type="none" w="med" len="med"/>
                    </a:lnR>
                    <a:lnT w="12700" cap="flat" cmpd="sng" algn="ctr">
                      <a:solidFill>
                        <a:srgbClr val="CCCED0"/>
                      </a:solidFill>
                      <a:prstDash val="solid"/>
                      <a:round/>
                      <a:headEnd type="none" w="med" len="med"/>
                      <a:tailEnd type="none" w="med" len="med"/>
                    </a:lnT>
                    <a:lnB w="12700" cap="flat" cmpd="sng" algn="ctr">
                      <a:solidFill>
                        <a:srgbClr val="CCCED0"/>
                      </a:solidFill>
                      <a:prstDash val="solid"/>
                      <a:round/>
                      <a:headEnd type="none" w="med" len="med"/>
                      <a:tailEnd type="none" w="med" len="med"/>
                    </a:lnB>
                  </a:tcPr>
                </a:tc>
              </a:tr>
              <a:tr h="399256">
                <a:tc>
                  <a:txBody>
                    <a:bodyPr/>
                    <a:lstStyle/>
                    <a:p>
                      <a:pPr algn="r" indent="0" marL="0">
                        <a:lnSpc>
                          <a:spcPts val="2030"/>
                        </a:lnSpc>
                        <a:buNone/>
                      </a:pPr>
                      <a:r>
                        <a:rPr lang="en-US" sz="1450" dirty="0">
                          <a:solidFill>
                            <a:srgbClr val="16202B"/>
                          </a:solidFill>
                          <a:latin typeface="IBM Plex Sans Arabic" pitchFamily="34" charset="0"/>
                          <a:ea typeface="IBM Plex Sans Arabic" pitchFamily="34" charset="-122"/>
                          <a:cs typeface="IBM Plex Sans Arabic" pitchFamily="34" charset="-120"/>
                        </a:rPr>
                        <a:t>الغيار</a:t>
                      </a:r>
                      <a:endParaRPr lang="en-US" sz="1450" dirty="0">
                        <a:latin typeface="IBM Plex Sans Arabic" charset="0"/>
                        <a:ea typeface="IBM Plex Sans Arabic" charset="0"/>
                        <a:cs typeface="IBM Plex Sans Arabic" charset="0"/>
                      </a:endParaRPr>
                    </a:p>
                  </a:txBody>
                  <a:tcPr marL="64452" marR="64452" marT="64452" marB="64452" anchor="t">
                    <a:lnL w="12700" cap="flat" cmpd="sng" algn="ctr">
                      <a:solidFill>
                        <a:srgbClr val="CCCED0"/>
                      </a:solidFill>
                      <a:prstDash val="solid"/>
                      <a:round/>
                      <a:headEnd type="none" w="med" len="med"/>
                      <a:tailEnd type="none" w="med" len="med"/>
                    </a:lnL>
                    <a:lnR w="12700" cap="flat" cmpd="sng" algn="ctr">
                      <a:solidFill>
                        <a:srgbClr val="CCCED0"/>
                      </a:solidFill>
                      <a:prstDash val="solid"/>
                      <a:round/>
                      <a:headEnd type="none" w="med" len="med"/>
                      <a:tailEnd type="none" w="med" len="med"/>
                    </a:lnR>
                    <a:lnT w="12700" cap="flat" cmpd="sng" algn="ctr">
                      <a:solidFill>
                        <a:srgbClr val="CCCED0"/>
                      </a:solidFill>
                      <a:prstDash val="solid"/>
                      <a:round/>
                      <a:headEnd type="none" w="med" len="med"/>
                      <a:tailEnd type="none" w="med" len="med"/>
                    </a:lnT>
                    <a:lnB w="12700" cap="flat" cmpd="sng" algn="ctr">
                      <a:solidFill>
                        <a:srgbClr val="CCCED0"/>
                      </a:solidFill>
                      <a:prstDash val="solid"/>
                      <a:round/>
                      <a:headEnd type="none" w="med" len="med"/>
                      <a:tailEnd type="none" w="med" len="med"/>
                    </a:lnB>
                    <a:solidFill>
                      <a:srgbClr val="F2F4F6"/>
                    </a:solidFill>
                  </a:tcPr>
                </a:tc>
                <a:tc>
                  <a:txBody>
                    <a:bodyPr/>
                    <a:lstStyle/>
                    <a:p>
                      <a:pPr algn="r" indent="0" marL="0">
                        <a:lnSpc>
                          <a:spcPts val="2030"/>
                        </a:lnSpc>
                        <a:buNone/>
                      </a:pPr>
                      <a:r>
                        <a:rPr lang="en-US" sz="1450" dirty="0">
                          <a:solidFill>
                            <a:srgbClr val="3D4C5A"/>
                          </a:solidFill>
                          <a:latin typeface="IBM Plex Sans Arabic" pitchFamily="34" charset="0"/>
                          <a:ea typeface="IBM Plex Sans Arabic" pitchFamily="34" charset="-122"/>
                          <a:cs typeface="IBM Plex Sans Arabic" pitchFamily="34" charset="-120"/>
                        </a:rPr>
                        <a:t>يرتفع في منتصف الصعود — وهذا ما لا تفعله أيّ سيارة أوتوماتيكية</a:t>
                      </a:r>
                      <a:endParaRPr lang="en-US" sz="1450" dirty="0">
                        <a:latin typeface="IBM Plex Sans Arabic" charset="0"/>
                        <a:ea typeface="IBM Plex Sans Arabic" charset="0"/>
                        <a:cs typeface="IBM Plex Sans Arabic" charset="0"/>
                      </a:endParaRPr>
                    </a:p>
                  </a:txBody>
                  <a:tcPr marL="64452" marR="64452" marT="64452" marB="64452" anchor="t">
                    <a:lnL w="12700" cap="flat" cmpd="sng" algn="ctr">
                      <a:solidFill>
                        <a:srgbClr val="CCCED0"/>
                      </a:solidFill>
                      <a:prstDash val="solid"/>
                      <a:round/>
                      <a:headEnd type="none" w="med" len="med"/>
                      <a:tailEnd type="none" w="med" len="med"/>
                    </a:lnL>
                    <a:lnR w="12700" cap="flat" cmpd="sng" algn="ctr">
                      <a:solidFill>
                        <a:srgbClr val="CCCED0"/>
                      </a:solidFill>
                      <a:prstDash val="solid"/>
                      <a:round/>
                      <a:headEnd type="none" w="med" len="med"/>
                      <a:tailEnd type="none" w="med" len="med"/>
                    </a:lnR>
                    <a:lnT w="12700" cap="flat" cmpd="sng" algn="ctr">
                      <a:solidFill>
                        <a:srgbClr val="CCCED0"/>
                      </a:solidFill>
                      <a:prstDash val="solid"/>
                      <a:round/>
                      <a:headEnd type="none" w="med" len="med"/>
                      <a:tailEnd type="none" w="med" len="med"/>
                    </a:lnT>
                    <a:lnB w="12700" cap="flat" cmpd="sng" algn="ctr">
                      <a:solidFill>
                        <a:srgbClr val="CCCED0"/>
                      </a:solidFill>
                      <a:prstDash val="solid"/>
                      <a:round/>
                      <a:headEnd type="none" w="med" len="med"/>
                      <a:tailEnd type="none" w="med" len="med"/>
                    </a:lnB>
                    <a:solidFill>
                      <a:srgbClr val="F2F4F6"/>
                    </a:solidFill>
                  </a:tcPr>
                </a:tc>
              </a:tr>
              <a:tr h="399256">
                <a:tc>
                  <a:txBody>
                    <a:bodyPr/>
                    <a:lstStyle/>
                    <a:p>
                      <a:pPr algn="r" indent="0" marL="0">
                        <a:lnSpc>
                          <a:spcPts val="2030"/>
                        </a:lnSpc>
                        <a:buNone/>
                      </a:pPr>
                      <a:r>
                        <a:rPr lang="en-US" sz="1450" dirty="0">
                          <a:solidFill>
                            <a:srgbClr val="16202B"/>
                          </a:solidFill>
                          <a:latin typeface="IBM Plex Sans Arabic" pitchFamily="34" charset="0"/>
                          <a:ea typeface="IBM Plex Sans Arabic" pitchFamily="34" charset="-122"/>
                          <a:cs typeface="IBM Plex Sans Arabic" pitchFamily="34" charset="-120"/>
                        </a:rPr>
                        <a:t>ناقل الحركة</a:t>
                      </a:r>
                      <a:endParaRPr lang="en-US" sz="1450" dirty="0">
                        <a:latin typeface="IBM Plex Sans Arabic" charset="0"/>
                        <a:ea typeface="IBM Plex Sans Arabic" charset="0"/>
                        <a:cs typeface="IBM Plex Sans Arabic" charset="0"/>
                      </a:endParaRPr>
                    </a:p>
                  </a:txBody>
                  <a:tcPr marL="64452" marR="64452" marT="64452" marB="64452" anchor="t">
                    <a:lnL w="12700" cap="flat" cmpd="sng" algn="ctr">
                      <a:solidFill>
                        <a:srgbClr val="CCCED0"/>
                      </a:solidFill>
                      <a:prstDash val="solid"/>
                      <a:round/>
                      <a:headEnd type="none" w="med" len="med"/>
                      <a:tailEnd type="none" w="med" len="med"/>
                    </a:lnL>
                    <a:lnR w="12700" cap="flat" cmpd="sng" algn="ctr">
                      <a:solidFill>
                        <a:srgbClr val="CCCED0"/>
                      </a:solidFill>
                      <a:prstDash val="solid"/>
                      <a:round/>
                      <a:headEnd type="none" w="med" len="med"/>
                      <a:tailEnd type="none" w="med" len="med"/>
                    </a:lnR>
                    <a:lnT w="12700" cap="flat" cmpd="sng" algn="ctr">
                      <a:solidFill>
                        <a:srgbClr val="CCCED0"/>
                      </a:solidFill>
                      <a:prstDash val="solid"/>
                      <a:round/>
                      <a:headEnd type="none" w="med" len="med"/>
                      <a:tailEnd type="none" w="med" len="med"/>
                    </a:lnT>
                    <a:lnB w="12700" cap="flat" cmpd="sng" algn="ctr">
                      <a:solidFill>
                        <a:srgbClr val="CCCED0"/>
                      </a:solidFill>
                      <a:prstDash val="solid"/>
                      <a:round/>
                      <a:headEnd type="none" w="med" len="med"/>
                      <a:tailEnd type="none" w="med" len="med"/>
                    </a:lnB>
                  </a:tcPr>
                </a:tc>
                <a:tc>
                  <a:txBody>
                    <a:bodyPr/>
                    <a:lstStyle/>
                    <a:p>
                      <a:pPr algn="r" indent="0" marL="0">
                        <a:lnSpc>
                          <a:spcPts val="2030"/>
                        </a:lnSpc>
                        <a:buNone/>
                      </a:pPr>
                      <a:r>
                        <a:rPr lang="en-US" sz="1450" dirty="0">
                          <a:solidFill>
                            <a:srgbClr val="3D4C5A"/>
                          </a:solidFill>
                          <a:latin typeface="IBM Plex Sans Arabic" pitchFamily="34" charset="0"/>
                          <a:ea typeface="IBM Plex Sans Arabic" pitchFamily="34" charset="-122"/>
                          <a:cs typeface="IBM Plex Sans Arabic" pitchFamily="34" charset="-120"/>
                        </a:rPr>
                        <a:t>ستّة غيارات بأرقام مخترعة — والسيارة فيها ثمانية (ZF 8HP51)</a:t>
                      </a:r>
                      <a:endParaRPr lang="en-US" sz="1450" dirty="0">
                        <a:latin typeface="IBM Plex Sans Arabic" charset="0"/>
                        <a:ea typeface="IBM Plex Sans Arabic" charset="0"/>
                        <a:cs typeface="IBM Plex Sans Arabic" charset="0"/>
                      </a:endParaRPr>
                    </a:p>
                  </a:txBody>
                  <a:tcPr marL="64452" marR="64452" marT="64452" marB="64452" anchor="t">
                    <a:lnL w="12700" cap="flat" cmpd="sng" algn="ctr">
                      <a:solidFill>
                        <a:srgbClr val="CCCED0"/>
                      </a:solidFill>
                      <a:prstDash val="solid"/>
                      <a:round/>
                      <a:headEnd type="none" w="med" len="med"/>
                      <a:tailEnd type="none" w="med" len="med"/>
                    </a:lnL>
                    <a:lnR w="12700" cap="flat" cmpd="sng" algn="ctr">
                      <a:solidFill>
                        <a:srgbClr val="CCCED0"/>
                      </a:solidFill>
                      <a:prstDash val="solid"/>
                      <a:round/>
                      <a:headEnd type="none" w="med" len="med"/>
                      <a:tailEnd type="none" w="med" len="med"/>
                    </a:lnR>
                    <a:lnT w="12700" cap="flat" cmpd="sng" algn="ctr">
                      <a:solidFill>
                        <a:srgbClr val="CCCED0"/>
                      </a:solidFill>
                      <a:prstDash val="solid"/>
                      <a:round/>
                      <a:headEnd type="none" w="med" len="med"/>
                      <a:tailEnd type="none" w="med" len="med"/>
                    </a:lnT>
                    <a:lnB w="12700" cap="flat" cmpd="sng" algn="ctr">
                      <a:solidFill>
                        <a:srgbClr val="CCCED0"/>
                      </a:solidFill>
                      <a:prstDash val="solid"/>
                      <a:round/>
                      <a:headEnd type="none" w="med" len="med"/>
                      <a:tailEnd type="none" w="med" len="med"/>
                    </a:lnB>
                  </a:tcPr>
                </a:tc>
              </a:tr>
            </a:tbl>
          </a:graphicData>
        </a:graphic>
      </p:graphicFrame>
      <p:sp>
        <p:nvSpPr>
          <p:cNvPr id="5" name="Text 2"/>
          <p:cNvSpPr/>
          <p:nvPr/>
        </p:nvSpPr>
        <p:spPr>
          <a:xfrm>
            <a:off x="495808" y="6220520"/>
            <a:ext cx="10883392"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5D6E7D"/>
                </a:solidFill>
                <a:latin typeface="IBM Plex Sans Arabic" pitchFamily="34" charset="0"/>
                <a:ea typeface="IBM Plex Sans Arabic" pitchFamily="34" charset="-122"/>
                <a:cs typeface="IBM Plex Sans Arabic" pitchFamily="34" charset="-120"/>
              </a:rPr>
              <a:t>أرقام ناقل الحركة من وثيقة تويوتا، ومؤكَّدة من سجلّات السيارة: 86.7 % من 79,105 عيّنة تقع على إحدى النسب الثماني</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202B"/>
        </a:solidFill>
      </p:bgPr>
    </p:bg>
    <p:spTree>
      <p:nvGrpSpPr>
        <p:cNvPr id="1" name=""/>
        <p:cNvGrpSpPr/>
        <p:nvPr/>
      </p:nvGrpSpPr>
      <p:grpSpPr>
        <a:xfrm>
          <a:off x="0" y="0"/>
          <a:ext cx="0" cy="0"/>
          <a:chOff x="0" y="0"/>
          <a:chExt cx="0" cy="0"/>
        </a:xfrm>
      </p:grpSpPr>
      <p:sp>
        <p:nvSpPr>
          <p:cNvPr id="2" name="Text 0"/>
          <p:cNvSpPr/>
          <p:nvPr/>
        </p:nvSpPr>
        <p:spPr>
          <a:xfrm>
            <a:off x="495808" y="812800"/>
            <a:ext cx="10883392" cy="256480"/>
          </a:xfrm>
          <a:prstGeom prst="rect">
            <a:avLst/>
          </a:prstGeom>
          <a:noFill/>
          <a:ln/>
        </p:spPr>
        <p:txBody>
          <a:bodyPr wrap="square" lIns="0" tIns="0" rIns="0" bIns="0" rtlCol="0" anchor="t">
            <a:normAutofit/>
          </a:bodyPr>
          <a:lstStyle/>
          <a:p>
            <a:pPr algn="r" indent="0" marL="0">
              <a:lnSpc>
                <a:spcPts val="1820"/>
              </a:lnSpc>
              <a:buNone/>
            </a:pPr>
            <a:r>
              <a:rPr lang="en-US" sz="1300" b="1" spc="100" kern="0" dirty="0">
                <a:solidFill>
                  <a:srgbClr val="E08A78"/>
                </a:solidFill>
                <a:latin typeface="IBM Plex Sans Arabic" pitchFamily="34" charset="0"/>
                <a:ea typeface="IBM Plex Sans Arabic" pitchFamily="34" charset="-122"/>
                <a:cs typeface="IBM Plex Sans Arabic" pitchFamily="34" charset="-120"/>
              </a:rPr>
              <a:t>تراجُع مُعلَن</a:t>
            </a:r>
            <a:endParaRPr lang="en-US" sz="1300" dirty="0"/>
          </a:p>
        </p:txBody>
      </p:sp>
      <p:sp>
        <p:nvSpPr>
          <p:cNvPr id="3" name="Text 1"/>
          <p:cNvSpPr/>
          <p:nvPr/>
        </p:nvSpPr>
        <p:spPr>
          <a:xfrm>
            <a:off x="495808" y="1120080"/>
            <a:ext cx="10883392" cy="507305"/>
          </a:xfrm>
          <a:prstGeom prst="rect">
            <a:avLst/>
          </a:prstGeom>
          <a:noFill/>
          <a:ln/>
        </p:spPr>
        <p:txBody>
          <a:bodyPr wrap="square" lIns="0" tIns="0" rIns="0" bIns="0" rtlCol="0" anchor="t">
            <a:normAutofit/>
          </a:bodyPr>
          <a:lstStyle/>
          <a:p>
            <a:pPr algn="r" indent="0" marL="0">
              <a:lnSpc>
                <a:spcPts val="3795"/>
              </a:lnSpc>
              <a:buNone/>
            </a:pPr>
            <a:r>
              <a:rPr lang="en-US" sz="3300" b="1" dirty="0">
                <a:solidFill>
                  <a:srgbClr val="F2F4F6"/>
                </a:solidFill>
                <a:latin typeface="IBM Plex Sans Arabic" pitchFamily="34" charset="0"/>
                <a:ea typeface="IBM Plex Sans Arabic" pitchFamily="34" charset="-122"/>
                <a:cs typeface="IBM Plex Sans Arabic" pitchFamily="34" charset="-120"/>
              </a:rPr>
              <a:t>الرقم الذي كنّا نفتخر به لم يكن نتيجة</a:t>
            </a:r>
            <a:endParaRPr lang="en-US" sz="3300" dirty="0"/>
          </a:p>
        </p:txBody>
      </p:sp>
      <p:sp>
        <p:nvSpPr>
          <p:cNvPr id="4" name="Shape 2"/>
          <p:cNvSpPr/>
          <p:nvPr/>
        </p:nvSpPr>
        <p:spPr>
          <a:xfrm>
            <a:off x="815975" y="1909961"/>
            <a:ext cx="10560050" cy="2177355"/>
          </a:xfrm>
          <a:prstGeom prst="roundRect">
            <a:avLst>
              <a:gd name="adj" fmla="val 4520"/>
            </a:avLst>
          </a:prstGeom>
          <a:solidFill>
            <a:srgbClr val="22303F"/>
          </a:solidFill>
          <a:ln w="6350">
            <a:solidFill>
              <a:srgbClr val="3A4C5C"/>
            </a:solidFill>
            <a:prstDash val="solid"/>
          </a:ln>
        </p:spPr>
      </p:sp>
      <p:sp>
        <p:nvSpPr>
          <p:cNvPr id="5" name="Text 3"/>
          <p:cNvSpPr/>
          <p:nvPr/>
        </p:nvSpPr>
        <p:spPr>
          <a:xfrm>
            <a:off x="852551" y="2217936"/>
            <a:ext cx="10190099" cy="349250"/>
          </a:xfrm>
          <a:prstGeom prst="rect">
            <a:avLst/>
          </a:prstGeom>
          <a:noFill/>
          <a:ln/>
        </p:spPr>
        <p:txBody>
          <a:bodyPr wrap="square" lIns="0" tIns="0" rIns="0" bIns="0" rtlCol="0" anchor="t">
            <a:normAutofit/>
          </a:bodyPr>
          <a:lstStyle/>
          <a:p>
            <a:pPr algn="r" indent="0" marL="0">
              <a:lnSpc>
                <a:spcPts val="2550"/>
              </a:lnSpc>
              <a:buNone/>
            </a:pPr>
            <a:r>
              <a:rPr lang="en-US" sz="1700" dirty="0">
                <a:solidFill>
                  <a:srgbClr val="B8C6D4"/>
                </a:solidFill>
                <a:latin typeface="IBM Plex Sans Arabic" pitchFamily="34" charset="0"/>
                <a:ea typeface="IBM Plex Sans Arabic" pitchFamily="34" charset="-122"/>
                <a:cs typeface="IBM Plex Sans Arabic" pitchFamily="34" charset="-120"/>
              </a:rPr>
              <a:t>كنّا نقول: إذا أطفأنا الاستشراف عاد النموذج إلى سلوك ردّ الفعل </a:t>
            </a:r>
            <a:r>
              <a:rPr lang="en-US" sz="1700" b="1" dirty="0">
                <a:solidFill>
                  <a:srgbClr val="B8C6D4"/>
                </a:solidFill>
                <a:latin typeface="IBM Plex Sans Arabic" pitchFamily="34" charset="0"/>
                <a:ea typeface="IBM Plex Sans Arabic" pitchFamily="34" charset="-122"/>
                <a:cs typeface="IBM Plex Sans Arabic" pitchFamily="34" charset="-120"/>
              </a:rPr>
              <a:t>بنفس الرقم تماماً</a:t>
            </a:r>
            <a:r>
              <a:rPr lang="en-US" sz="1700" dirty="0">
                <a:solidFill>
                  <a:srgbClr val="B8C6D4"/>
                </a:solidFill>
                <a:latin typeface="IBM Plex Sans Arabic" pitchFamily="34" charset="0"/>
                <a:ea typeface="IBM Plex Sans Arabic" pitchFamily="34" charset="-122"/>
                <a:cs typeface="IBM Plex Sans Arabic" pitchFamily="34" charset="-120"/>
              </a:rPr>
              <a:t> — واعتبرناها أقوى دليل عندنا.</a:t>
            </a:r>
            <a:endParaRPr lang="en-US" sz="1700" dirty="0"/>
          </a:p>
        </p:txBody>
      </p:sp>
      <p:sp>
        <p:nvSpPr>
          <p:cNvPr id="6" name="Text 4"/>
          <p:cNvSpPr/>
          <p:nvPr/>
        </p:nvSpPr>
        <p:spPr>
          <a:xfrm>
            <a:off x="852551" y="2668786"/>
            <a:ext cx="10190099" cy="398760"/>
          </a:xfrm>
          <a:prstGeom prst="rect">
            <a:avLst/>
          </a:prstGeom>
          <a:noFill/>
          <a:ln/>
        </p:spPr>
        <p:txBody>
          <a:bodyPr wrap="square" lIns="0" tIns="0" rIns="0" bIns="0" rtlCol="0" anchor="t">
            <a:normAutofit/>
          </a:bodyPr>
          <a:lstStyle/>
          <a:p>
            <a:pPr algn="r" indent="0" marL="0">
              <a:lnSpc>
                <a:spcPts val="2940"/>
              </a:lnSpc>
              <a:buNone/>
            </a:pPr>
            <a:r>
              <a:rPr lang="en-US" sz="2100" b="1" dirty="0">
                <a:solidFill>
                  <a:srgbClr val="E08A78"/>
                </a:solidFill>
                <a:latin typeface="IBM Plex Sans Arabic" pitchFamily="34" charset="0"/>
                <a:ea typeface="IBM Plex Sans Arabic" pitchFamily="34" charset="-122"/>
                <a:cs typeface="IBM Plex Sans Arabic" pitchFamily="34" charset="-120"/>
              </a:rPr>
              <a:t>لكنّه لم يكن يستطيع أن يخرج بغير ذلك.</a:t>
            </a:r>
            <a:endParaRPr lang="en-US" sz="2100" dirty="0"/>
          </a:p>
        </p:txBody>
      </p:sp>
      <p:sp>
        <p:nvSpPr>
          <p:cNvPr id="7" name="Text 5"/>
          <p:cNvSpPr/>
          <p:nvPr/>
        </p:nvSpPr>
        <p:spPr>
          <a:xfrm>
            <a:off x="852551" y="3169146"/>
            <a:ext cx="10190099" cy="635595"/>
          </a:xfrm>
          <a:prstGeom prst="rect">
            <a:avLst/>
          </a:prstGeom>
          <a:noFill/>
          <a:ln/>
        </p:spPr>
        <p:txBody>
          <a:bodyPr wrap="square" lIns="0" tIns="0" rIns="0" bIns="0" rtlCol="0" anchor="t">
            <a:normAutofit/>
          </a:bodyPr>
          <a:lstStyle/>
          <a:p>
            <a:pPr algn="r" indent="0" marL="0">
              <a:lnSpc>
                <a:spcPts val="2403"/>
              </a:lnSpc>
              <a:buNone/>
            </a:pPr>
            <a:r>
              <a:rPr lang="en-US" sz="1550" dirty="0">
                <a:solidFill>
                  <a:srgbClr val="8FA3B5"/>
                </a:solidFill>
                <a:latin typeface="IBM Plex Sans Arabic" pitchFamily="34" charset="0"/>
                <a:ea typeface="IBM Plex Sans Arabic" pitchFamily="34" charset="-122"/>
                <a:cs typeface="IBM Plex Sans Arabic" pitchFamily="34" charset="-120"/>
              </a:rPr>
              <a:t>حين نُطفئ الاستشراف تعود القراءة أصفاراً، فتصبح السياسة المُستشرِفة هي سياسة ردّ الفعل حرفيّاً. كنّا نشغّل التجربة نفسها مرّتين، ونقارن النتيجة بنفسها.</a:t>
            </a:r>
            <a:endParaRPr lang="en-US" sz="1550" dirty="0"/>
          </a:p>
        </p:txBody>
      </p:sp>
      <p:sp>
        <p:nvSpPr>
          <p:cNvPr id="8" name="Shape 6"/>
          <p:cNvSpPr/>
          <p:nvPr/>
        </p:nvSpPr>
        <p:spPr>
          <a:xfrm>
            <a:off x="815975" y="4398466"/>
            <a:ext cx="5175250" cy="1036935"/>
          </a:xfrm>
          <a:prstGeom prst="roundRect">
            <a:avLst>
              <a:gd name="adj" fmla="val 8267"/>
            </a:avLst>
          </a:prstGeom>
          <a:solidFill>
            <a:srgbClr val="1C2A36"/>
          </a:solidFill>
          <a:ln w="6350">
            <a:solidFill>
              <a:srgbClr val="2F6FA8"/>
            </a:solidFill>
            <a:prstDash val="solid"/>
          </a:ln>
        </p:spPr>
      </p:sp>
      <p:sp>
        <p:nvSpPr>
          <p:cNvPr id="9" name="Text 7"/>
          <p:cNvSpPr/>
          <p:nvPr/>
        </p:nvSpPr>
        <p:spPr>
          <a:xfrm>
            <a:off x="919861" y="4617541"/>
            <a:ext cx="4826889" cy="265410"/>
          </a:xfrm>
          <a:prstGeom prst="rect">
            <a:avLst/>
          </a:prstGeom>
          <a:noFill/>
          <a:ln/>
        </p:spPr>
        <p:txBody>
          <a:bodyPr wrap="square" lIns="0" tIns="0" rIns="0" bIns="0" rtlCol="0" anchor="t">
            <a:normAutofit/>
          </a:bodyPr>
          <a:lstStyle/>
          <a:p>
            <a:pPr algn="r" indent="0" marL="0">
              <a:lnSpc>
                <a:spcPts val="1890"/>
              </a:lnSpc>
              <a:buNone/>
            </a:pPr>
            <a:r>
              <a:rPr lang="en-US" sz="1350" dirty="0">
                <a:solidFill>
                  <a:srgbClr val="7FB2DC"/>
                </a:solidFill>
                <a:latin typeface="IBM Plex Sans Arabic" pitchFamily="34" charset="0"/>
                <a:ea typeface="IBM Plex Sans Arabic" pitchFamily="34" charset="-122"/>
                <a:cs typeface="IBM Plex Sans Arabic" pitchFamily="34" charset="-120"/>
              </a:rPr>
              <a:t>الدرس</a:t>
            </a:r>
            <a:endParaRPr lang="en-US" sz="1350" dirty="0"/>
          </a:p>
        </p:txBody>
      </p:sp>
      <p:sp>
        <p:nvSpPr>
          <p:cNvPr id="10" name="Text 8"/>
          <p:cNvSpPr/>
          <p:nvPr/>
        </p:nvSpPr>
        <p:spPr>
          <a:xfrm>
            <a:off x="919861" y="4921052"/>
            <a:ext cx="4826889" cy="320675"/>
          </a:xfrm>
          <a:prstGeom prst="rect">
            <a:avLst/>
          </a:prstGeom>
          <a:noFill/>
          <a:ln/>
        </p:spPr>
        <p:txBody>
          <a:bodyPr wrap="square" lIns="0" tIns="0" rIns="0" bIns="0" rtlCol="0" anchor="t">
            <a:normAutofit/>
          </a:bodyPr>
          <a:lstStyle/>
          <a:p>
            <a:pPr algn="r" indent="0" marL="0">
              <a:lnSpc>
                <a:spcPts val="2325"/>
              </a:lnSpc>
              <a:buNone/>
            </a:pPr>
            <a:r>
              <a:rPr lang="en-US" sz="1550" dirty="0">
                <a:solidFill>
                  <a:srgbClr val="F2F4F6"/>
                </a:solidFill>
                <a:latin typeface="IBM Plex Sans Arabic" pitchFamily="34" charset="0"/>
                <a:ea typeface="IBM Plex Sans Arabic" pitchFamily="34" charset="-122"/>
                <a:cs typeface="IBM Plex Sans Arabic" pitchFamily="34" charset="-120"/>
              </a:rPr>
              <a:t>اختبار لا يستطيع أن يفشل، لا يستطيع أن يؤكّد</a:t>
            </a:r>
            <a:endParaRPr lang="en-US" sz="1550" dirty="0"/>
          </a:p>
        </p:txBody>
      </p:sp>
      <p:sp>
        <p:nvSpPr>
          <p:cNvPr id="11" name="Shape 9"/>
          <p:cNvSpPr/>
          <p:nvPr/>
        </p:nvSpPr>
        <p:spPr>
          <a:xfrm>
            <a:off x="6200775" y="4398466"/>
            <a:ext cx="5175250" cy="1036935"/>
          </a:xfrm>
          <a:prstGeom prst="roundRect">
            <a:avLst>
              <a:gd name="adj" fmla="val 8267"/>
            </a:avLst>
          </a:prstGeom>
          <a:solidFill>
            <a:srgbClr val="2E1F1C"/>
          </a:solidFill>
          <a:ln w="6350">
            <a:solidFill>
              <a:srgbClr val="6B3A30"/>
            </a:solidFill>
            <a:prstDash val="solid"/>
          </a:ln>
        </p:spPr>
      </p:sp>
      <p:sp>
        <p:nvSpPr>
          <p:cNvPr id="12" name="Text 10"/>
          <p:cNvSpPr/>
          <p:nvPr/>
        </p:nvSpPr>
        <p:spPr>
          <a:xfrm>
            <a:off x="6304661" y="4617541"/>
            <a:ext cx="4826889" cy="265410"/>
          </a:xfrm>
          <a:prstGeom prst="rect">
            <a:avLst/>
          </a:prstGeom>
          <a:noFill/>
          <a:ln/>
        </p:spPr>
        <p:txBody>
          <a:bodyPr wrap="square" lIns="0" tIns="0" rIns="0" bIns="0" rtlCol="0" anchor="t">
            <a:normAutofit/>
          </a:bodyPr>
          <a:lstStyle/>
          <a:p>
            <a:pPr algn="r" indent="0" marL="0">
              <a:lnSpc>
                <a:spcPts val="1890"/>
              </a:lnSpc>
              <a:buNone/>
            </a:pPr>
            <a:r>
              <a:rPr lang="en-US" sz="1350" dirty="0">
                <a:solidFill>
                  <a:srgbClr val="E08A78"/>
                </a:solidFill>
                <a:latin typeface="IBM Plex Sans Arabic" pitchFamily="34" charset="0"/>
                <a:ea typeface="IBM Plex Sans Arabic" pitchFamily="34" charset="-122"/>
                <a:cs typeface="IBM Plex Sans Arabic" pitchFamily="34" charset="-120"/>
              </a:rPr>
              <a:t>ما بطَل معه</a:t>
            </a:r>
            <a:endParaRPr lang="en-US" sz="1350" dirty="0"/>
          </a:p>
        </p:txBody>
      </p:sp>
      <p:sp>
        <p:nvSpPr>
          <p:cNvPr id="13" name="Text 11"/>
          <p:cNvSpPr/>
          <p:nvPr/>
        </p:nvSpPr>
        <p:spPr>
          <a:xfrm>
            <a:off x="6304661" y="4921052"/>
            <a:ext cx="4826889" cy="320675"/>
          </a:xfrm>
          <a:prstGeom prst="rect">
            <a:avLst/>
          </a:prstGeom>
          <a:noFill/>
          <a:ln/>
        </p:spPr>
        <p:txBody>
          <a:bodyPr wrap="square" lIns="0" tIns="0" rIns="0" bIns="0" rtlCol="0" anchor="t">
            <a:normAutofit/>
          </a:bodyPr>
          <a:lstStyle/>
          <a:p>
            <a:pPr algn="r" indent="0" marL="0">
              <a:lnSpc>
                <a:spcPts val="2325"/>
              </a:lnSpc>
              <a:buNone/>
            </a:pPr>
            <a:r>
              <a:rPr lang="en-US" sz="1550" dirty="0">
                <a:solidFill>
                  <a:srgbClr val="F2F4F6"/>
                </a:solidFill>
                <a:latin typeface="IBM Plex Sans Arabic" pitchFamily="34" charset="0"/>
                <a:ea typeface="IBM Plex Sans Arabic" pitchFamily="34" charset="-122"/>
                <a:cs typeface="IBM Plex Sans Arabic" pitchFamily="34" charset="-120"/>
              </a:rPr>
              <a:t>أفضليّة الاستشراف بـ 13.4 نقطة، وكلّ رقم بُني عليها</a:t>
            </a:r>
            <a:endParaRPr lang="en-US" sz="1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95808" y="711200"/>
            <a:ext cx="10883392" cy="256480"/>
          </a:xfrm>
          <a:prstGeom prst="rect">
            <a:avLst/>
          </a:prstGeom>
          <a:noFill/>
          <a:ln/>
        </p:spPr>
        <p:txBody>
          <a:bodyPr wrap="square" lIns="0" tIns="0" rIns="0" bIns="0" rtlCol="0" anchor="t">
            <a:normAutofit/>
          </a:bodyPr>
          <a:lstStyle/>
          <a:p>
            <a:pPr algn="r" indent="0" marL="0">
              <a:lnSpc>
                <a:spcPts val="1820"/>
              </a:lnSpc>
              <a:buNone/>
            </a:pPr>
            <a:r>
              <a:rPr lang="en-US" sz="1300" b="1" spc="100" kern="0" dirty="0">
                <a:solidFill>
                  <a:srgbClr val="2F6FA8"/>
                </a:solidFill>
                <a:latin typeface="IBM Plex Sans Arabic" pitchFamily="34" charset="0"/>
                <a:ea typeface="IBM Plex Sans Arabic" pitchFamily="34" charset="-122"/>
                <a:cs typeface="IBM Plex Sans Arabic" pitchFamily="34" charset="-120"/>
              </a:rPr>
              <a:t>القياس الذي غيّر الاتجاه</a:t>
            </a:r>
            <a:endParaRPr lang="en-US" sz="1300" dirty="0"/>
          </a:p>
        </p:txBody>
      </p:sp>
      <p:sp>
        <p:nvSpPr>
          <p:cNvPr id="3" name="Text 1"/>
          <p:cNvSpPr/>
          <p:nvPr/>
        </p:nvSpPr>
        <p:spPr>
          <a:xfrm>
            <a:off x="495808" y="1005780"/>
            <a:ext cx="10883392" cy="463550"/>
          </a:xfrm>
          <a:prstGeom prst="rect">
            <a:avLst/>
          </a:prstGeom>
          <a:noFill/>
          <a:ln/>
        </p:spPr>
        <p:txBody>
          <a:bodyPr wrap="square" lIns="0" tIns="0" rIns="0" bIns="0" rtlCol="0" anchor="t">
            <a:normAutofit/>
          </a:bodyPr>
          <a:lstStyle/>
          <a:p>
            <a:pPr algn="r" indent="0" marL="0">
              <a:lnSpc>
                <a:spcPts val="3450"/>
              </a:lnSpc>
              <a:buNone/>
            </a:pPr>
            <a:r>
              <a:rPr lang="en-US" sz="3000" b="1" dirty="0">
                <a:solidFill>
                  <a:srgbClr val="16202B"/>
                </a:solidFill>
                <a:latin typeface="IBM Plex Sans Arabic" pitchFamily="34" charset="0"/>
                <a:ea typeface="IBM Plex Sans Arabic" pitchFamily="34" charset="-122"/>
                <a:cs typeface="IBM Plex Sans Arabic" pitchFamily="34" charset="-120"/>
              </a:rPr>
              <a:t>كم مرّة تصل السيارة فعلاً إلى حدّ الحماية؟</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12800" y="1685230"/>
          <a:ext cx="6258520" cy="1796355"/>
        </p:xfrm>
        <a:graphic>
          <a:graphicData uri="http://schemas.openxmlformats.org/drawingml/2006/table">
            <a:tbl>
              <a:tblPr/>
              <a:tblGrid>
                <a:gridCol w="1564630"/>
                <a:gridCol w="1564630"/>
                <a:gridCol w="1564630"/>
                <a:gridCol w="1564630"/>
              </a:tblGrid>
              <a:tr h="359271">
                <a:tc>
                  <a:txBody>
                    <a:bodyPr/>
                    <a:lstStyle/>
                    <a:p>
                      <a:pPr algn="r" indent="0" marL="0">
                        <a:lnSpc>
                          <a:spcPts val="1820"/>
                        </a:lnSpc>
                        <a:buNone/>
                      </a:pPr>
                      <a:r>
                        <a:rPr lang="en-US" sz="1300" b="1" dirty="0">
                          <a:solidFill>
                            <a:srgbClr val="16202B"/>
                          </a:solidFill>
                          <a:latin typeface="IBM Plex Sans Arabic" pitchFamily="34" charset="0"/>
                          <a:ea typeface="IBM Plex Sans Arabic" pitchFamily="34" charset="-122"/>
                          <a:cs typeface="IBM Plex Sans Arabic" pitchFamily="34" charset="-120"/>
                        </a:rPr>
                        <a:t>الرحلة</a:t>
                      </a:r>
                      <a:endParaRPr lang="en-US" sz="1300" dirty="0">
                        <a:latin typeface="IBM Plex Sans Arabic" charset="0"/>
                        <a:ea typeface="IBM Plex Sans Arabic" charset="0"/>
                        <a:cs typeface="IBM Plex Sans Arabic" charset="0"/>
                      </a:endParaRPr>
                    </a:p>
                  </a:txBody>
                  <a:tcPr marL="57785" marR="57785" marT="57785" marB="57785" anchor="t">
                    <a:lnL w="12700" cap="flat" cmpd="sng" algn="ctr">
                      <a:solidFill>
                        <a:srgbClr val="CCCED0"/>
                      </a:solidFill>
                      <a:prstDash val="solid"/>
                      <a:round/>
                      <a:headEnd type="none" w="med" len="med"/>
                      <a:tailEnd type="none" w="med" len="med"/>
                    </a:lnL>
                    <a:lnR w="12700" cap="flat" cmpd="sng" algn="ctr">
                      <a:solidFill>
                        <a:srgbClr val="CCCED0"/>
                      </a:solidFill>
                      <a:prstDash val="solid"/>
                      <a:round/>
                      <a:headEnd type="none" w="med" len="med"/>
                      <a:tailEnd type="none" w="med" len="med"/>
                    </a:lnR>
                    <a:lnT w="12700" cap="flat" cmpd="sng" algn="ctr">
                      <a:solidFill>
                        <a:srgbClr val="CCCED0"/>
                      </a:solidFill>
                      <a:prstDash val="solid"/>
                      <a:round/>
                      <a:headEnd type="none" w="med" len="med"/>
                      <a:tailEnd type="none" w="med" len="med"/>
                    </a:lnT>
                    <a:lnB w="12700" cap="flat" cmpd="sng" algn="ctr">
                      <a:solidFill>
                        <a:srgbClr val="CCCED0"/>
                      </a:solidFill>
                      <a:prstDash val="solid"/>
                      <a:round/>
                      <a:headEnd type="none" w="med" len="med"/>
                      <a:tailEnd type="none" w="med" len="med"/>
                    </a:lnB>
                    <a:solidFill>
                      <a:srgbClr val="F2F4F6"/>
                    </a:solidFill>
                  </a:tcPr>
                </a:tc>
                <a:tc>
                  <a:txBody>
                    <a:bodyPr/>
                    <a:lstStyle/>
                    <a:p>
                      <a:pPr algn="r" indent="0" marL="0">
                        <a:lnSpc>
                          <a:spcPts val="1820"/>
                        </a:lnSpc>
                        <a:buNone/>
                      </a:pPr>
                      <a:r>
                        <a:rPr lang="en-US" sz="1300" b="1" dirty="0">
                          <a:solidFill>
                            <a:srgbClr val="16202B"/>
                          </a:solidFill>
                          <a:latin typeface="IBM Plex Sans Arabic" pitchFamily="34" charset="0"/>
                          <a:ea typeface="IBM Plex Sans Arabic" pitchFamily="34" charset="-122"/>
                          <a:cs typeface="IBM Plex Sans Arabic" pitchFamily="34" charset="-120"/>
                        </a:rPr>
                        <a:t>دقائق</a:t>
                      </a:r>
                      <a:endParaRPr lang="en-US" sz="1300" dirty="0">
                        <a:latin typeface="IBM Plex Sans Arabic" charset="0"/>
                        <a:ea typeface="IBM Plex Sans Arabic" charset="0"/>
                        <a:cs typeface="IBM Plex Sans Arabic" charset="0"/>
                      </a:endParaRPr>
                    </a:p>
                  </a:txBody>
                  <a:tcPr marL="57785" marR="57785" marT="57785" marB="57785" anchor="t">
                    <a:lnL w="12700" cap="flat" cmpd="sng" algn="ctr">
                      <a:solidFill>
                        <a:srgbClr val="CCCED0"/>
                      </a:solidFill>
                      <a:prstDash val="solid"/>
                      <a:round/>
                      <a:headEnd type="none" w="med" len="med"/>
                      <a:tailEnd type="none" w="med" len="med"/>
                    </a:lnL>
                    <a:lnR w="12700" cap="flat" cmpd="sng" algn="ctr">
                      <a:solidFill>
                        <a:srgbClr val="CCCED0"/>
                      </a:solidFill>
                      <a:prstDash val="solid"/>
                      <a:round/>
                      <a:headEnd type="none" w="med" len="med"/>
                      <a:tailEnd type="none" w="med" len="med"/>
                    </a:lnR>
                    <a:lnT w="12700" cap="flat" cmpd="sng" algn="ctr">
                      <a:solidFill>
                        <a:srgbClr val="CCCED0"/>
                      </a:solidFill>
                      <a:prstDash val="solid"/>
                      <a:round/>
                      <a:headEnd type="none" w="med" len="med"/>
                      <a:tailEnd type="none" w="med" len="med"/>
                    </a:lnT>
                    <a:lnB w="12700" cap="flat" cmpd="sng" algn="ctr">
                      <a:solidFill>
                        <a:srgbClr val="CCCED0"/>
                      </a:solidFill>
                      <a:prstDash val="solid"/>
                      <a:round/>
                      <a:headEnd type="none" w="med" len="med"/>
                      <a:tailEnd type="none" w="med" len="med"/>
                    </a:lnB>
                    <a:solidFill>
                      <a:srgbClr val="F2F4F6"/>
                    </a:solidFill>
                  </a:tcPr>
                </a:tc>
                <a:tc>
                  <a:txBody>
                    <a:bodyPr/>
                    <a:lstStyle/>
                    <a:p>
                      <a:pPr algn="r" indent="0" marL="0">
                        <a:lnSpc>
                          <a:spcPts val="1820"/>
                        </a:lnSpc>
                        <a:buNone/>
                      </a:pPr>
                      <a:r>
                        <a:rPr lang="en-US" sz="1300" b="1" dirty="0">
                          <a:solidFill>
                            <a:srgbClr val="16202B"/>
                          </a:solidFill>
                          <a:latin typeface="IBM Plex Sans Arabic" pitchFamily="34" charset="0"/>
                          <a:ea typeface="IBM Plex Sans Arabic" pitchFamily="34" charset="-122"/>
                          <a:cs typeface="IBM Plex Sans Arabic" pitchFamily="34" charset="-120"/>
                        </a:rPr>
                        <a:t>أعلى حرارة</a:t>
                      </a:r>
                      <a:endParaRPr lang="en-US" sz="1300" dirty="0">
                        <a:latin typeface="IBM Plex Sans Arabic" charset="0"/>
                        <a:ea typeface="IBM Plex Sans Arabic" charset="0"/>
                        <a:cs typeface="IBM Plex Sans Arabic" charset="0"/>
                      </a:endParaRPr>
                    </a:p>
                  </a:txBody>
                  <a:tcPr marL="57785" marR="57785" marT="57785" marB="57785" anchor="t">
                    <a:lnL w="12700" cap="flat" cmpd="sng" algn="ctr">
                      <a:solidFill>
                        <a:srgbClr val="CCCED0"/>
                      </a:solidFill>
                      <a:prstDash val="solid"/>
                      <a:round/>
                      <a:headEnd type="none" w="med" len="med"/>
                      <a:tailEnd type="none" w="med" len="med"/>
                    </a:lnL>
                    <a:lnR w="12700" cap="flat" cmpd="sng" algn="ctr">
                      <a:solidFill>
                        <a:srgbClr val="CCCED0"/>
                      </a:solidFill>
                      <a:prstDash val="solid"/>
                      <a:round/>
                      <a:headEnd type="none" w="med" len="med"/>
                      <a:tailEnd type="none" w="med" len="med"/>
                    </a:lnR>
                    <a:lnT w="12700" cap="flat" cmpd="sng" algn="ctr">
                      <a:solidFill>
                        <a:srgbClr val="CCCED0"/>
                      </a:solidFill>
                      <a:prstDash val="solid"/>
                      <a:round/>
                      <a:headEnd type="none" w="med" len="med"/>
                      <a:tailEnd type="none" w="med" len="med"/>
                    </a:lnT>
                    <a:lnB w="12700" cap="flat" cmpd="sng" algn="ctr">
                      <a:solidFill>
                        <a:srgbClr val="CCCED0"/>
                      </a:solidFill>
                      <a:prstDash val="solid"/>
                      <a:round/>
                      <a:headEnd type="none" w="med" len="med"/>
                      <a:tailEnd type="none" w="med" len="med"/>
                    </a:lnB>
                    <a:solidFill>
                      <a:srgbClr val="F2F4F6"/>
                    </a:solidFill>
                  </a:tcPr>
                </a:tc>
                <a:tc>
                  <a:txBody>
                    <a:bodyPr/>
                    <a:lstStyle/>
                    <a:p>
                      <a:pPr algn="r" indent="0" marL="0">
                        <a:lnSpc>
                          <a:spcPts val="1820"/>
                        </a:lnSpc>
                        <a:buNone/>
                      </a:pPr>
                      <a:r>
                        <a:rPr lang="en-US" sz="1300" b="1" dirty="0">
                          <a:solidFill>
                            <a:srgbClr val="16202B"/>
                          </a:solidFill>
                          <a:latin typeface="IBM Plex Sans Arabic" pitchFamily="34" charset="0"/>
                          <a:ea typeface="IBM Plex Sans Arabic" pitchFamily="34" charset="-122"/>
                          <a:cs typeface="IBM Plex Sans Arabic" pitchFamily="34" charset="-120"/>
                        </a:rPr>
                        <a:t>ثوانٍ فوق الحدّ</a:t>
                      </a:r>
                      <a:endParaRPr lang="en-US" sz="1300" dirty="0">
                        <a:latin typeface="IBM Plex Sans Arabic" charset="0"/>
                        <a:ea typeface="IBM Plex Sans Arabic" charset="0"/>
                        <a:cs typeface="IBM Plex Sans Arabic" charset="0"/>
                      </a:endParaRPr>
                    </a:p>
                  </a:txBody>
                  <a:tcPr marL="57785" marR="57785" marT="57785" marB="57785" anchor="t">
                    <a:lnL w="12700" cap="flat" cmpd="sng" algn="ctr">
                      <a:solidFill>
                        <a:srgbClr val="CCCED0"/>
                      </a:solidFill>
                      <a:prstDash val="solid"/>
                      <a:round/>
                      <a:headEnd type="none" w="med" len="med"/>
                      <a:tailEnd type="none" w="med" len="med"/>
                    </a:lnL>
                    <a:lnR w="12700" cap="flat" cmpd="sng" algn="ctr">
                      <a:solidFill>
                        <a:srgbClr val="CCCED0"/>
                      </a:solidFill>
                      <a:prstDash val="solid"/>
                      <a:round/>
                      <a:headEnd type="none" w="med" len="med"/>
                      <a:tailEnd type="none" w="med" len="med"/>
                    </a:lnR>
                    <a:lnT w="12700" cap="flat" cmpd="sng" algn="ctr">
                      <a:solidFill>
                        <a:srgbClr val="CCCED0"/>
                      </a:solidFill>
                      <a:prstDash val="solid"/>
                      <a:round/>
                      <a:headEnd type="none" w="med" len="med"/>
                      <a:tailEnd type="none" w="med" len="med"/>
                    </a:lnT>
                    <a:lnB w="12700" cap="flat" cmpd="sng" algn="ctr">
                      <a:solidFill>
                        <a:srgbClr val="CCCED0"/>
                      </a:solidFill>
                      <a:prstDash val="solid"/>
                      <a:round/>
                      <a:headEnd type="none" w="med" len="med"/>
                      <a:tailEnd type="none" w="med" len="med"/>
                    </a:lnB>
                    <a:solidFill>
                      <a:srgbClr val="F2F4F6"/>
                    </a:solidFill>
                  </a:tcPr>
                </a:tc>
              </a:tr>
              <a:tr h="359271">
                <a:tc>
                  <a:txBody>
                    <a:bodyPr/>
                    <a:lstStyle/>
                    <a:p>
                      <a:pPr algn="r" indent="0" marL="0">
                        <a:lnSpc>
                          <a:spcPts val="1820"/>
                        </a:lnSpc>
                        <a:buNone/>
                      </a:pPr>
                      <a:r>
                        <a:rPr lang="en-US" sz="1300" dirty="0">
                          <a:solidFill>
                            <a:srgbClr val="16202B"/>
                          </a:solidFill>
                          <a:latin typeface="IBM Plex Sans Arabic" pitchFamily="34" charset="0"/>
                          <a:ea typeface="IBM Plex Sans Arabic" pitchFamily="34" charset="-122"/>
                          <a:cs typeface="IBM Plex Sans Arabic" pitchFamily="34" charset="-120"/>
                        </a:rPr>
                        <a:t>7475b5d7</a:t>
                      </a:r>
                      <a:endParaRPr lang="en-US" sz="1300" dirty="0">
                        <a:latin typeface="IBM Plex Sans Arabic" charset="0"/>
                        <a:ea typeface="IBM Plex Sans Arabic" charset="0"/>
                        <a:cs typeface="IBM Plex Sans Arabic" charset="0"/>
                      </a:endParaRPr>
                    </a:p>
                  </a:txBody>
                  <a:tcPr marL="57785" marR="57785" marT="57785" marB="57785" anchor="t">
                    <a:lnL w="12700" cap="flat" cmpd="sng" algn="ctr">
                      <a:solidFill>
                        <a:srgbClr val="CCCED0"/>
                      </a:solidFill>
                      <a:prstDash val="solid"/>
                      <a:round/>
                      <a:headEnd type="none" w="med" len="med"/>
                      <a:tailEnd type="none" w="med" len="med"/>
                    </a:lnL>
                    <a:lnR w="12700" cap="flat" cmpd="sng" algn="ctr">
                      <a:solidFill>
                        <a:srgbClr val="CCCED0"/>
                      </a:solidFill>
                      <a:prstDash val="solid"/>
                      <a:round/>
                      <a:headEnd type="none" w="med" len="med"/>
                      <a:tailEnd type="none" w="med" len="med"/>
                    </a:lnR>
                    <a:lnT w="12700" cap="flat" cmpd="sng" algn="ctr">
                      <a:solidFill>
                        <a:srgbClr val="CCCED0"/>
                      </a:solidFill>
                      <a:prstDash val="solid"/>
                      <a:round/>
                      <a:headEnd type="none" w="med" len="med"/>
                      <a:tailEnd type="none" w="med" len="med"/>
                    </a:lnT>
                    <a:lnB w="12700" cap="flat" cmpd="sng" algn="ctr">
                      <a:solidFill>
                        <a:srgbClr val="CCCED0"/>
                      </a:solidFill>
                      <a:prstDash val="solid"/>
                      <a:round/>
                      <a:headEnd type="none" w="med" len="med"/>
                      <a:tailEnd type="none" w="med" len="med"/>
                    </a:lnB>
                  </a:tcPr>
                </a:tc>
                <a:tc>
                  <a:txBody>
                    <a:bodyPr/>
                    <a:lstStyle/>
                    <a:p>
                      <a:pPr algn="r" indent="0" marL="0">
                        <a:lnSpc>
                          <a:spcPts val="1820"/>
                        </a:lnSpc>
                        <a:buNone/>
                      </a:pPr>
                      <a:r>
                        <a:rPr lang="en-US" sz="1300" dirty="0">
                          <a:solidFill>
                            <a:srgbClr val="16202B"/>
                          </a:solidFill>
                          <a:latin typeface="IBM Plex Sans Arabic" pitchFamily="34" charset="0"/>
                          <a:ea typeface="IBM Plex Sans Arabic" pitchFamily="34" charset="-122"/>
                          <a:cs typeface="IBM Plex Sans Arabic" pitchFamily="34" charset="-120"/>
                        </a:rPr>
                        <a:t>55.1</a:t>
                      </a:r>
                      <a:endParaRPr lang="en-US" sz="1300" dirty="0">
                        <a:latin typeface="IBM Plex Sans Arabic" charset="0"/>
                        <a:ea typeface="IBM Plex Sans Arabic" charset="0"/>
                        <a:cs typeface="IBM Plex Sans Arabic" charset="0"/>
                      </a:endParaRPr>
                    </a:p>
                  </a:txBody>
                  <a:tcPr marL="57785" marR="57785" marT="57785" marB="57785" anchor="t">
                    <a:lnL w="12700" cap="flat" cmpd="sng" algn="ctr">
                      <a:solidFill>
                        <a:srgbClr val="CCCED0"/>
                      </a:solidFill>
                      <a:prstDash val="solid"/>
                      <a:round/>
                      <a:headEnd type="none" w="med" len="med"/>
                      <a:tailEnd type="none" w="med" len="med"/>
                    </a:lnL>
                    <a:lnR w="12700" cap="flat" cmpd="sng" algn="ctr">
                      <a:solidFill>
                        <a:srgbClr val="CCCED0"/>
                      </a:solidFill>
                      <a:prstDash val="solid"/>
                      <a:round/>
                      <a:headEnd type="none" w="med" len="med"/>
                      <a:tailEnd type="none" w="med" len="med"/>
                    </a:lnR>
                    <a:lnT w="12700" cap="flat" cmpd="sng" algn="ctr">
                      <a:solidFill>
                        <a:srgbClr val="CCCED0"/>
                      </a:solidFill>
                      <a:prstDash val="solid"/>
                      <a:round/>
                      <a:headEnd type="none" w="med" len="med"/>
                      <a:tailEnd type="none" w="med" len="med"/>
                    </a:lnT>
                    <a:lnB w="12700" cap="flat" cmpd="sng" algn="ctr">
                      <a:solidFill>
                        <a:srgbClr val="CCCED0"/>
                      </a:solidFill>
                      <a:prstDash val="solid"/>
                      <a:round/>
                      <a:headEnd type="none" w="med" len="med"/>
                      <a:tailEnd type="none" w="med" len="med"/>
                    </a:lnB>
                  </a:tcPr>
                </a:tc>
                <a:tc>
                  <a:txBody>
                    <a:bodyPr/>
                    <a:lstStyle/>
                    <a:p>
                      <a:pPr algn="r" indent="0" marL="0">
                        <a:lnSpc>
                          <a:spcPts val="1820"/>
                        </a:lnSpc>
                        <a:buNone/>
                      </a:pPr>
                      <a:r>
                        <a:rPr lang="en-US" sz="1300" dirty="0">
                          <a:solidFill>
                            <a:srgbClr val="BD3F2C"/>
                          </a:solidFill>
                          <a:latin typeface="IBM Plex Sans Arabic" pitchFamily="34" charset="0"/>
                          <a:ea typeface="IBM Plex Sans Arabic" pitchFamily="34" charset="-122"/>
                          <a:cs typeface="IBM Plex Sans Arabic" pitchFamily="34" charset="-120"/>
                        </a:rPr>
                        <a:t>890.6 °C</a:t>
                      </a:r>
                      <a:endParaRPr lang="en-US" sz="1300" dirty="0">
                        <a:latin typeface="IBM Plex Sans Arabic" charset="0"/>
                        <a:ea typeface="IBM Plex Sans Arabic" charset="0"/>
                        <a:cs typeface="IBM Plex Sans Arabic" charset="0"/>
                      </a:endParaRPr>
                    </a:p>
                  </a:txBody>
                  <a:tcPr marL="57785" marR="57785" marT="57785" marB="57785" anchor="t">
                    <a:lnL w="12700" cap="flat" cmpd="sng" algn="ctr">
                      <a:solidFill>
                        <a:srgbClr val="CCCED0"/>
                      </a:solidFill>
                      <a:prstDash val="solid"/>
                      <a:round/>
                      <a:headEnd type="none" w="med" len="med"/>
                      <a:tailEnd type="none" w="med" len="med"/>
                    </a:lnL>
                    <a:lnR w="12700" cap="flat" cmpd="sng" algn="ctr">
                      <a:solidFill>
                        <a:srgbClr val="CCCED0"/>
                      </a:solidFill>
                      <a:prstDash val="solid"/>
                      <a:round/>
                      <a:headEnd type="none" w="med" len="med"/>
                      <a:tailEnd type="none" w="med" len="med"/>
                    </a:lnR>
                    <a:lnT w="12700" cap="flat" cmpd="sng" algn="ctr">
                      <a:solidFill>
                        <a:srgbClr val="CCCED0"/>
                      </a:solidFill>
                      <a:prstDash val="solid"/>
                      <a:round/>
                      <a:headEnd type="none" w="med" len="med"/>
                      <a:tailEnd type="none" w="med" len="med"/>
                    </a:lnT>
                    <a:lnB w="12700" cap="flat" cmpd="sng" algn="ctr">
                      <a:solidFill>
                        <a:srgbClr val="CCCED0"/>
                      </a:solidFill>
                      <a:prstDash val="solid"/>
                      <a:round/>
                      <a:headEnd type="none" w="med" len="med"/>
                      <a:tailEnd type="none" w="med" len="med"/>
                    </a:lnB>
                  </a:tcPr>
                </a:tc>
                <a:tc>
                  <a:txBody>
                    <a:bodyPr/>
                    <a:lstStyle/>
                    <a:p>
                      <a:pPr algn="r" indent="0" marL="0">
                        <a:lnSpc>
                          <a:spcPts val="1820"/>
                        </a:lnSpc>
                        <a:buNone/>
                      </a:pPr>
                      <a:r>
                        <a:rPr lang="en-US" sz="1300" dirty="0">
                          <a:solidFill>
                            <a:srgbClr val="BD3F2C"/>
                          </a:solidFill>
                          <a:latin typeface="IBM Plex Sans Arabic" pitchFamily="34" charset="0"/>
                          <a:ea typeface="IBM Plex Sans Arabic" pitchFamily="34" charset="-122"/>
                          <a:cs typeface="IBM Plex Sans Arabic" pitchFamily="34" charset="-120"/>
                        </a:rPr>
                        <a:t>36</a:t>
                      </a:r>
                      <a:endParaRPr lang="en-US" sz="1300" dirty="0">
                        <a:latin typeface="IBM Plex Sans Arabic" charset="0"/>
                        <a:ea typeface="IBM Plex Sans Arabic" charset="0"/>
                        <a:cs typeface="IBM Plex Sans Arabic" charset="0"/>
                      </a:endParaRPr>
                    </a:p>
                  </a:txBody>
                  <a:tcPr marL="57785" marR="57785" marT="57785" marB="57785" anchor="t">
                    <a:lnL w="12700" cap="flat" cmpd="sng" algn="ctr">
                      <a:solidFill>
                        <a:srgbClr val="CCCED0"/>
                      </a:solidFill>
                      <a:prstDash val="solid"/>
                      <a:round/>
                      <a:headEnd type="none" w="med" len="med"/>
                      <a:tailEnd type="none" w="med" len="med"/>
                    </a:lnL>
                    <a:lnR w="12700" cap="flat" cmpd="sng" algn="ctr">
                      <a:solidFill>
                        <a:srgbClr val="CCCED0"/>
                      </a:solidFill>
                      <a:prstDash val="solid"/>
                      <a:round/>
                      <a:headEnd type="none" w="med" len="med"/>
                      <a:tailEnd type="none" w="med" len="med"/>
                    </a:lnR>
                    <a:lnT w="12700" cap="flat" cmpd="sng" algn="ctr">
                      <a:solidFill>
                        <a:srgbClr val="CCCED0"/>
                      </a:solidFill>
                      <a:prstDash val="solid"/>
                      <a:round/>
                      <a:headEnd type="none" w="med" len="med"/>
                      <a:tailEnd type="none" w="med" len="med"/>
                    </a:lnT>
                    <a:lnB w="12700" cap="flat" cmpd="sng" algn="ctr">
                      <a:solidFill>
                        <a:srgbClr val="CCCED0"/>
                      </a:solidFill>
                      <a:prstDash val="solid"/>
                      <a:round/>
                      <a:headEnd type="none" w="med" len="med"/>
                      <a:tailEnd type="none" w="med" len="med"/>
                    </a:lnB>
                  </a:tcPr>
                </a:tc>
              </a:tr>
              <a:tr h="359271">
                <a:tc>
                  <a:txBody>
                    <a:bodyPr/>
                    <a:lstStyle/>
                    <a:p>
                      <a:pPr algn="r" indent="0" marL="0">
                        <a:lnSpc>
                          <a:spcPts val="1820"/>
                        </a:lnSpc>
                        <a:buNone/>
                      </a:pPr>
                      <a:r>
                        <a:rPr lang="en-US" sz="1300" dirty="0">
                          <a:solidFill>
                            <a:srgbClr val="16202B"/>
                          </a:solidFill>
                          <a:latin typeface="IBM Plex Sans Arabic" pitchFamily="34" charset="0"/>
                          <a:ea typeface="IBM Plex Sans Arabic" pitchFamily="34" charset="-122"/>
                          <a:cs typeface="IBM Plex Sans Arabic" pitchFamily="34" charset="-120"/>
                        </a:rPr>
                        <a:t>drive10 — الطائف</a:t>
                      </a:r>
                      <a:endParaRPr lang="en-US" sz="1300" dirty="0">
                        <a:latin typeface="IBM Plex Sans Arabic" charset="0"/>
                        <a:ea typeface="IBM Plex Sans Arabic" charset="0"/>
                        <a:cs typeface="IBM Plex Sans Arabic" charset="0"/>
                      </a:endParaRPr>
                    </a:p>
                  </a:txBody>
                  <a:tcPr marL="57785" marR="57785" marT="57785" marB="57785" anchor="t">
                    <a:lnL w="12700" cap="flat" cmpd="sng" algn="ctr">
                      <a:solidFill>
                        <a:srgbClr val="CCCED0"/>
                      </a:solidFill>
                      <a:prstDash val="solid"/>
                      <a:round/>
                      <a:headEnd type="none" w="med" len="med"/>
                      <a:tailEnd type="none" w="med" len="med"/>
                    </a:lnL>
                    <a:lnR w="12700" cap="flat" cmpd="sng" algn="ctr">
                      <a:solidFill>
                        <a:srgbClr val="CCCED0"/>
                      </a:solidFill>
                      <a:prstDash val="solid"/>
                      <a:round/>
                      <a:headEnd type="none" w="med" len="med"/>
                      <a:tailEnd type="none" w="med" len="med"/>
                    </a:lnR>
                    <a:lnT w="12700" cap="flat" cmpd="sng" algn="ctr">
                      <a:solidFill>
                        <a:srgbClr val="CCCED0"/>
                      </a:solidFill>
                      <a:prstDash val="solid"/>
                      <a:round/>
                      <a:headEnd type="none" w="med" len="med"/>
                      <a:tailEnd type="none" w="med" len="med"/>
                    </a:lnT>
                    <a:lnB w="12700" cap="flat" cmpd="sng" algn="ctr">
                      <a:solidFill>
                        <a:srgbClr val="CCCED0"/>
                      </a:solidFill>
                      <a:prstDash val="solid"/>
                      <a:round/>
                      <a:headEnd type="none" w="med" len="med"/>
                      <a:tailEnd type="none" w="med" len="med"/>
                    </a:lnB>
                  </a:tcPr>
                </a:tc>
                <a:tc>
                  <a:txBody>
                    <a:bodyPr/>
                    <a:lstStyle/>
                    <a:p>
                      <a:pPr algn="r" indent="0" marL="0">
                        <a:lnSpc>
                          <a:spcPts val="1820"/>
                        </a:lnSpc>
                        <a:buNone/>
                      </a:pPr>
                      <a:r>
                        <a:rPr lang="en-US" sz="1300" dirty="0">
                          <a:solidFill>
                            <a:srgbClr val="16202B"/>
                          </a:solidFill>
                          <a:latin typeface="IBM Plex Sans Arabic" pitchFamily="34" charset="0"/>
                          <a:ea typeface="IBM Plex Sans Arabic" pitchFamily="34" charset="-122"/>
                          <a:cs typeface="IBM Plex Sans Arabic" pitchFamily="34" charset="-120"/>
                        </a:rPr>
                        <a:t>119.4</a:t>
                      </a:r>
                      <a:endParaRPr lang="en-US" sz="1300" dirty="0">
                        <a:latin typeface="IBM Plex Sans Arabic" charset="0"/>
                        <a:ea typeface="IBM Plex Sans Arabic" charset="0"/>
                        <a:cs typeface="IBM Plex Sans Arabic" charset="0"/>
                      </a:endParaRPr>
                    </a:p>
                  </a:txBody>
                  <a:tcPr marL="57785" marR="57785" marT="57785" marB="57785" anchor="t">
                    <a:lnL w="12700" cap="flat" cmpd="sng" algn="ctr">
                      <a:solidFill>
                        <a:srgbClr val="CCCED0"/>
                      </a:solidFill>
                      <a:prstDash val="solid"/>
                      <a:round/>
                      <a:headEnd type="none" w="med" len="med"/>
                      <a:tailEnd type="none" w="med" len="med"/>
                    </a:lnL>
                    <a:lnR w="12700" cap="flat" cmpd="sng" algn="ctr">
                      <a:solidFill>
                        <a:srgbClr val="CCCED0"/>
                      </a:solidFill>
                      <a:prstDash val="solid"/>
                      <a:round/>
                      <a:headEnd type="none" w="med" len="med"/>
                      <a:tailEnd type="none" w="med" len="med"/>
                    </a:lnR>
                    <a:lnT w="12700" cap="flat" cmpd="sng" algn="ctr">
                      <a:solidFill>
                        <a:srgbClr val="CCCED0"/>
                      </a:solidFill>
                      <a:prstDash val="solid"/>
                      <a:round/>
                      <a:headEnd type="none" w="med" len="med"/>
                      <a:tailEnd type="none" w="med" len="med"/>
                    </a:lnT>
                    <a:lnB w="12700" cap="flat" cmpd="sng" algn="ctr">
                      <a:solidFill>
                        <a:srgbClr val="CCCED0"/>
                      </a:solidFill>
                      <a:prstDash val="solid"/>
                      <a:round/>
                      <a:headEnd type="none" w="med" len="med"/>
                      <a:tailEnd type="none" w="med" len="med"/>
                    </a:lnB>
                  </a:tcPr>
                </a:tc>
                <a:tc>
                  <a:txBody>
                    <a:bodyPr/>
                    <a:lstStyle/>
                    <a:p>
                      <a:pPr algn="r" indent="0" marL="0">
                        <a:lnSpc>
                          <a:spcPts val="1820"/>
                        </a:lnSpc>
                        <a:buNone/>
                      </a:pPr>
                      <a:r>
                        <a:rPr lang="en-US" sz="1300" dirty="0">
                          <a:solidFill>
                            <a:srgbClr val="16202B"/>
                          </a:solidFill>
                          <a:latin typeface="IBM Plex Sans Arabic" pitchFamily="34" charset="0"/>
                          <a:ea typeface="IBM Plex Sans Arabic" pitchFamily="34" charset="-122"/>
                          <a:cs typeface="IBM Plex Sans Arabic" pitchFamily="34" charset="-120"/>
                        </a:rPr>
                        <a:t>797.6 °C</a:t>
                      </a:r>
                      <a:endParaRPr lang="en-US" sz="1300" dirty="0">
                        <a:latin typeface="IBM Plex Sans Arabic" charset="0"/>
                        <a:ea typeface="IBM Plex Sans Arabic" charset="0"/>
                        <a:cs typeface="IBM Plex Sans Arabic" charset="0"/>
                      </a:endParaRPr>
                    </a:p>
                  </a:txBody>
                  <a:tcPr marL="57785" marR="57785" marT="57785" marB="57785" anchor="t">
                    <a:lnL w="12700" cap="flat" cmpd="sng" algn="ctr">
                      <a:solidFill>
                        <a:srgbClr val="CCCED0"/>
                      </a:solidFill>
                      <a:prstDash val="solid"/>
                      <a:round/>
                      <a:headEnd type="none" w="med" len="med"/>
                      <a:tailEnd type="none" w="med" len="med"/>
                    </a:lnL>
                    <a:lnR w="12700" cap="flat" cmpd="sng" algn="ctr">
                      <a:solidFill>
                        <a:srgbClr val="CCCED0"/>
                      </a:solidFill>
                      <a:prstDash val="solid"/>
                      <a:round/>
                      <a:headEnd type="none" w="med" len="med"/>
                      <a:tailEnd type="none" w="med" len="med"/>
                    </a:lnR>
                    <a:lnT w="12700" cap="flat" cmpd="sng" algn="ctr">
                      <a:solidFill>
                        <a:srgbClr val="CCCED0"/>
                      </a:solidFill>
                      <a:prstDash val="solid"/>
                      <a:round/>
                      <a:headEnd type="none" w="med" len="med"/>
                      <a:tailEnd type="none" w="med" len="med"/>
                    </a:lnT>
                    <a:lnB w="12700" cap="flat" cmpd="sng" algn="ctr">
                      <a:solidFill>
                        <a:srgbClr val="CCCED0"/>
                      </a:solidFill>
                      <a:prstDash val="solid"/>
                      <a:round/>
                      <a:headEnd type="none" w="med" len="med"/>
                      <a:tailEnd type="none" w="med" len="med"/>
                    </a:lnB>
                  </a:tcPr>
                </a:tc>
                <a:tc>
                  <a:txBody>
                    <a:bodyPr/>
                    <a:lstStyle/>
                    <a:p>
                      <a:pPr algn="r" indent="0" marL="0">
                        <a:lnSpc>
                          <a:spcPts val="1820"/>
                        </a:lnSpc>
                        <a:buNone/>
                      </a:pPr>
                      <a:r>
                        <a:rPr lang="en-US" sz="1300" dirty="0">
                          <a:solidFill>
                            <a:srgbClr val="16202B"/>
                          </a:solidFill>
                          <a:latin typeface="IBM Plex Sans Arabic" pitchFamily="34" charset="0"/>
                          <a:ea typeface="IBM Plex Sans Arabic" pitchFamily="34" charset="-122"/>
                          <a:cs typeface="IBM Plex Sans Arabic" pitchFamily="34" charset="-120"/>
                        </a:rPr>
                        <a:t>0</a:t>
                      </a:r>
                      <a:endParaRPr lang="en-US" sz="1300" dirty="0">
                        <a:latin typeface="IBM Plex Sans Arabic" charset="0"/>
                        <a:ea typeface="IBM Plex Sans Arabic" charset="0"/>
                        <a:cs typeface="IBM Plex Sans Arabic" charset="0"/>
                      </a:endParaRPr>
                    </a:p>
                  </a:txBody>
                  <a:tcPr marL="57785" marR="57785" marT="57785" marB="57785" anchor="t">
                    <a:lnL w="12700" cap="flat" cmpd="sng" algn="ctr">
                      <a:solidFill>
                        <a:srgbClr val="CCCED0"/>
                      </a:solidFill>
                      <a:prstDash val="solid"/>
                      <a:round/>
                      <a:headEnd type="none" w="med" len="med"/>
                      <a:tailEnd type="none" w="med" len="med"/>
                    </a:lnL>
                    <a:lnR w="12700" cap="flat" cmpd="sng" algn="ctr">
                      <a:solidFill>
                        <a:srgbClr val="CCCED0"/>
                      </a:solidFill>
                      <a:prstDash val="solid"/>
                      <a:round/>
                      <a:headEnd type="none" w="med" len="med"/>
                      <a:tailEnd type="none" w="med" len="med"/>
                    </a:lnR>
                    <a:lnT w="12700" cap="flat" cmpd="sng" algn="ctr">
                      <a:solidFill>
                        <a:srgbClr val="CCCED0"/>
                      </a:solidFill>
                      <a:prstDash val="solid"/>
                      <a:round/>
                      <a:headEnd type="none" w="med" len="med"/>
                      <a:tailEnd type="none" w="med" len="med"/>
                    </a:lnT>
                    <a:lnB w="12700" cap="flat" cmpd="sng" algn="ctr">
                      <a:solidFill>
                        <a:srgbClr val="CCCED0"/>
                      </a:solidFill>
                      <a:prstDash val="solid"/>
                      <a:round/>
                      <a:headEnd type="none" w="med" len="med"/>
                      <a:tailEnd type="none" w="med" len="med"/>
                    </a:lnB>
                  </a:tcPr>
                </a:tc>
              </a:tr>
              <a:tr h="359271">
                <a:tc>
                  <a:txBody>
                    <a:bodyPr/>
                    <a:lstStyle/>
                    <a:p>
                      <a:pPr algn="r" indent="0" marL="0">
                        <a:lnSpc>
                          <a:spcPts val="1820"/>
                        </a:lnSpc>
                        <a:buNone/>
                      </a:pPr>
                      <a:r>
                        <a:rPr lang="en-US" sz="1300" dirty="0">
                          <a:solidFill>
                            <a:srgbClr val="16202B"/>
                          </a:solidFill>
                          <a:latin typeface="IBM Plex Sans Arabic" pitchFamily="34" charset="0"/>
                          <a:ea typeface="IBM Plex Sans Arabic" pitchFamily="34" charset="-122"/>
                          <a:cs typeface="IBM Plex Sans Arabic" pitchFamily="34" charset="-120"/>
                        </a:rPr>
                        <a:t>670063b2</a:t>
                      </a:r>
                      <a:endParaRPr lang="en-US" sz="1300" dirty="0">
                        <a:latin typeface="IBM Plex Sans Arabic" charset="0"/>
                        <a:ea typeface="IBM Plex Sans Arabic" charset="0"/>
                        <a:cs typeface="IBM Plex Sans Arabic" charset="0"/>
                      </a:endParaRPr>
                    </a:p>
                  </a:txBody>
                  <a:tcPr marL="57785" marR="57785" marT="57785" marB="57785" anchor="t">
                    <a:lnL w="12700" cap="flat" cmpd="sng" algn="ctr">
                      <a:solidFill>
                        <a:srgbClr val="CCCED0"/>
                      </a:solidFill>
                      <a:prstDash val="solid"/>
                      <a:round/>
                      <a:headEnd type="none" w="med" len="med"/>
                      <a:tailEnd type="none" w="med" len="med"/>
                    </a:lnL>
                    <a:lnR w="12700" cap="flat" cmpd="sng" algn="ctr">
                      <a:solidFill>
                        <a:srgbClr val="CCCED0"/>
                      </a:solidFill>
                      <a:prstDash val="solid"/>
                      <a:round/>
                      <a:headEnd type="none" w="med" len="med"/>
                      <a:tailEnd type="none" w="med" len="med"/>
                    </a:lnR>
                    <a:lnT w="12700" cap="flat" cmpd="sng" algn="ctr">
                      <a:solidFill>
                        <a:srgbClr val="CCCED0"/>
                      </a:solidFill>
                      <a:prstDash val="solid"/>
                      <a:round/>
                      <a:headEnd type="none" w="med" len="med"/>
                      <a:tailEnd type="none" w="med" len="med"/>
                    </a:lnT>
                    <a:lnB w="12700" cap="flat" cmpd="sng" algn="ctr">
                      <a:solidFill>
                        <a:srgbClr val="CCCED0"/>
                      </a:solidFill>
                      <a:prstDash val="solid"/>
                      <a:round/>
                      <a:headEnd type="none" w="med" len="med"/>
                      <a:tailEnd type="none" w="med" len="med"/>
                    </a:lnB>
                  </a:tcPr>
                </a:tc>
                <a:tc>
                  <a:txBody>
                    <a:bodyPr/>
                    <a:lstStyle/>
                    <a:p>
                      <a:pPr algn="r" indent="0" marL="0">
                        <a:lnSpc>
                          <a:spcPts val="1820"/>
                        </a:lnSpc>
                        <a:buNone/>
                      </a:pPr>
                      <a:r>
                        <a:rPr lang="en-US" sz="1300" dirty="0">
                          <a:solidFill>
                            <a:srgbClr val="16202B"/>
                          </a:solidFill>
                          <a:latin typeface="IBM Plex Sans Arabic" pitchFamily="34" charset="0"/>
                          <a:ea typeface="IBM Plex Sans Arabic" pitchFamily="34" charset="-122"/>
                          <a:cs typeface="IBM Plex Sans Arabic" pitchFamily="34" charset="-120"/>
                        </a:rPr>
                        <a:t>7.3</a:t>
                      </a:r>
                      <a:endParaRPr lang="en-US" sz="1300" dirty="0">
                        <a:latin typeface="IBM Plex Sans Arabic" charset="0"/>
                        <a:ea typeface="IBM Plex Sans Arabic" charset="0"/>
                        <a:cs typeface="IBM Plex Sans Arabic" charset="0"/>
                      </a:endParaRPr>
                    </a:p>
                  </a:txBody>
                  <a:tcPr marL="57785" marR="57785" marT="57785" marB="57785" anchor="t">
                    <a:lnL w="12700" cap="flat" cmpd="sng" algn="ctr">
                      <a:solidFill>
                        <a:srgbClr val="CCCED0"/>
                      </a:solidFill>
                      <a:prstDash val="solid"/>
                      <a:round/>
                      <a:headEnd type="none" w="med" len="med"/>
                      <a:tailEnd type="none" w="med" len="med"/>
                    </a:lnL>
                    <a:lnR w="12700" cap="flat" cmpd="sng" algn="ctr">
                      <a:solidFill>
                        <a:srgbClr val="CCCED0"/>
                      </a:solidFill>
                      <a:prstDash val="solid"/>
                      <a:round/>
                      <a:headEnd type="none" w="med" len="med"/>
                      <a:tailEnd type="none" w="med" len="med"/>
                    </a:lnR>
                    <a:lnT w="12700" cap="flat" cmpd="sng" algn="ctr">
                      <a:solidFill>
                        <a:srgbClr val="CCCED0"/>
                      </a:solidFill>
                      <a:prstDash val="solid"/>
                      <a:round/>
                      <a:headEnd type="none" w="med" len="med"/>
                      <a:tailEnd type="none" w="med" len="med"/>
                    </a:lnT>
                    <a:lnB w="12700" cap="flat" cmpd="sng" algn="ctr">
                      <a:solidFill>
                        <a:srgbClr val="CCCED0"/>
                      </a:solidFill>
                      <a:prstDash val="solid"/>
                      <a:round/>
                      <a:headEnd type="none" w="med" len="med"/>
                      <a:tailEnd type="none" w="med" len="med"/>
                    </a:lnB>
                  </a:tcPr>
                </a:tc>
                <a:tc>
                  <a:txBody>
                    <a:bodyPr/>
                    <a:lstStyle/>
                    <a:p>
                      <a:pPr algn="r" indent="0" marL="0">
                        <a:lnSpc>
                          <a:spcPts val="1820"/>
                        </a:lnSpc>
                        <a:buNone/>
                      </a:pPr>
                      <a:r>
                        <a:rPr lang="en-US" sz="1300" dirty="0">
                          <a:solidFill>
                            <a:srgbClr val="16202B"/>
                          </a:solidFill>
                          <a:latin typeface="IBM Plex Sans Arabic" pitchFamily="34" charset="0"/>
                          <a:ea typeface="IBM Plex Sans Arabic" pitchFamily="34" charset="-122"/>
                          <a:cs typeface="IBM Plex Sans Arabic" pitchFamily="34" charset="-120"/>
                        </a:rPr>
                        <a:t>780.3 °C</a:t>
                      </a:r>
                      <a:endParaRPr lang="en-US" sz="1300" dirty="0">
                        <a:latin typeface="IBM Plex Sans Arabic" charset="0"/>
                        <a:ea typeface="IBM Plex Sans Arabic" charset="0"/>
                        <a:cs typeface="IBM Plex Sans Arabic" charset="0"/>
                      </a:endParaRPr>
                    </a:p>
                  </a:txBody>
                  <a:tcPr marL="57785" marR="57785" marT="57785" marB="57785" anchor="t">
                    <a:lnL w="12700" cap="flat" cmpd="sng" algn="ctr">
                      <a:solidFill>
                        <a:srgbClr val="CCCED0"/>
                      </a:solidFill>
                      <a:prstDash val="solid"/>
                      <a:round/>
                      <a:headEnd type="none" w="med" len="med"/>
                      <a:tailEnd type="none" w="med" len="med"/>
                    </a:lnL>
                    <a:lnR w="12700" cap="flat" cmpd="sng" algn="ctr">
                      <a:solidFill>
                        <a:srgbClr val="CCCED0"/>
                      </a:solidFill>
                      <a:prstDash val="solid"/>
                      <a:round/>
                      <a:headEnd type="none" w="med" len="med"/>
                      <a:tailEnd type="none" w="med" len="med"/>
                    </a:lnR>
                    <a:lnT w="12700" cap="flat" cmpd="sng" algn="ctr">
                      <a:solidFill>
                        <a:srgbClr val="CCCED0"/>
                      </a:solidFill>
                      <a:prstDash val="solid"/>
                      <a:round/>
                      <a:headEnd type="none" w="med" len="med"/>
                      <a:tailEnd type="none" w="med" len="med"/>
                    </a:lnT>
                    <a:lnB w="12700" cap="flat" cmpd="sng" algn="ctr">
                      <a:solidFill>
                        <a:srgbClr val="CCCED0"/>
                      </a:solidFill>
                      <a:prstDash val="solid"/>
                      <a:round/>
                      <a:headEnd type="none" w="med" len="med"/>
                      <a:tailEnd type="none" w="med" len="med"/>
                    </a:lnB>
                  </a:tcPr>
                </a:tc>
                <a:tc>
                  <a:txBody>
                    <a:bodyPr/>
                    <a:lstStyle/>
                    <a:p>
                      <a:pPr algn="r" indent="0" marL="0">
                        <a:lnSpc>
                          <a:spcPts val="1820"/>
                        </a:lnSpc>
                        <a:buNone/>
                      </a:pPr>
                      <a:r>
                        <a:rPr lang="en-US" sz="1300" dirty="0">
                          <a:solidFill>
                            <a:srgbClr val="16202B"/>
                          </a:solidFill>
                          <a:latin typeface="IBM Plex Sans Arabic" pitchFamily="34" charset="0"/>
                          <a:ea typeface="IBM Plex Sans Arabic" pitchFamily="34" charset="-122"/>
                          <a:cs typeface="IBM Plex Sans Arabic" pitchFamily="34" charset="-120"/>
                        </a:rPr>
                        <a:t>0</a:t>
                      </a:r>
                      <a:endParaRPr lang="en-US" sz="1300" dirty="0">
                        <a:latin typeface="IBM Plex Sans Arabic" charset="0"/>
                        <a:ea typeface="IBM Plex Sans Arabic" charset="0"/>
                        <a:cs typeface="IBM Plex Sans Arabic" charset="0"/>
                      </a:endParaRPr>
                    </a:p>
                  </a:txBody>
                  <a:tcPr marL="57785" marR="57785" marT="57785" marB="57785" anchor="t">
                    <a:lnL w="12700" cap="flat" cmpd="sng" algn="ctr">
                      <a:solidFill>
                        <a:srgbClr val="CCCED0"/>
                      </a:solidFill>
                      <a:prstDash val="solid"/>
                      <a:round/>
                      <a:headEnd type="none" w="med" len="med"/>
                      <a:tailEnd type="none" w="med" len="med"/>
                    </a:lnL>
                    <a:lnR w="12700" cap="flat" cmpd="sng" algn="ctr">
                      <a:solidFill>
                        <a:srgbClr val="CCCED0"/>
                      </a:solidFill>
                      <a:prstDash val="solid"/>
                      <a:round/>
                      <a:headEnd type="none" w="med" len="med"/>
                      <a:tailEnd type="none" w="med" len="med"/>
                    </a:lnR>
                    <a:lnT w="12700" cap="flat" cmpd="sng" algn="ctr">
                      <a:solidFill>
                        <a:srgbClr val="CCCED0"/>
                      </a:solidFill>
                      <a:prstDash val="solid"/>
                      <a:round/>
                      <a:headEnd type="none" w="med" len="med"/>
                      <a:tailEnd type="none" w="med" len="med"/>
                    </a:lnT>
                    <a:lnB w="12700" cap="flat" cmpd="sng" algn="ctr">
                      <a:solidFill>
                        <a:srgbClr val="CCCED0"/>
                      </a:solidFill>
                      <a:prstDash val="solid"/>
                      <a:round/>
                      <a:headEnd type="none" w="med" len="med"/>
                      <a:tailEnd type="none" w="med" len="med"/>
                    </a:lnB>
                  </a:tcPr>
                </a:tc>
              </a:tr>
              <a:tr h="359271">
                <a:tc>
                  <a:txBody>
                    <a:bodyPr/>
                    <a:lstStyle/>
                    <a:p>
                      <a:pPr algn="r" indent="0" marL="0">
                        <a:lnSpc>
                          <a:spcPts val="1820"/>
                        </a:lnSpc>
                        <a:buNone/>
                      </a:pPr>
                      <a:r>
                        <a:rPr lang="en-US" sz="1300" dirty="0">
                          <a:solidFill>
                            <a:srgbClr val="5D6E7D"/>
                          </a:solidFill>
                          <a:latin typeface="IBM Plex Sans Arabic" pitchFamily="34" charset="0"/>
                          <a:ea typeface="IBM Plex Sans Arabic" pitchFamily="34" charset="-122"/>
                          <a:cs typeface="IBM Plex Sans Arabic" pitchFamily="34" charset="-120"/>
                        </a:rPr>
                        <a:t>الرحلات السبع الباقية</a:t>
                      </a:r>
                      <a:endParaRPr lang="en-US" sz="1300" dirty="0">
                        <a:latin typeface="IBM Plex Sans Arabic" charset="0"/>
                        <a:ea typeface="IBM Plex Sans Arabic" charset="0"/>
                        <a:cs typeface="IBM Plex Sans Arabic" charset="0"/>
                      </a:endParaRPr>
                    </a:p>
                  </a:txBody>
                  <a:tcPr marL="57785" marR="57785" marT="57785" marB="57785" anchor="t">
                    <a:lnL w="12700" cap="flat" cmpd="sng" algn="ctr">
                      <a:solidFill>
                        <a:srgbClr val="CCCED0"/>
                      </a:solidFill>
                      <a:prstDash val="solid"/>
                      <a:round/>
                      <a:headEnd type="none" w="med" len="med"/>
                      <a:tailEnd type="none" w="med" len="med"/>
                    </a:lnL>
                    <a:lnR w="12700" cap="flat" cmpd="sng" algn="ctr">
                      <a:solidFill>
                        <a:srgbClr val="CCCED0"/>
                      </a:solidFill>
                      <a:prstDash val="solid"/>
                      <a:round/>
                      <a:headEnd type="none" w="med" len="med"/>
                      <a:tailEnd type="none" w="med" len="med"/>
                    </a:lnR>
                    <a:lnT w="12700" cap="flat" cmpd="sng" algn="ctr">
                      <a:solidFill>
                        <a:srgbClr val="CCCED0"/>
                      </a:solidFill>
                      <a:prstDash val="solid"/>
                      <a:round/>
                      <a:headEnd type="none" w="med" len="med"/>
                      <a:tailEnd type="none" w="med" len="med"/>
                    </a:lnT>
                    <a:lnB w="12700" cap="flat" cmpd="sng" algn="ctr">
                      <a:solidFill>
                        <a:srgbClr val="CCCED0"/>
                      </a:solidFill>
                      <a:prstDash val="solid"/>
                      <a:round/>
                      <a:headEnd type="none" w="med" len="med"/>
                      <a:tailEnd type="none" w="med" len="med"/>
                    </a:lnB>
                  </a:tcPr>
                </a:tc>
                <a:tc>
                  <a:txBody>
                    <a:bodyPr/>
                    <a:lstStyle/>
                    <a:p>
                      <a:pPr algn="r" indent="0" marL="0">
                        <a:lnSpc>
                          <a:spcPts val="1820"/>
                        </a:lnSpc>
                        <a:buNone/>
                      </a:pPr>
                      <a:r>
                        <a:rPr lang="en-US" sz="1300" dirty="0">
                          <a:solidFill>
                            <a:srgbClr val="5D6E7D"/>
                          </a:solidFill>
                          <a:latin typeface="IBM Plex Sans Arabic" pitchFamily="34" charset="0"/>
                          <a:ea typeface="IBM Plex Sans Arabic" pitchFamily="34" charset="-122"/>
                          <a:cs typeface="IBM Plex Sans Arabic" pitchFamily="34" charset="-120"/>
                        </a:rPr>
                        <a:t>110.2</a:t>
                      </a:r>
                      <a:endParaRPr lang="en-US" sz="1300" dirty="0">
                        <a:latin typeface="IBM Plex Sans Arabic" charset="0"/>
                        <a:ea typeface="IBM Plex Sans Arabic" charset="0"/>
                        <a:cs typeface="IBM Plex Sans Arabic" charset="0"/>
                      </a:endParaRPr>
                    </a:p>
                  </a:txBody>
                  <a:tcPr marL="57785" marR="57785" marT="57785" marB="57785" anchor="t">
                    <a:lnL w="12700" cap="flat" cmpd="sng" algn="ctr">
                      <a:solidFill>
                        <a:srgbClr val="CCCED0"/>
                      </a:solidFill>
                      <a:prstDash val="solid"/>
                      <a:round/>
                      <a:headEnd type="none" w="med" len="med"/>
                      <a:tailEnd type="none" w="med" len="med"/>
                    </a:lnL>
                    <a:lnR w="12700" cap="flat" cmpd="sng" algn="ctr">
                      <a:solidFill>
                        <a:srgbClr val="CCCED0"/>
                      </a:solidFill>
                      <a:prstDash val="solid"/>
                      <a:round/>
                      <a:headEnd type="none" w="med" len="med"/>
                      <a:tailEnd type="none" w="med" len="med"/>
                    </a:lnR>
                    <a:lnT w="12700" cap="flat" cmpd="sng" algn="ctr">
                      <a:solidFill>
                        <a:srgbClr val="CCCED0"/>
                      </a:solidFill>
                      <a:prstDash val="solid"/>
                      <a:round/>
                      <a:headEnd type="none" w="med" len="med"/>
                      <a:tailEnd type="none" w="med" len="med"/>
                    </a:lnT>
                    <a:lnB w="12700" cap="flat" cmpd="sng" algn="ctr">
                      <a:solidFill>
                        <a:srgbClr val="CCCED0"/>
                      </a:solidFill>
                      <a:prstDash val="solid"/>
                      <a:round/>
                      <a:headEnd type="none" w="med" len="med"/>
                      <a:tailEnd type="none" w="med" len="med"/>
                    </a:lnB>
                  </a:tcPr>
                </a:tc>
                <a:tc>
                  <a:txBody>
                    <a:bodyPr/>
                    <a:lstStyle/>
                    <a:p>
                      <a:pPr algn="r" indent="0" marL="0">
                        <a:lnSpc>
                          <a:spcPts val="1820"/>
                        </a:lnSpc>
                        <a:buNone/>
                      </a:pPr>
                      <a:r>
                        <a:rPr lang="en-US" sz="1300" dirty="0">
                          <a:solidFill>
                            <a:srgbClr val="5D6E7D"/>
                          </a:solidFill>
                          <a:latin typeface="IBM Plex Sans Arabic" pitchFamily="34" charset="0"/>
                          <a:ea typeface="IBM Plex Sans Arabic" pitchFamily="34" charset="-122"/>
                          <a:cs typeface="IBM Plex Sans Arabic" pitchFamily="34" charset="-120"/>
                        </a:rPr>
                        <a:t>340 – 728 °C</a:t>
                      </a:r>
                      <a:endParaRPr lang="en-US" sz="1300" dirty="0">
                        <a:latin typeface="IBM Plex Sans Arabic" charset="0"/>
                        <a:ea typeface="IBM Plex Sans Arabic" charset="0"/>
                        <a:cs typeface="IBM Plex Sans Arabic" charset="0"/>
                      </a:endParaRPr>
                    </a:p>
                  </a:txBody>
                  <a:tcPr marL="57785" marR="57785" marT="57785" marB="57785" anchor="t">
                    <a:lnL w="12700" cap="flat" cmpd="sng" algn="ctr">
                      <a:solidFill>
                        <a:srgbClr val="CCCED0"/>
                      </a:solidFill>
                      <a:prstDash val="solid"/>
                      <a:round/>
                      <a:headEnd type="none" w="med" len="med"/>
                      <a:tailEnd type="none" w="med" len="med"/>
                    </a:lnL>
                    <a:lnR w="12700" cap="flat" cmpd="sng" algn="ctr">
                      <a:solidFill>
                        <a:srgbClr val="CCCED0"/>
                      </a:solidFill>
                      <a:prstDash val="solid"/>
                      <a:round/>
                      <a:headEnd type="none" w="med" len="med"/>
                      <a:tailEnd type="none" w="med" len="med"/>
                    </a:lnR>
                    <a:lnT w="12700" cap="flat" cmpd="sng" algn="ctr">
                      <a:solidFill>
                        <a:srgbClr val="CCCED0"/>
                      </a:solidFill>
                      <a:prstDash val="solid"/>
                      <a:round/>
                      <a:headEnd type="none" w="med" len="med"/>
                      <a:tailEnd type="none" w="med" len="med"/>
                    </a:lnT>
                    <a:lnB w="12700" cap="flat" cmpd="sng" algn="ctr">
                      <a:solidFill>
                        <a:srgbClr val="CCCED0"/>
                      </a:solidFill>
                      <a:prstDash val="solid"/>
                      <a:round/>
                      <a:headEnd type="none" w="med" len="med"/>
                      <a:tailEnd type="none" w="med" len="med"/>
                    </a:lnB>
                  </a:tcPr>
                </a:tc>
                <a:tc>
                  <a:txBody>
                    <a:bodyPr/>
                    <a:lstStyle/>
                    <a:p>
                      <a:pPr algn="r" indent="0" marL="0">
                        <a:lnSpc>
                          <a:spcPts val="1820"/>
                        </a:lnSpc>
                        <a:buNone/>
                      </a:pPr>
                      <a:r>
                        <a:rPr lang="en-US" sz="1300" dirty="0">
                          <a:solidFill>
                            <a:srgbClr val="5D6E7D"/>
                          </a:solidFill>
                          <a:latin typeface="IBM Plex Sans Arabic" pitchFamily="34" charset="0"/>
                          <a:ea typeface="IBM Plex Sans Arabic" pitchFamily="34" charset="-122"/>
                          <a:cs typeface="IBM Plex Sans Arabic" pitchFamily="34" charset="-120"/>
                        </a:rPr>
                        <a:t>0</a:t>
                      </a:r>
                      <a:endParaRPr lang="en-US" sz="1300" dirty="0">
                        <a:latin typeface="IBM Plex Sans Arabic" charset="0"/>
                        <a:ea typeface="IBM Plex Sans Arabic" charset="0"/>
                        <a:cs typeface="IBM Plex Sans Arabic" charset="0"/>
                      </a:endParaRPr>
                    </a:p>
                  </a:txBody>
                  <a:tcPr marL="57785" marR="57785" marT="57785" marB="57785" anchor="t">
                    <a:lnL w="12700" cap="flat" cmpd="sng" algn="ctr">
                      <a:solidFill>
                        <a:srgbClr val="CCCED0"/>
                      </a:solidFill>
                      <a:prstDash val="solid"/>
                      <a:round/>
                      <a:headEnd type="none" w="med" len="med"/>
                      <a:tailEnd type="none" w="med" len="med"/>
                    </a:lnL>
                    <a:lnR w="12700" cap="flat" cmpd="sng" algn="ctr">
                      <a:solidFill>
                        <a:srgbClr val="CCCED0"/>
                      </a:solidFill>
                      <a:prstDash val="solid"/>
                      <a:round/>
                      <a:headEnd type="none" w="med" len="med"/>
                      <a:tailEnd type="none" w="med" len="med"/>
                    </a:lnR>
                    <a:lnT w="12700" cap="flat" cmpd="sng" algn="ctr">
                      <a:solidFill>
                        <a:srgbClr val="CCCED0"/>
                      </a:solidFill>
                      <a:prstDash val="solid"/>
                      <a:round/>
                      <a:headEnd type="none" w="med" len="med"/>
                      <a:tailEnd type="none" w="med" len="med"/>
                    </a:lnT>
                    <a:lnB w="12700" cap="flat" cmpd="sng" algn="ctr">
                      <a:solidFill>
                        <a:srgbClr val="CCCED0"/>
                      </a:solidFill>
                      <a:prstDash val="solid"/>
                      <a:round/>
                      <a:headEnd type="none" w="med" len="med"/>
                      <a:tailEnd type="none" w="med" len="med"/>
                    </a:lnB>
                  </a:tcPr>
                </a:tc>
              </a:tr>
            </a:tbl>
          </a:graphicData>
        </a:graphic>
      </p:graphicFrame>
      <p:sp>
        <p:nvSpPr>
          <p:cNvPr id="5" name="Text 2"/>
          <p:cNvSpPr/>
          <p:nvPr/>
        </p:nvSpPr>
        <p:spPr>
          <a:xfrm>
            <a:off x="625044" y="3760986"/>
            <a:ext cx="6446276" cy="482600"/>
          </a:xfrm>
          <a:prstGeom prst="rect">
            <a:avLst/>
          </a:prstGeom>
          <a:noFill/>
          <a:ln/>
        </p:spPr>
        <p:txBody>
          <a:bodyPr wrap="square" lIns="0" tIns="0" rIns="0" bIns="0" rtlCol="0" anchor="t">
            <a:normAutofit/>
          </a:bodyPr>
          <a:lstStyle/>
          <a:p>
            <a:pPr algn="r" indent="0" marL="0">
              <a:lnSpc>
                <a:spcPts val="1800"/>
              </a:lnSpc>
              <a:buNone/>
            </a:pPr>
            <a:r>
              <a:rPr lang="en-US" sz="1200" dirty="0">
                <a:solidFill>
                  <a:srgbClr val="5D6E7D"/>
                </a:solidFill>
                <a:latin typeface="IBM Plex Sans Arabic" pitchFamily="34" charset="0"/>
                <a:ea typeface="IBM Plex Sans Arabic" pitchFamily="34" charset="-122"/>
                <a:cs typeface="IBM Plex Sans Arabic" pitchFamily="34" charset="-120"/>
              </a:rPr>
              <a:t>عشر رحلات · 295.0 دقيقة مُسجّلة · حدّ الحماية 850 °C · الحرارة تقدير من نموذجنا، لأنّ السيارة لا تحمل حسّاساً هناك</a:t>
            </a:r>
            <a:endParaRPr lang="en-US" sz="1200" dirty="0"/>
          </a:p>
        </p:txBody>
      </p:sp>
      <p:sp>
        <p:nvSpPr>
          <p:cNvPr id="6" name="Shape 3"/>
          <p:cNvSpPr/>
          <p:nvPr/>
        </p:nvSpPr>
        <p:spPr>
          <a:xfrm>
            <a:off x="7299920" y="1685230"/>
            <a:ext cx="4079280" cy="2532955"/>
          </a:xfrm>
          <a:prstGeom prst="roundRect">
            <a:avLst>
              <a:gd name="adj" fmla="val 4011"/>
            </a:avLst>
          </a:prstGeom>
          <a:solidFill>
            <a:srgbClr val="16202B"/>
          </a:solidFill>
          <a:ln/>
        </p:spPr>
      </p:sp>
      <p:sp>
        <p:nvSpPr>
          <p:cNvPr id="7" name="Text 4"/>
          <p:cNvSpPr/>
          <p:nvPr/>
        </p:nvSpPr>
        <p:spPr>
          <a:xfrm>
            <a:off x="7473706" y="2476996"/>
            <a:ext cx="3626094" cy="609600"/>
          </a:xfrm>
          <a:prstGeom prst="rect">
            <a:avLst/>
          </a:prstGeom>
          <a:noFill/>
          <a:ln/>
        </p:spPr>
        <p:txBody>
          <a:bodyPr wrap="square" lIns="0" tIns="0" rIns="0" bIns="0" rtlCol="0" anchor="t">
            <a:normAutofit/>
          </a:bodyPr>
          <a:lstStyle/>
          <a:p>
            <a:pPr algn="r" indent="0" marL="0">
              <a:lnSpc>
                <a:spcPts val="4600"/>
              </a:lnSpc>
              <a:buNone/>
            </a:pPr>
            <a:r>
              <a:rPr lang="en-US" sz="4600" b="1" dirty="0">
                <a:solidFill>
                  <a:srgbClr val="F2F4F6"/>
                </a:solidFill>
                <a:latin typeface="IBM Plex Mono" pitchFamily="34" charset="0"/>
                <a:ea typeface="IBM Plex Mono" pitchFamily="34" charset="-122"/>
                <a:cs typeface="IBM Plex Mono" pitchFamily="34" charset="-120"/>
              </a:rPr>
              <a:t>0.206 %</a:t>
            </a:r>
            <a:endParaRPr lang="en-US" sz="4600" dirty="0"/>
          </a:p>
        </p:txBody>
      </p:sp>
      <p:sp>
        <p:nvSpPr>
          <p:cNvPr id="8" name="Text 5"/>
          <p:cNvSpPr/>
          <p:nvPr/>
        </p:nvSpPr>
        <p:spPr>
          <a:xfrm>
            <a:off x="7473706" y="3150096"/>
            <a:ext cx="3626094" cy="301625"/>
          </a:xfrm>
          <a:prstGeom prst="rect">
            <a:avLst/>
          </a:prstGeom>
          <a:noFill/>
          <a:ln/>
        </p:spPr>
        <p:txBody>
          <a:bodyPr wrap="square" lIns="0" tIns="0" rIns="0" bIns="0" rtlCol="0" anchor="t">
            <a:normAutofit/>
          </a:bodyPr>
          <a:lstStyle/>
          <a:p>
            <a:pPr algn="r" indent="0" marL="0">
              <a:lnSpc>
                <a:spcPts val="2175"/>
              </a:lnSpc>
              <a:buNone/>
            </a:pPr>
            <a:r>
              <a:rPr lang="en-US" sz="1450" dirty="0">
                <a:solidFill>
                  <a:srgbClr val="8FA3B5"/>
                </a:solidFill>
                <a:latin typeface="IBM Plex Sans Arabic" pitchFamily="34" charset="0"/>
                <a:ea typeface="IBM Plex Sans Arabic" pitchFamily="34" charset="-122"/>
                <a:cs typeface="IBM Plex Sans Arabic" pitchFamily="34" charset="-120"/>
              </a:rPr>
              <a:t>36 ثانية من أصل 292.0 دقيقة قيادة حقيقيّة</a:t>
            </a:r>
            <a:endParaRPr lang="en-US" sz="1450" dirty="0"/>
          </a:p>
        </p:txBody>
      </p:sp>
      <p:sp>
        <p:nvSpPr>
          <p:cNvPr id="9" name="Shape 6"/>
          <p:cNvSpPr/>
          <p:nvPr/>
        </p:nvSpPr>
        <p:spPr>
          <a:xfrm>
            <a:off x="815975" y="4462661"/>
            <a:ext cx="10560050" cy="958850"/>
          </a:xfrm>
          <a:prstGeom prst="roundRect">
            <a:avLst>
              <a:gd name="adj" fmla="val 8940"/>
            </a:avLst>
          </a:prstGeom>
          <a:solidFill>
            <a:srgbClr val="EAF1F7"/>
          </a:solidFill>
          <a:ln w="6350">
            <a:solidFill>
              <a:srgbClr val="C3D6E6"/>
            </a:solidFill>
            <a:prstDash val="solid"/>
          </a:ln>
        </p:spPr>
      </p:sp>
      <p:sp>
        <p:nvSpPr>
          <p:cNvPr id="10" name="Text 7"/>
          <p:cNvSpPr/>
          <p:nvPr/>
        </p:nvSpPr>
        <p:spPr>
          <a:xfrm>
            <a:off x="758317" y="4656336"/>
            <a:ext cx="10373233" cy="596900"/>
          </a:xfrm>
          <a:prstGeom prst="rect">
            <a:avLst/>
          </a:prstGeom>
          <a:noFill/>
          <a:ln/>
        </p:spPr>
        <p:txBody>
          <a:bodyPr wrap="square" lIns="0" tIns="0" rIns="0" bIns="0" rtlCol="0" anchor="t">
            <a:normAutofit/>
          </a:bodyPr>
          <a:lstStyle/>
          <a:p>
            <a:pPr algn="r" indent="0" marL="0">
              <a:lnSpc>
                <a:spcPts val="2250"/>
              </a:lnSpc>
              <a:buNone/>
            </a:pPr>
            <a:r>
              <a:rPr lang="en-US" sz="1500" dirty="0">
                <a:solidFill>
                  <a:srgbClr val="16202B"/>
                </a:solidFill>
                <a:latin typeface="IBM Plex Sans Arabic" pitchFamily="34" charset="0"/>
                <a:ea typeface="IBM Plex Sans Arabic" pitchFamily="34" charset="-122"/>
                <a:cs typeface="IBM Plex Sans Arabic" pitchFamily="34" charset="-120"/>
              </a:rPr>
              <a:t>رحلة واحدة من عشر تلمس الحدّ — و</a:t>
            </a:r>
            <a:r>
              <a:rPr lang="en-US" sz="1500" b="1" dirty="0">
                <a:solidFill>
                  <a:srgbClr val="16202B"/>
                </a:solidFill>
                <a:latin typeface="IBM Plex Sans Arabic" pitchFamily="34" charset="0"/>
                <a:ea typeface="IBM Plex Sans Arabic" pitchFamily="34" charset="-122"/>
                <a:cs typeface="IBM Plex Sans Arabic" pitchFamily="34" charset="-120"/>
              </a:rPr>
              <a:t>هذا بحدّ ذاته نتيجة تدخل الرسالة</a:t>
            </a:r>
            <a:r>
              <a:rPr lang="en-US" sz="1500" dirty="0">
                <a:solidFill>
                  <a:srgbClr val="16202B"/>
                </a:solidFill>
                <a:latin typeface="IBM Plex Sans Arabic" pitchFamily="34" charset="0"/>
                <a:ea typeface="IBM Plex Sans Arabic" pitchFamily="34" charset="-122"/>
                <a:cs typeface="IBM Plex Sans Arabic" pitchFamily="34" charset="-120"/>
              </a:rPr>
              <a:t>: على هذه السيارة وفي هذه القيادة، القطعة المحميّة قريبة من حدّها خُمس الواحد بالمئة من الوقت. وهذا بالضبط نوع الجواب الذي وُجد المعيار ليعطيه.</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4F6"/>
        </a:solidFill>
      </p:bgPr>
    </p:bg>
    <p:spTree>
      <p:nvGrpSpPr>
        <p:cNvPr id="1" name=""/>
        <p:cNvGrpSpPr/>
        <p:nvPr/>
      </p:nvGrpSpPr>
      <p:grpSpPr>
        <a:xfrm>
          <a:off x="0" y="0"/>
          <a:ext cx="0" cy="0"/>
          <a:chOff x="0" y="0"/>
          <a:chExt cx="0" cy="0"/>
        </a:xfrm>
      </p:grpSpPr>
      <p:sp>
        <p:nvSpPr>
          <p:cNvPr id="2" name="Text 0"/>
          <p:cNvSpPr/>
          <p:nvPr/>
        </p:nvSpPr>
        <p:spPr>
          <a:xfrm>
            <a:off x="495808" y="711200"/>
            <a:ext cx="10883392" cy="256480"/>
          </a:xfrm>
          <a:prstGeom prst="rect">
            <a:avLst/>
          </a:prstGeom>
          <a:noFill/>
          <a:ln/>
        </p:spPr>
        <p:txBody>
          <a:bodyPr wrap="square" lIns="0" tIns="0" rIns="0" bIns="0" rtlCol="0" anchor="t">
            <a:normAutofit/>
          </a:bodyPr>
          <a:lstStyle/>
          <a:p>
            <a:pPr algn="r" indent="0" marL="0">
              <a:lnSpc>
                <a:spcPts val="1820"/>
              </a:lnSpc>
              <a:buNone/>
            </a:pPr>
            <a:r>
              <a:rPr lang="en-US" sz="1300" b="1" spc="100" kern="0" dirty="0">
                <a:solidFill>
                  <a:srgbClr val="2F6FA8"/>
                </a:solidFill>
                <a:latin typeface="IBM Plex Sans Arabic" pitchFamily="34" charset="0"/>
                <a:ea typeface="IBM Plex Sans Arabic" pitchFamily="34" charset="-122"/>
                <a:cs typeface="IBM Plex Sans Arabic" pitchFamily="34" charset="-120"/>
              </a:rPr>
              <a:t>أربع محاولات</a:t>
            </a:r>
            <a:endParaRPr lang="en-US" sz="1300" dirty="0"/>
          </a:p>
        </p:txBody>
      </p:sp>
      <p:sp>
        <p:nvSpPr>
          <p:cNvPr id="3" name="Text 1"/>
          <p:cNvSpPr/>
          <p:nvPr/>
        </p:nvSpPr>
        <p:spPr>
          <a:xfrm>
            <a:off x="495808" y="1005780"/>
            <a:ext cx="10883392" cy="463550"/>
          </a:xfrm>
          <a:prstGeom prst="rect">
            <a:avLst/>
          </a:prstGeom>
          <a:noFill/>
          <a:ln/>
        </p:spPr>
        <p:txBody>
          <a:bodyPr wrap="square" lIns="0" tIns="0" rIns="0" bIns="0" rtlCol="0" anchor="t">
            <a:normAutofit/>
          </a:bodyPr>
          <a:lstStyle/>
          <a:p>
            <a:pPr algn="r" indent="0" marL="0">
              <a:lnSpc>
                <a:spcPts val="3450"/>
              </a:lnSpc>
              <a:buNone/>
            </a:pPr>
            <a:r>
              <a:rPr lang="en-US" sz="3000" b="1" dirty="0">
                <a:solidFill>
                  <a:srgbClr val="16202B"/>
                </a:solidFill>
                <a:latin typeface="IBM Plex Sans Arabic" pitchFamily="34" charset="0"/>
                <a:ea typeface="IBM Plex Sans Arabic" pitchFamily="34" charset="-122"/>
                <a:cs typeface="IBM Plex Sans Arabic" pitchFamily="34" charset="-120"/>
              </a:rPr>
              <a:t>جرّبنا أربع طرق لإجهاد المحرّك — نجحت واحدة</a:t>
            </a:r>
            <a:endParaRPr lang="en-US" sz="3000" dirty="0"/>
          </a:p>
        </p:txBody>
      </p:sp>
      <p:sp>
        <p:nvSpPr>
          <p:cNvPr id="4" name="Shape 2"/>
          <p:cNvSpPr/>
          <p:nvPr/>
        </p:nvSpPr>
        <p:spPr>
          <a:xfrm>
            <a:off x="815975" y="1688405"/>
            <a:ext cx="10560050" cy="924520"/>
          </a:xfrm>
          <a:prstGeom prst="roundRect">
            <a:avLst>
              <a:gd name="adj" fmla="val 9272"/>
            </a:avLst>
          </a:prstGeom>
          <a:solidFill>
            <a:srgbClr val="FFFFFF"/>
          </a:solidFill>
          <a:ln w="6350">
            <a:solidFill>
              <a:srgbClr val="D4DCE3"/>
            </a:solidFill>
            <a:prstDash val="solid"/>
          </a:ln>
        </p:spPr>
      </p:sp>
      <p:sp>
        <p:nvSpPr>
          <p:cNvPr id="5" name="Text 3"/>
          <p:cNvSpPr/>
          <p:nvPr/>
        </p:nvSpPr>
        <p:spPr>
          <a:xfrm>
            <a:off x="1060450" y="1897955"/>
            <a:ext cx="3387161"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BD3F2C"/>
                </a:solidFill>
                <a:latin typeface="IBM Plex Sans Arabic" pitchFamily="34" charset="0"/>
                <a:ea typeface="IBM Plex Sans Arabic" pitchFamily="34" charset="-122"/>
                <a:cs typeface="IBM Plex Sans Arabic" pitchFamily="34" charset="-120"/>
              </a:rPr>
              <a:t>فشلت — والعكس صحيح</a:t>
            </a:r>
            <a:endParaRPr lang="en-US" sz="1500" dirty="0"/>
          </a:p>
        </p:txBody>
      </p:sp>
      <p:sp>
        <p:nvSpPr>
          <p:cNvPr id="6" name="Text 4"/>
          <p:cNvSpPr/>
          <p:nvPr/>
        </p:nvSpPr>
        <p:spPr>
          <a:xfrm>
            <a:off x="1060450" y="2190055"/>
            <a:ext cx="33871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6A62"/>
                </a:solidFill>
                <a:latin typeface="IBM Plex Sans Arabic" pitchFamily="34" charset="0"/>
                <a:ea typeface="IBM Plex Sans Arabic" pitchFamily="34" charset="-122"/>
                <a:cs typeface="IBM Plex Sans Arabic" pitchFamily="34" charset="-120"/>
              </a:rPr>
              <a:t>كلّما تسارع التغيّر ساءت النتيجة</a:t>
            </a:r>
            <a:endParaRPr lang="en-US" sz="1200" dirty="0"/>
          </a:p>
        </p:txBody>
      </p:sp>
      <p:sp>
        <p:nvSpPr>
          <p:cNvPr id="7" name="Text 5"/>
          <p:cNvSpPr/>
          <p:nvPr/>
        </p:nvSpPr>
        <p:spPr>
          <a:xfrm>
            <a:off x="4145478" y="1882080"/>
            <a:ext cx="6986072" cy="284460"/>
          </a:xfrm>
          <a:prstGeom prst="rect">
            <a:avLst/>
          </a:prstGeom>
          <a:noFill/>
          <a:ln/>
        </p:spPr>
        <p:txBody>
          <a:bodyPr wrap="square" lIns="0" tIns="0" rIns="0" bIns="0" rtlCol="0" anchor="t">
            <a:normAutofit/>
          </a:bodyPr>
          <a:lstStyle/>
          <a:p>
            <a:pPr algn="r" indent="0" marL="0">
              <a:lnSpc>
                <a:spcPts val="2040"/>
              </a:lnSpc>
              <a:buNone/>
            </a:pPr>
            <a:r>
              <a:rPr lang="en-US" sz="1700" b="1" dirty="0">
                <a:solidFill>
                  <a:srgbClr val="16202B"/>
                </a:solidFill>
                <a:latin typeface="IBM Plex Sans Arabic" pitchFamily="34" charset="0"/>
                <a:ea typeface="IBM Plex Sans Arabic" pitchFamily="34" charset="-122"/>
                <a:cs typeface="IBM Plex Sans Arabic" pitchFamily="34" charset="-120"/>
              </a:rPr>
              <a:t>طريق متموّج — صعود ونزول متكرّر</a:t>
            </a:r>
            <a:endParaRPr lang="en-US" sz="1700" dirty="0"/>
          </a:p>
        </p:txBody>
      </p:sp>
      <p:sp>
        <p:nvSpPr>
          <p:cNvPr id="8" name="Text 6"/>
          <p:cNvSpPr/>
          <p:nvPr/>
        </p:nvSpPr>
        <p:spPr>
          <a:xfrm>
            <a:off x="4145478" y="2179241"/>
            <a:ext cx="6986072" cy="265410"/>
          </a:xfrm>
          <a:prstGeom prst="rect">
            <a:avLst/>
          </a:prstGeom>
          <a:noFill/>
          <a:ln/>
        </p:spPr>
        <p:txBody>
          <a:bodyPr wrap="square" lIns="0" tIns="0" rIns="0" bIns="0" rtlCol="0" anchor="t">
            <a:normAutofit/>
          </a:bodyPr>
          <a:lstStyle/>
          <a:p>
            <a:pPr algn="r" indent="0" marL="0">
              <a:lnSpc>
                <a:spcPts val="1890"/>
              </a:lnSpc>
              <a:buNone/>
            </a:pPr>
            <a:r>
              <a:rPr lang="en-US" sz="1350" dirty="0">
                <a:solidFill>
                  <a:srgbClr val="5D6E7D"/>
                </a:solidFill>
                <a:latin typeface="IBM Plex Sans Arabic" pitchFamily="34" charset="0"/>
                <a:ea typeface="IBM Plex Sans Arabic" pitchFamily="34" charset="-122"/>
                <a:cs typeface="IBM Plex Sans Arabic" pitchFamily="34" charset="-120"/>
              </a:rPr>
              <a:t>الفرضيّة: الاستشراف يستفيد أكثر كلّما تغيّر الطريق</a:t>
            </a:r>
            <a:endParaRPr lang="en-US" sz="1350" dirty="0"/>
          </a:p>
        </p:txBody>
      </p:sp>
      <p:sp>
        <p:nvSpPr>
          <p:cNvPr id="9" name="Shape 7"/>
          <p:cNvSpPr/>
          <p:nvPr/>
        </p:nvSpPr>
        <p:spPr>
          <a:xfrm>
            <a:off x="815975" y="2746276"/>
            <a:ext cx="10560050" cy="924520"/>
          </a:xfrm>
          <a:prstGeom prst="roundRect">
            <a:avLst>
              <a:gd name="adj" fmla="val 9272"/>
            </a:avLst>
          </a:prstGeom>
          <a:solidFill>
            <a:srgbClr val="FFFFFF"/>
          </a:solidFill>
          <a:ln w="6350">
            <a:solidFill>
              <a:srgbClr val="D4DCE3"/>
            </a:solidFill>
            <a:prstDash val="solid"/>
          </a:ln>
        </p:spPr>
      </p:sp>
      <p:sp>
        <p:nvSpPr>
          <p:cNvPr id="10" name="Text 8"/>
          <p:cNvSpPr/>
          <p:nvPr/>
        </p:nvSpPr>
        <p:spPr>
          <a:xfrm>
            <a:off x="1060450" y="2955826"/>
            <a:ext cx="3387161"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BD3F2C"/>
                </a:solidFill>
                <a:latin typeface="IBM Plex Sans Arabic" pitchFamily="34" charset="0"/>
                <a:ea typeface="IBM Plex Sans Arabic" pitchFamily="34" charset="-122"/>
                <a:cs typeface="IBM Plex Sans Arabic" pitchFamily="34" charset="-120"/>
              </a:rPr>
              <a:t>فشل</a:t>
            </a:r>
            <a:endParaRPr lang="en-US" sz="1500" dirty="0"/>
          </a:p>
        </p:txBody>
      </p:sp>
      <p:sp>
        <p:nvSpPr>
          <p:cNvPr id="11" name="Text 9"/>
          <p:cNvSpPr/>
          <p:nvPr/>
        </p:nvSpPr>
        <p:spPr>
          <a:xfrm>
            <a:off x="1060450" y="3247926"/>
            <a:ext cx="33871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6A62"/>
                </a:solidFill>
                <a:latin typeface="IBM Plex Sans Arabic" pitchFamily="34" charset="0"/>
                <a:ea typeface="IBM Plex Sans Arabic" pitchFamily="34" charset="-122"/>
                <a:cs typeface="IBM Plex Sans Arabic" pitchFamily="34" charset="-120"/>
              </a:rPr>
              <a:t>ناقص 94 درجة حتّى بطنّين مقطورة</a:t>
            </a:r>
            <a:endParaRPr lang="en-US" sz="1200" dirty="0"/>
          </a:p>
        </p:txBody>
      </p:sp>
      <p:sp>
        <p:nvSpPr>
          <p:cNvPr id="12" name="Text 10"/>
          <p:cNvSpPr/>
          <p:nvPr/>
        </p:nvSpPr>
        <p:spPr>
          <a:xfrm>
            <a:off x="4145478" y="2939951"/>
            <a:ext cx="6986072" cy="284460"/>
          </a:xfrm>
          <a:prstGeom prst="rect">
            <a:avLst/>
          </a:prstGeom>
          <a:noFill/>
          <a:ln/>
        </p:spPr>
        <p:txBody>
          <a:bodyPr wrap="square" lIns="0" tIns="0" rIns="0" bIns="0" rtlCol="0" anchor="t">
            <a:normAutofit/>
          </a:bodyPr>
          <a:lstStyle/>
          <a:p>
            <a:pPr algn="r" indent="0" marL="0">
              <a:lnSpc>
                <a:spcPts val="2040"/>
              </a:lnSpc>
              <a:buNone/>
            </a:pPr>
            <a:r>
              <a:rPr lang="en-US" sz="1700" b="1" dirty="0">
                <a:solidFill>
                  <a:srgbClr val="16202B"/>
                </a:solidFill>
                <a:latin typeface="IBM Plex Sans Arabic" pitchFamily="34" charset="0"/>
                <a:ea typeface="IBM Plex Sans Arabic" pitchFamily="34" charset="-122"/>
                <a:cs typeface="IBM Plex Sans Arabic" pitchFamily="34" charset="-120"/>
              </a:rPr>
              <a:t>معيار السحب المنشور SAE J2807</a:t>
            </a:r>
            <a:endParaRPr lang="en-US" sz="1700" dirty="0"/>
          </a:p>
        </p:txBody>
      </p:sp>
      <p:sp>
        <p:nvSpPr>
          <p:cNvPr id="13" name="Text 11"/>
          <p:cNvSpPr/>
          <p:nvPr/>
        </p:nvSpPr>
        <p:spPr>
          <a:xfrm>
            <a:off x="4145478" y="3237111"/>
            <a:ext cx="6986072" cy="265410"/>
          </a:xfrm>
          <a:prstGeom prst="rect">
            <a:avLst/>
          </a:prstGeom>
          <a:noFill/>
          <a:ln/>
        </p:spPr>
        <p:txBody>
          <a:bodyPr wrap="square" lIns="0" tIns="0" rIns="0" bIns="0" rtlCol="0" anchor="t">
            <a:normAutofit/>
          </a:bodyPr>
          <a:lstStyle/>
          <a:p>
            <a:pPr algn="r" indent="0" marL="0">
              <a:lnSpc>
                <a:spcPts val="1890"/>
              </a:lnSpc>
              <a:buNone/>
            </a:pPr>
            <a:r>
              <a:rPr lang="en-US" sz="1350" dirty="0">
                <a:solidFill>
                  <a:srgbClr val="5D6E7D"/>
                </a:solidFill>
                <a:latin typeface="IBM Plex Sans Arabic" pitchFamily="34" charset="0"/>
                <a:ea typeface="IBM Plex Sans Arabic" pitchFamily="34" charset="-122"/>
                <a:cs typeface="IBM Plex Sans Arabic" pitchFamily="34" charset="-120"/>
              </a:rPr>
              <a:t>الفرضيّة: معيار عالميّ مكتوب أصلاً لإجهاد المحرّكات</a:t>
            </a:r>
            <a:endParaRPr lang="en-US" sz="1350" dirty="0"/>
          </a:p>
        </p:txBody>
      </p:sp>
      <p:sp>
        <p:nvSpPr>
          <p:cNvPr id="14" name="Shape 12"/>
          <p:cNvSpPr/>
          <p:nvPr/>
        </p:nvSpPr>
        <p:spPr>
          <a:xfrm>
            <a:off x="815975" y="3804146"/>
            <a:ext cx="10560050" cy="924520"/>
          </a:xfrm>
          <a:prstGeom prst="roundRect">
            <a:avLst>
              <a:gd name="adj" fmla="val 9272"/>
            </a:avLst>
          </a:prstGeom>
          <a:solidFill>
            <a:srgbClr val="FFFFFF"/>
          </a:solidFill>
          <a:ln w="6350">
            <a:solidFill>
              <a:srgbClr val="D4DCE3"/>
            </a:solidFill>
            <a:prstDash val="solid"/>
          </a:ln>
        </p:spPr>
      </p:sp>
      <p:sp>
        <p:nvSpPr>
          <p:cNvPr id="15" name="Text 13"/>
          <p:cNvSpPr/>
          <p:nvPr/>
        </p:nvSpPr>
        <p:spPr>
          <a:xfrm>
            <a:off x="1060450" y="4013696"/>
            <a:ext cx="3387161"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C8841F"/>
                </a:solidFill>
                <a:latin typeface="IBM Plex Sans Arabic" pitchFamily="34" charset="0"/>
                <a:ea typeface="IBM Plex Sans Arabic" pitchFamily="34" charset="-122"/>
                <a:cs typeface="IBM Plex Sans Arabic" pitchFamily="34" charset="-120"/>
              </a:rPr>
              <a:t>لم تبلغ الحدّ</a:t>
            </a:r>
            <a:endParaRPr lang="en-US" sz="1500" dirty="0"/>
          </a:p>
        </p:txBody>
      </p:sp>
      <p:sp>
        <p:nvSpPr>
          <p:cNvPr id="16" name="Text 14"/>
          <p:cNvSpPr/>
          <p:nvPr/>
        </p:nvSpPr>
        <p:spPr>
          <a:xfrm>
            <a:off x="1060450" y="4305796"/>
            <a:ext cx="33871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5E"/>
                </a:solidFill>
                <a:latin typeface="IBM Plex Sans Arabic" pitchFamily="34" charset="0"/>
                <a:ea typeface="IBM Plex Sans Arabic" pitchFamily="34" charset="-122"/>
                <a:cs typeface="IBM Plex Sans Arabic" pitchFamily="34" charset="-120"/>
              </a:rPr>
              <a:t>لكنّها أعطتنا ثلاثة أشياء</a:t>
            </a:r>
            <a:endParaRPr lang="en-US" sz="1200" dirty="0"/>
          </a:p>
        </p:txBody>
      </p:sp>
      <p:sp>
        <p:nvSpPr>
          <p:cNvPr id="17" name="Text 15"/>
          <p:cNvSpPr/>
          <p:nvPr/>
        </p:nvSpPr>
        <p:spPr>
          <a:xfrm>
            <a:off x="4145478" y="3997821"/>
            <a:ext cx="6986072" cy="284460"/>
          </a:xfrm>
          <a:prstGeom prst="rect">
            <a:avLst/>
          </a:prstGeom>
          <a:noFill/>
          <a:ln/>
        </p:spPr>
        <p:txBody>
          <a:bodyPr wrap="square" lIns="0" tIns="0" rIns="0" bIns="0" rtlCol="0" anchor="t">
            <a:normAutofit/>
          </a:bodyPr>
          <a:lstStyle/>
          <a:p>
            <a:pPr algn="r" indent="0" marL="0">
              <a:lnSpc>
                <a:spcPts val="2040"/>
              </a:lnSpc>
              <a:buNone/>
            </a:pPr>
            <a:r>
              <a:rPr lang="en-US" sz="1700" b="1" dirty="0">
                <a:solidFill>
                  <a:srgbClr val="16202B"/>
                </a:solidFill>
                <a:latin typeface="IBM Plex Sans Arabic" pitchFamily="34" charset="0"/>
                <a:ea typeface="IBM Plex Sans Arabic" pitchFamily="34" charset="-122"/>
                <a:cs typeface="IBM Plex Sans Arabic" pitchFamily="34" charset="-120"/>
              </a:rPr>
              <a:t>رحلة حقيقيّة إلى الطائف — ساعتان جبل</a:t>
            </a:r>
            <a:endParaRPr lang="en-US" sz="1700" dirty="0"/>
          </a:p>
        </p:txBody>
      </p:sp>
      <p:sp>
        <p:nvSpPr>
          <p:cNvPr id="18" name="Text 16"/>
          <p:cNvSpPr/>
          <p:nvPr/>
        </p:nvSpPr>
        <p:spPr>
          <a:xfrm>
            <a:off x="4145478" y="4294981"/>
            <a:ext cx="6986072" cy="265410"/>
          </a:xfrm>
          <a:prstGeom prst="rect">
            <a:avLst/>
          </a:prstGeom>
          <a:noFill/>
          <a:ln/>
        </p:spPr>
        <p:txBody>
          <a:bodyPr wrap="square" lIns="0" tIns="0" rIns="0" bIns="0" rtlCol="0" anchor="t">
            <a:normAutofit/>
          </a:bodyPr>
          <a:lstStyle/>
          <a:p>
            <a:pPr algn="r" indent="0" marL="0">
              <a:lnSpc>
                <a:spcPts val="1890"/>
              </a:lnSpc>
              <a:buNone/>
            </a:pPr>
            <a:r>
              <a:rPr lang="en-US" sz="1350" dirty="0">
                <a:solidFill>
                  <a:srgbClr val="5D6E7D"/>
                </a:solidFill>
                <a:latin typeface="IBM Plex Sans Arabic" pitchFamily="34" charset="0"/>
                <a:ea typeface="IBM Plex Sans Arabic" pitchFamily="34" charset="-122"/>
                <a:cs typeface="IBM Plex Sans Arabic" pitchFamily="34" charset="-120"/>
              </a:rPr>
              <a:t>الفرضيّة: صعود جبليّ حقيقيّ يكفي لبلوغ الحدّ</a:t>
            </a:r>
            <a:endParaRPr lang="en-US" sz="1350" dirty="0"/>
          </a:p>
        </p:txBody>
      </p:sp>
      <p:sp>
        <p:nvSpPr>
          <p:cNvPr id="19" name="Shape 17"/>
          <p:cNvSpPr/>
          <p:nvPr/>
        </p:nvSpPr>
        <p:spPr>
          <a:xfrm>
            <a:off x="815975" y="4862016"/>
            <a:ext cx="10560050" cy="928291"/>
          </a:xfrm>
          <a:prstGeom prst="roundRect">
            <a:avLst>
              <a:gd name="adj" fmla="val 9235"/>
            </a:avLst>
          </a:prstGeom>
          <a:solidFill>
            <a:srgbClr val="FFFFFF"/>
          </a:solidFill>
          <a:ln w="6350">
            <a:solidFill>
              <a:srgbClr val="9CC4E4"/>
            </a:solidFill>
            <a:prstDash val="solid"/>
          </a:ln>
        </p:spPr>
      </p:sp>
      <p:sp>
        <p:nvSpPr>
          <p:cNvPr id="20" name="Text 18"/>
          <p:cNvSpPr/>
          <p:nvPr/>
        </p:nvSpPr>
        <p:spPr>
          <a:xfrm>
            <a:off x="1060450" y="5055691"/>
            <a:ext cx="3387161"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2F6FA8"/>
                </a:solidFill>
                <a:latin typeface="IBM Plex Sans Arabic" pitchFamily="34" charset="0"/>
                <a:ea typeface="IBM Plex Sans Arabic" pitchFamily="34" charset="-122"/>
                <a:cs typeface="IBM Plex Sans Arabic" pitchFamily="34" charset="-120"/>
              </a:rPr>
              <a:t>نجح</a:t>
            </a:r>
            <a:endParaRPr lang="en-US" sz="1700" dirty="0"/>
          </a:p>
        </p:txBody>
      </p:sp>
      <p:sp>
        <p:nvSpPr>
          <p:cNvPr id="21" name="Text 19"/>
          <p:cNvSpPr/>
          <p:nvPr/>
        </p:nvSpPr>
        <p:spPr>
          <a:xfrm>
            <a:off x="1060450" y="5383312"/>
            <a:ext cx="33871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8CAE"/>
                </a:solidFill>
                <a:latin typeface="IBM Plex Sans Arabic" pitchFamily="34" charset="0"/>
                <a:ea typeface="IBM Plex Sans Arabic" pitchFamily="34" charset="-122"/>
                <a:cs typeface="IBM Plex Sans Arabic" pitchFamily="34" charset="-120"/>
              </a:rPr>
              <a:t>تجاوز الحدّ بـ 34 درجة</a:t>
            </a:r>
            <a:endParaRPr lang="en-US" sz="1200" dirty="0"/>
          </a:p>
        </p:txBody>
      </p:sp>
      <p:sp>
        <p:nvSpPr>
          <p:cNvPr id="22" name="Text 20"/>
          <p:cNvSpPr/>
          <p:nvPr/>
        </p:nvSpPr>
        <p:spPr>
          <a:xfrm>
            <a:off x="4145478" y="5057577"/>
            <a:ext cx="6986072" cy="284460"/>
          </a:xfrm>
          <a:prstGeom prst="rect">
            <a:avLst/>
          </a:prstGeom>
          <a:noFill/>
          <a:ln/>
        </p:spPr>
        <p:txBody>
          <a:bodyPr wrap="square" lIns="0" tIns="0" rIns="0" bIns="0" rtlCol="0" anchor="t">
            <a:normAutofit/>
          </a:bodyPr>
          <a:lstStyle/>
          <a:p>
            <a:pPr algn="r" indent="0" marL="0">
              <a:lnSpc>
                <a:spcPts val="2040"/>
              </a:lnSpc>
              <a:buNone/>
            </a:pPr>
            <a:r>
              <a:rPr lang="en-US" sz="1700" b="1" dirty="0">
                <a:solidFill>
                  <a:srgbClr val="16202B"/>
                </a:solidFill>
                <a:latin typeface="IBM Plex Sans Arabic" pitchFamily="34" charset="0"/>
                <a:ea typeface="IBM Plex Sans Arabic" pitchFamily="34" charset="-122"/>
                <a:cs typeface="IBM Plex Sans Arabic" pitchFamily="34" charset="-120"/>
              </a:rPr>
              <a:t>صعود محسوب من مظروف مقيس — 12 % عند 130 كم/س</a:t>
            </a:r>
            <a:endParaRPr lang="en-US" sz="1700" dirty="0"/>
          </a:p>
        </p:txBody>
      </p:sp>
      <p:sp>
        <p:nvSpPr>
          <p:cNvPr id="23" name="Text 21"/>
          <p:cNvSpPr/>
          <p:nvPr/>
        </p:nvSpPr>
        <p:spPr>
          <a:xfrm>
            <a:off x="4145478" y="5354737"/>
            <a:ext cx="6986072" cy="265410"/>
          </a:xfrm>
          <a:prstGeom prst="rect">
            <a:avLst/>
          </a:prstGeom>
          <a:noFill/>
          <a:ln/>
        </p:spPr>
        <p:txBody>
          <a:bodyPr wrap="square" lIns="0" tIns="0" rIns="0" bIns="0" rtlCol="0" anchor="t">
            <a:normAutofit/>
          </a:bodyPr>
          <a:lstStyle/>
          <a:p>
            <a:pPr algn="r" indent="0" marL="0">
              <a:lnSpc>
                <a:spcPts val="1890"/>
              </a:lnSpc>
              <a:buNone/>
            </a:pPr>
            <a:r>
              <a:rPr lang="en-US" sz="1350" dirty="0">
                <a:solidFill>
                  <a:srgbClr val="5D6E7D"/>
                </a:solidFill>
                <a:latin typeface="IBM Plex Sans Arabic" pitchFamily="34" charset="0"/>
                <a:ea typeface="IBM Plex Sans Arabic" pitchFamily="34" charset="-122"/>
                <a:cs typeface="IBM Plex Sans Arabic" pitchFamily="34" charset="-120"/>
              </a:rPr>
              <a:t>لم نخمّنه: قِسنا ثماني تركيبات ميل × سرعة واخترنا من الجدول</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95808" y="711200"/>
            <a:ext cx="10883392" cy="256480"/>
          </a:xfrm>
          <a:prstGeom prst="rect">
            <a:avLst/>
          </a:prstGeom>
          <a:noFill/>
          <a:ln/>
        </p:spPr>
        <p:txBody>
          <a:bodyPr wrap="square" lIns="0" tIns="0" rIns="0" bIns="0" rtlCol="0" anchor="t">
            <a:normAutofit/>
          </a:bodyPr>
          <a:lstStyle/>
          <a:p>
            <a:pPr algn="r" indent="0" marL="0">
              <a:lnSpc>
                <a:spcPts val="1820"/>
              </a:lnSpc>
              <a:buNone/>
            </a:pPr>
            <a:r>
              <a:rPr lang="en-US" sz="1300" b="1" spc="100" kern="0" dirty="0">
                <a:solidFill>
                  <a:srgbClr val="BD3F2C"/>
                </a:solidFill>
                <a:latin typeface="IBM Plex Sans Arabic" pitchFamily="34" charset="0"/>
                <a:ea typeface="IBM Plex Sans Arabic" pitchFamily="34" charset="-122"/>
                <a:cs typeface="IBM Plex Sans Arabic" pitchFamily="34" charset="-120"/>
              </a:rPr>
              <a:t>نتيجة سالبة · 1</a:t>
            </a:r>
            <a:endParaRPr lang="en-US" sz="1300" dirty="0"/>
          </a:p>
        </p:txBody>
      </p:sp>
      <p:sp>
        <p:nvSpPr>
          <p:cNvPr id="3" name="Text 1"/>
          <p:cNvSpPr/>
          <p:nvPr/>
        </p:nvSpPr>
        <p:spPr>
          <a:xfrm>
            <a:off x="495808" y="1005780"/>
            <a:ext cx="10883392" cy="463550"/>
          </a:xfrm>
          <a:prstGeom prst="rect">
            <a:avLst/>
          </a:prstGeom>
          <a:noFill/>
          <a:ln/>
        </p:spPr>
        <p:txBody>
          <a:bodyPr wrap="square" lIns="0" tIns="0" rIns="0" bIns="0" rtlCol="0" anchor="t">
            <a:normAutofit/>
          </a:bodyPr>
          <a:lstStyle/>
          <a:p>
            <a:pPr algn="r" indent="0" marL="0">
              <a:lnSpc>
                <a:spcPts val="3450"/>
              </a:lnSpc>
              <a:buNone/>
            </a:pPr>
            <a:r>
              <a:rPr lang="en-US" sz="3000" b="1" dirty="0">
                <a:solidFill>
                  <a:srgbClr val="16202B"/>
                </a:solidFill>
                <a:latin typeface="IBM Plex Sans Arabic" pitchFamily="34" charset="0"/>
                <a:ea typeface="IBM Plex Sans Arabic" pitchFamily="34" charset="-122"/>
                <a:cs typeface="IBM Plex Sans Arabic" pitchFamily="34" charset="-120"/>
              </a:rPr>
              <a:t>معيار السحب العالميّ لم يُجهِد السيارة</a:t>
            </a:r>
            <a:endParaRPr lang="en-US" sz="3000" dirty="0"/>
          </a:p>
        </p:txBody>
      </p:sp>
      <p:sp>
        <p:nvSpPr>
          <p:cNvPr id="4" name="Shape 2"/>
          <p:cNvSpPr/>
          <p:nvPr/>
        </p:nvSpPr>
        <p:spPr>
          <a:xfrm>
            <a:off x="815975" y="1688405"/>
            <a:ext cx="5226546" cy="3320355"/>
          </a:xfrm>
          <a:prstGeom prst="roundRect">
            <a:avLst>
              <a:gd name="adj" fmla="val 2964"/>
            </a:avLst>
          </a:prstGeom>
          <a:solidFill>
            <a:srgbClr val="FDF2EF"/>
          </a:solidFill>
          <a:ln w="6350">
            <a:solidFill>
              <a:srgbClr val="E8C4BA"/>
            </a:solidFill>
            <a:prstDash val="solid"/>
          </a:ln>
        </p:spPr>
      </p:sp>
      <p:sp>
        <p:nvSpPr>
          <p:cNvPr id="5" name="Text 3"/>
          <p:cNvSpPr/>
          <p:nvPr/>
        </p:nvSpPr>
        <p:spPr>
          <a:xfrm>
            <a:off x="931784" y="1920180"/>
            <a:ext cx="4853562" cy="265410"/>
          </a:xfrm>
          <a:prstGeom prst="rect">
            <a:avLst/>
          </a:prstGeom>
          <a:noFill/>
          <a:ln/>
        </p:spPr>
        <p:txBody>
          <a:bodyPr wrap="square" lIns="0" tIns="0" rIns="0" bIns="0" rtlCol="0" anchor="t">
            <a:normAutofit/>
          </a:bodyPr>
          <a:lstStyle/>
          <a:p>
            <a:pPr algn="r" indent="0" marL="0">
              <a:lnSpc>
                <a:spcPts val="1890"/>
              </a:lnSpc>
              <a:buNone/>
            </a:pPr>
            <a:r>
              <a:rPr lang="en-US" sz="1350" b="1" dirty="0">
                <a:solidFill>
                  <a:srgbClr val="BD3F2C"/>
                </a:solidFill>
                <a:latin typeface="IBM Plex Sans Arabic" pitchFamily="34" charset="0"/>
                <a:ea typeface="IBM Plex Sans Arabic" pitchFamily="34" charset="-122"/>
                <a:cs typeface="IBM Plex Sans Arabic" pitchFamily="34" charset="-120"/>
              </a:rPr>
              <a:t>لماذا فشل — وهذا أهمّ من الفشل نفسه</a:t>
            </a:r>
            <a:endParaRPr lang="en-US" sz="1350" dirty="0"/>
          </a:p>
        </p:txBody>
      </p:sp>
      <p:sp>
        <p:nvSpPr>
          <p:cNvPr id="6" name="Text 4"/>
          <p:cNvSpPr/>
          <p:nvPr/>
        </p:nvSpPr>
        <p:spPr>
          <a:xfrm>
            <a:off x="931784" y="2274491"/>
            <a:ext cx="4853562" cy="311150"/>
          </a:xfrm>
          <a:prstGeom prst="rect">
            <a:avLst/>
          </a:prstGeom>
          <a:noFill/>
          <a:ln/>
        </p:spPr>
        <p:txBody>
          <a:bodyPr wrap="square" lIns="0" tIns="0" rIns="0" bIns="0" rtlCol="0" anchor="t">
            <a:normAutofit/>
          </a:bodyPr>
          <a:lstStyle/>
          <a:p>
            <a:pPr algn="r" indent="0" marL="0">
              <a:lnSpc>
                <a:spcPts val="2250"/>
              </a:lnSpc>
              <a:buNone/>
            </a:pPr>
            <a:r>
              <a:rPr lang="en-US" sz="1500" dirty="0">
                <a:solidFill>
                  <a:srgbClr val="16202B"/>
                </a:solidFill>
                <a:latin typeface="IBM Plex Sans Arabic" pitchFamily="34" charset="0"/>
                <a:ea typeface="IBM Plex Sans Arabic" pitchFamily="34" charset="-122"/>
                <a:cs typeface="IBM Plex Sans Arabic" pitchFamily="34" charset="-120"/>
              </a:rPr>
              <a:t>مقارنة صفّين يفصل بينهما كلّ شيء:</a:t>
            </a:r>
            <a:endParaRPr lang="en-US" sz="1500" dirty="0"/>
          </a:p>
        </p:txBody>
      </p:sp>
      <p:sp>
        <p:nvSpPr>
          <p:cNvPr id="7" name="Text 5"/>
          <p:cNvSpPr/>
          <p:nvPr/>
        </p:nvSpPr>
        <p:spPr>
          <a:xfrm>
            <a:off x="931784" y="2674541"/>
            <a:ext cx="4853562" cy="265410"/>
          </a:xfrm>
          <a:prstGeom prst="rect">
            <a:avLst/>
          </a:prstGeom>
          <a:noFill/>
          <a:ln/>
        </p:spPr>
        <p:txBody>
          <a:bodyPr wrap="square" lIns="0" tIns="0" rIns="0" bIns="0" rtlCol="0" anchor="t">
            <a:normAutofit/>
          </a:bodyPr>
          <a:lstStyle/>
          <a:p>
            <a:pPr algn="r" indent="0" marL="0">
              <a:lnSpc>
                <a:spcPts val="1890"/>
              </a:lnSpc>
              <a:buNone/>
            </a:pPr>
            <a:r>
              <a:rPr lang="en-US" sz="1350" dirty="0">
                <a:solidFill>
                  <a:srgbClr val="16202B"/>
                </a:solidFill>
                <a:latin typeface="IBM Plex Mono" pitchFamily="34" charset="0"/>
                <a:ea typeface="IBM Plex Mono" pitchFamily="34" charset="-122"/>
                <a:cs typeface="IBM Plex Mono" pitchFamily="34" charset="-120"/>
              </a:rPr>
              <a:t>308 Nm → 756 °C</a:t>
            </a:r>
            <a:endParaRPr lang="en-US" sz="1350" dirty="0"/>
          </a:p>
        </p:txBody>
      </p:sp>
      <p:sp>
        <p:nvSpPr>
          <p:cNvPr id="8" name="Text 6"/>
          <p:cNvSpPr/>
          <p:nvPr/>
        </p:nvSpPr>
        <p:spPr>
          <a:xfrm>
            <a:off x="931784" y="2965351"/>
            <a:ext cx="4853562" cy="265410"/>
          </a:xfrm>
          <a:prstGeom prst="rect">
            <a:avLst/>
          </a:prstGeom>
          <a:noFill/>
          <a:ln/>
        </p:spPr>
        <p:txBody>
          <a:bodyPr wrap="square" lIns="0" tIns="0" rIns="0" bIns="0" rtlCol="0" anchor="t">
            <a:normAutofit/>
          </a:bodyPr>
          <a:lstStyle/>
          <a:p>
            <a:pPr algn="r" indent="0" marL="0">
              <a:lnSpc>
                <a:spcPts val="1890"/>
              </a:lnSpc>
              <a:buNone/>
            </a:pPr>
            <a:r>
              <a:rPr lang="en-US" sz="1350" dirty="0">
                <a:solidFill>
                  <a:srgbClr val="16202B"/>
                </a:solidFill>
                <a:latin typeface="IBM Plex Mono" pitchFamily="34" charset="0"/>
                <a:ea typeface="IBM Plex Mono" pitchFamily="34" charset="-122"/>
                <a:cs typeface="IBM Plex Mono" pitchFamily="34" charset="-120"/>
              </a:rPr>
              <a:t>297 Nm → 812 °C</a:t>
            </a:r>
            <a:endParaRPr lang="en-US" sz="1350" dirty="0"/>
          </a:p>
        </p:txBody>
      </p:sp>
      <p:sp>
        <p:nvSpPr>
          <p:cNvPr id="9" name="Text 7"/>
          <p:cNvSpPr/>
          <p:nvPr/>
        </p:nvSpPr>
        <p:spPr>
          <a:xfrm>
            <a:off x="931784" y="3319661"/>
            <a:ext cx="4853562" cy="854075"/>
          </a:xfrm>
          <a:prstGeom prst="rect">
            <a:avLst/>
          </a:prstGeom>
          <a:noFill/>
          <a:ln/>
        </p:spPr>
        <p:txBody>
          <a:bodyPr wrap="square" lIns="0" tIns="0" rIns="0" bIns="0" rtlCol="0" anchor="t">
            <a:normAutofit/>
          </a:bodyPr>
          <a:lstStyle/>
          <a:p>
            <a:pPr algn="r" indent="0" marL="0">
              <a:lnSpc>
                <a:spcPts val="2175"/>
              </a:lnSpc>
              <a:buNone/>
            </a:pPr>
            <a:r>
              <a:rPr lang="en-US" sz="1450" b="1" dirty="0">
                <a:solidFill>
                  <a:srgbClr val="16202B"/>
                </a:solidFill>
                <a:latin typeface="IBM Plex Sans Arabic" pitchFamily="34" charset="0"/>
                <a:ea typeface="IBM Plex Sans Arabic" pitchFamily="34" charset="-122"/>
                <a:cs typeface="IBM Plex Sans Arabic" pitchFamily="34" charset="-120"/>
              </a:rPr>
              <a:t>عزم متقارب، وفرق 56 درجة.</a:t>
            </a:r>
            <a:r>
              <a:rPr lang="en-US" sz="1450" dirty="0">
                <a:solidFill>
                  <a:srgbClr val="16202B"/>
                </a:solidFill>
                <a:latin typeface="IBM Plex Sans Arabic" pitchFamily="34" charset="0"/>
                <a:ea typeface="IBM Plex Sans Arabic" pitchFamily="34" charset="-122"/>
                <a:cs typeface="IBM Plex Sans Arabic" pitchFamily="34" charset="-120"/>
              </a:rPr>
              <a:t> فالتوربين يسخن بـ</a:t>
            </a:r>
            <a:r>
              <a:rPr lang="en-US" sz="1450" b="1" dirty="0">
                <a:solidFill>
                  <a:srgbClr val="16202B"/>
                </a:solidFill>
                <a:latin typeface="IBM Plex Sans Arabic" pitchFamily="34" charset="0"/>
                <a:ea typeface="IBM Plex Sans Arabic" pitchFamily="34" charset="-122"/>
                <a:cs typeface="IBM Plex Sans Arabic" pitchFamily="34" charset="-120"/>
              </a:rPr>
              <a:t>تدفّق العادم</a:t>
            </a:r>
            <a:r>
              <a:rPr lang="en-US" sz="1450" dirty="0">
                <a:solidFill>
                  <a:srgbClr val="16202B"/>
                </a:solidFill>
                <a:latin typeface="IBM Plex Sans Arabic" pitchFamily="34" charset="0"/>
                <a:ea typeface="IBM Plex Sans Arabic" pitchFamily="34" charset="-122"/>
                <a:cs typeface="IBM Plex Sans Arabic" pitchFamily="34" charset="-120"/>
              </a:rPr>
              <a:t> لا بالعزم — والمعيار مكتوب لشاحنات تصعد ببطء، فالمحرّك يدور بطيئاً والتدفّق قليل.</a:t>
            </a:r>
            <a:endParaRPr lang="en-US" sz="1450" dirty="0"/>
          </a:p>
        </p:txBody>
      </p:sp>
      <p:sp>
        <p:nvSpPr>
          <p:cNvPr id="10" name="Text 8"/>
          <p:cNvSpPr/>
          <p:nvPr/>
        </p:nvSpPr>
        <p:spPr>
          <a:xfrm>
            <a:off x="931784" y="4262636"/>
            <a:ext cx="4853562" cy="539750"/>
          </a:xfrm>
          <a:prstGeom prst="rect">
            <a:avLst/>
          </a:prstGeom>
          <a:noFill/>
          <a:ln/>
        </p:spPr>
        <p:txBody>
          <a:bodyPr wrap="square" lIns="0" tIns="0" rIns="0" bIns="0" rtlCol="0" anchor="t">
            <a:normAutofit/>
          </a:bodyPr>
          <a:lstStyle/>
          <a:p>
            <a:pPr algn="r" indent="0" marL="0">
              <a:lnSpc>
                <a:spcPts val="2025"/>
              </a:lnSpc>
              <a:buNone/>
            </a:pPr>
            <a:r>
              <a:rPr lang="en-US" sz="1350" dirty="0">
                <a:solidFill>
                  <a:srgbClr val="8A6A62"/>
                </a:solidFill>
                <a:latin typeface="IBM Plex Sans Arabic" pitchFamily="34" charset="0"/>
                <a:ea typeface="IBM Plex Sans Arabic" pitchFamily="34" charset="-122"/>
                <a:cs typeface="IBM Plex Sans Arabic" pitchFamily="34" charset="-120"/>
              </a:rPr>
              <a:t>محرّك محمّل يصعد ببطء يُنتج توربيناً بارداً. ما يُسخّنه هو </a:t>
            </a:r>
            <a:r>
              <a:rPr lang="en-US" sz="1350" b="1" dirty="0">
                <a:solidFill>
                  <a:srgbClr val="8A6A62"/>
                </a:solidFill>
                <a:latin typeface="IBM Plex Sans Arabic" pitchFamily="34" charset="0"/>
                <a:ea typeface="IBM Plex Sans Arabic" pitchFamily="34" charset="-122"/>
                <a:cs typeface="IBM Plex Sans Arabic" pitchFamily="34" charset="-120"/>
              </a:rPr>
              <a:t>قدرة الطريق</a:t>
            </a:r>
            <a:r>
              <a:rPr lang="en-US" sz="1350" dirty="0">
                <a:solidFill>
                  <a:srgbClr val="8A6A62"/>
                </a:solidFill>
                <a:latin typeface="IBM Plex Sans Arabic" pitchFamily="34" charset="0"/>
                <a:ea typeface="IBM Plex Sans Arabic" pitchFamily="34" charset="-122"/>
                <a:cs typeface="IBM Plex Sans Arabic" pitchFamily="34" charset="-120"/>
              </a:rPr>
              <a:t>: ميل مضروب في سرعة.</a:t>
            </a:r>
            <a:endParaRPr lang="en-US" sz="13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274296" y="1685230"/>
          <a:ext cx="5104904" cy="1490266"/>
        </p:xfrm>
        <a:graphic>
          <a:graphicData uri="http://schemas.openxmlformats.org/drawingml/2006/table">
            <a:tbl>
              <a:tblPr/>
              <a:tblGrid>
                <a:gridCol w="1701635"/>
                <a:gridCol w="1701635"/>
                <a:gridCol w="1701635"/>
              </a:tblGrid>
              <a:tr h="372566">
                <a:tc>
                  <a:txBody>
                    <a:bodyPr/>
                    <a:lstStyle/>
                    <a:p>
                      <a:pPr algn="r" indent="0" marL="0">
                        <a:lnSpc>
                          <a:spcPts val="1890"/>
                        </a:lnSpc>
                        <a:buNone/>
                      </a:pPr>
                      <a:r>
                        <a:rPr lang="en-US" sz="1350" b="1" dirty="0">
                          <a:solidFill>
                            <a:srgbClr val="F2F4F6"/>
                          </a:solidFill>
                          <a:latin typeface="IBM Plex Sans Arabic" pitchFamily="34" charset="0"/>
                          <a:ea typeface="IBM Plex Sans Arabic" pitchFamily="34" charset="-122"/>
                          <a:cs typeface="IBM Plex Sans Arabic" pitchFamily="34" charset="-120"/>
                        </a:rPr>
                        <a:t>وزن المقطورة</a:t>
                      </a:r>
                      <a:endParaRPr lang="en-US" sz="1350" dirty="0">
                        <a:latin typeface="IBM Plex Sans Arabic" charset="0"/>
                        <a:ea typeface="IBM Plex Sans Arabic" charset="0"/>
                        <a:cs typeface="IBM Plex Sans Arabic" charset="0"/>
                      </a:endParaRPr>
                    </a:p>
                  </a:txBody>
                  <a:tcPr marL="60007" marR="60007" marT="60007" marB="60007" anchor="t">
                    <a:lnL w="12700" cap="flat" cmpd="sng" algn="ctr">
                      <a:solidFill>
                        <a:srgbClr val="CCCED0"/>
                      </a:solidFill>
                      <a:prstDash val="solid"/>
                      <a:round/>
                      <a:headEnd type="none" w="med" len="med"/>
                      <a:tailEnd type="none" w="med" len="med"/>
                    </a:lnL>
                    <a:lnR w="12700" cap="flat" cmpd="sng" algn="ctr">
                      <a:solidFill>
                        <a:srgbClr val="CCCED0"/>
                      </a:solidFill>
                      <a:prstDash val="solid"/>
                      <a:round/>
                      <a:headEnd type="none" w="med" len="med"/>
                      <a:tailEnd type="none" w="med" len="med"/>
                    </a:lnR>
                    <a:lnT w="12700" cap="flat" cmpd="sng" algn="ctr">
                      <a:solidFill>
                        <a:srgbClr val="CCCED0"/>
                      </a:solidFill>
                      <a:prstDash val="solid"/>
                      <a:round/>
                      <a:headEnd type="none" w="med" len="med"/>
                      <a:tailEnd type="none" w="med" len="med"/>
                    </a:lnT>
                    <a:lnB w="12700" cap="flat" cmpd="sng" algn="ctr">
                      <a:solidFill>
                        <a:srgbClr val="CCCED0"/>
                      </a:solidFill>
                      <a:prstDash val="solid"/>
                      <a:round/>
                      <a:headEnd type="none" w="med" len="med"/>
                      <a:tailEnd type="none" w="med" len="med"/>
                    </a:lnB>
                    <a:solidFill>
                      <a:srgbClr val="16202B"/>
                    </a:solidFill>
                  </a:tcPr>
                </a:tc>
                <a:tc>
                  <a:txBody>
                    <a:bodyPr/>
                    <a:lstStyle/>
                    <a:p>
                      <a:pPr algn="r" indent="0" marL="0">
                        <a:lnSpc>
                          <a:spcPts val="1890"/>
                        </a:lnSpc>
                        <a:buNone/>
                      </a:pPr>
                      <a:r>
                        <a:rPr lang="en-US" sz="1350" b="1" dirty="0">
                          <a:solidFill>
                            <a:srgbClr val="F2F4F6"/>
                          </a:solidFill>
                          <a:latin typeface="IBM Plex Sans Arabic" pitchFamily="34" charset="0"/>
                          <a:ea typeface="IBM Plex Sans Arabic" pitchFamily="34" charset="-122"/>
                          <a:cs typeface="IBM Plex Sans Arabic" pitchFamily="34" charset="-120"/>
                        </a:rPr>
                        <a:t>أعلى حرارة</a:t>
                      </a:r>
                      <a:endParaRPr lang="en-US" sz="1350" dirty="0">
                        <a:latin typeface="IBM Plex Sans Arabic" charset="0"/>
                        <a:ea typeface="IBM Plex Sans Arabic" charset="0"/>
                        <a:cs typeface="IBM Plex Sans Arabic" charset="0"/>
                      </a:endParaRPr>
                    </a:p>
                  </a:txBody>
                  <a:tcPr marL="60007" marR="60007" marT="60007" marB="60007" anchor="t">
                    <a:lnL w="12700" cap="flat" cmpd="sng" algn="ctr">
                      <a:solidFill>
                        <a:srgbClr val="CCCED0"/>
                      </a:solidFill>
                      <a:prstDash val="solid"/>
                      <a:round/>
                      <a:headEnd type="none" w="med" len="med"/>
                      <a:tailEnd type="none" w="med" len="med"/>
                    </a:lnL>
                    <a:lnR w="12700" cap="flat" cmpd="sng" algn="ctr">
                      <a:solidFill>
                        <a:srgbClr val="CCCED0"/>
                      </a:solidFill>
                      <a:prstDash val="solid"/>
                      <a:round/>
                      <a:headEnd type="none" w="med" len="med"/>
                      <a:tailEnd type="none" w="med" len="med"/>
                    </a:lnR>
                    <a:lnT w="12700" cap="flat" cmpd="sng" algn="ctr">
                      <a:solidFill>
                        <a:srgbClr val="CCCED0"/>
                      </a:solidFill>
                      <a:prstDash val="solid"/>
                      <a:round/>
                      <a:headEnd type="none" w="med" len="med"/>
                      <a:tailEnd type="none" w="med" len="med"/>
                    </a:lnT>
                    <a:lnB w="12700" cap="flat" cmpd="sng" algn="ctr">
                      <a:solidFill>
                        <a:srgbClr val="CCCED0"/>
                      </a:solidFill>
                      <a:prstDash val="solid"/>
                      <a:round/>
                      <a:headEnd type="none" w="med" len="med"/>
                      <a:tailEnd type="none" w="med" len="med"/>
                    </a:lnB>
                    <a:solidFill>
                      <a:srgbClr val="16202B"/>
                    </a:solidFill>
                  </a:tcPr>
                </a:tc>
                <a:tc>
                  <a:txBody>
                    <a:bodyPr/>
                    <a:lstStyle/>
                    <a:p>
                      <a:pPr algn="r" indent="0" marL="0">
                        <a:lnSpc>
                          <a:spcPts val="1890"/>
                        </a:lnSpc>
                        <a:buNone/>
                      </a:pPr>
                      <a:r>
                        <a:rPr lang="en-US" sz="1350" b="1" dirty="0">
                          <a:solidFill>
                            <a:srgbClr val="F2F4F6"/>
                          </a:solidFill>
                          <a:latin typeface="IBM Plex Sans Arabic" pitchFamily="34" charset="0"/>
                          <a:ea typeface="IBM Plex Sans Arabic" pitchFamily="34" charset="-122"/>
                          <a:cs typeface="IBM Plex Sans Arabic" pitchFamily="34" charset="-120"/>
                        </a:rPr>
                        <a:t>بعيد عن الحدّ بـ</a:t>
                      </a:r>
                      <a:endParaRPr lang="en-US" sz="1350" dirty="0">
                        <a:latin typeface="IBM Plex Sans Arabic" charset="0"/>
                        <a:ea typeface="IBM Plex Sans Arabic" charset="0"/>
                        <a:cs typeface="IBM Plex Sans Arabic" charset="0"/>
                      </a:endParaRPr>
                    </a:p>
                  </a:txBody>
                  <a:tcPr marL="60007" marR="60007" marT="60007" marB="60007" anchor="t">
                    <a:lnL w="12700" cap="flat" cmpd="sng" algn="ctr">
                      <a:solidFill>
                        <a:srgbClr val="CCCED0"/>
                      </a:solidFill>
                      <a:prstDash val="solid"/>
                      <a:round/>
                      <a:headEnd type="none" w="med" len="med"/>
                      <a:tailEnd type="none" w="med" len="med"/>
                    </a:lnL>
                    <a:lnR w="12700" cap="flat" cmpd="sng" algn="ctr">
                      <a:solidFill>
                        <a:srgbClr val="CCCED0"/>
                      </a:solidFill>
                      <a:prstDash val="solid"/>
                      <a:round/>
                      <a:headEnd type="none" w="med" len="med"/>
                      <a:tailEnd type="none" w="med" len="med"/>
                    </a:lnR>
                    <a:lnT w="12700" cap="flat" cmpd="sng" algn="ctr">
                      <a:solidFill>
                        <a:srgbClr val="CCCED0"/>
                      </a:solidFill>
                      <a:prstDash val="solid"/>
                      <a:round/>
                      <a:headEnd type="none" w="med" len="med"/>
                      <a:tailEnd type="none" w="med" len="med"/>
                    </a:lnT>
                    <a:lnB w="12700" cap="flat" cmpd="sng" algn="ctr">
                      <a:solidFill>
                        <a:srgbClr val="CCCED0"/>
                      </a:solidFill>
                      <a:prstDash val="solid"/>
                      <a:round/>
                      <a:headEnd type="none" w="med" len="med"/>
                      <a:tailEnd type="none" w="med" len="med"/>
                    </a:lnB>
                    <a:solidFill>
                      <a:srgbClr val="16202B"/>
                    </a:solidFill>
                  </a:tcPr>
                </a:tc>
              </a:tr>
              <a:tr h="372566">
                <a:tc>
                  <a:txBody>
                    <a:bodyPr/>
                    <a:lstStyle/>
                    <a:p>
                      <a:pPr algn="r" indent="0" marL="0">
                        <a:lnSpc>
                          <a:spcPts val="1890"/>
                        </a:lnSpc>
                        <a:buNone/>
                      </a:pPr>
                      <a:r>
                        <a:rPr lang="en-US" sz="1350" dirty="0">
                          <a:solidFill>
                            <a:srgbClr val="16202B"/>
                          </a:solidFill>
                          <a:latin typeface="IBM Plex Sans Arabic" pitchFamily="34" charset="0"/>
                          <a:ea typeface="IBM Plex Sans Arabic" pitchFamily="34" charset="-122"/>
                          <a:cs typeface="IBM Plex Sans Arabic" pitchFamily="34" charset="-120"/>
                        </a:rPr>
                        <a:t>بلا مقطورة</a:t>
                      </a:r>
                      <a:endParaRPr lang="en-US" sz="1350" dirty="0">
                        <a:latin typeface="IBM Plex Sans Arabic" charset="0"/>
                        <a:ea typeface="IBM Plex Sans Arabic" charset="0"/>
                        <a:cs typeface="IBM Plex Sans Arabic" charset="0"/>
                      </a:endParaRPr>
                    </a:p>
                  </a:txBody>
                  <a:tcPr marL="60007" marR="60007" marT="60007" marB="60007" anchor="t">
                    <a:lnL w="12700" cap="flat" cmpd="sng" algn="ctr">
                      <a:solidFill>
                        <a:srgbClr val="CCCED0"/>
                      </a:solidFill>
                      <a:prstDash val="solid"/>
                      <a:round/>
                      <a:headEnd type="none" w="med" len="med"/>
                      <a:tailEnd type="none" w="med" len="med"/>
                    </a:lnL>
                    <a:lnR w="12700" cap="flat" cmpd="sng" algn="ctr">
                      <a:solidFill>
                        <a:srgbClr val="CCCED0"/>
                      </a:solidFill>
                      <a:prstDash val="solid"/>
                      <a:round/>
                      <a:headEnd type="none" w="med" len="med"/>
                      <a:tailEnd type="none" w="med" len="med"/>
                    </a:lnR>
                    <a:lnT w="12700" cap="flat" cmpd="sng" algn="ctr">
                      <a:solidFill>
                        <a:srgbClr val="CCCED0"/>
                      </a:solidFill>
                      <a:prstDash val="solid"/>
                      <a:round/>
                      <a:headEnd type="none" w="med" len="med"/>
                      <a:tailEnd type="none" w="med" len="med"/>
                    </a:lnT>
                    <a:lnB w="12700" cap="flat" cmpd="sng" algn="ctr">
                      <a:solidFill>
                        <a:srgbClr val="CCCED0"/>
                      </a:solidFill>
                      <a:prstDash val="solid"/>
                      <a:round/>
                      <a:headEnd type="none" w="med" len="med"/>
                      <a:tailEnd type="none" w="med" len="med"/>
                    </a:lnB>
                  </a:tcPr>
                </a:tc>
                <a:tc>
                  <a:txBody>
                    <a:bodyPr/>
                    <a:lstStyle/>
                    <a:p>
                      <a:pPr algn="r" indent="0" marL="0">
                        <a:lnSpc>
                          <a:spcPts val="1890"/>
                        </a:lnSpc>
                        <a:buNone/>
                      </a:pPr>
                      <a:r>
                        <a:rPr lang="en-US" sz="1350" dirty="0">
                          <a:solidFill>
                            <a:srgbClr val="16202B"/>
                          </a:solidFill>
                          <a:latin typeface="IBM Plex Sans Arabic" pitchFamily="34" charset="0"/>
                          <a:ea typeface="IBM Plex Sans Arabic" pitchFamily="34" charset="-122"/>
                          <a:cs typeface="IBM Plex Sans Arabic" pitchFamily="34" charset="-120"/>
                        </a:rPr>
                        <a:t>432.4 °C</a:t>
                      </a:r>
                      <a:endParaRPr lang="en-US" sz="1350" dirty="0">
                        <a:latin typeface="IBM Plex Sans Arabic" charset="0"/>
                        <a:ea typeface="IBM Plex Sans Arabic" charset="0"/>
                        <a:cs typeface="IBM Plex Sans Arabic" charset="0"/>
                      </a:endParaRPr>
                    </a:p>
                  </a:txBody>
                  <a:tcPr marL="60007" marR="60007" marT="60007" marB="60007" anchor="t">
                    <a:lnL w="12700" cap="flat" cmpd="sng" algn="ctr">
                      <a:solidFill>
                        <a:srgbClr val="CCCED0"/>
                      </a:solidFill>
                      <a:prstDash val="solid"/>
                      <a:round/>
                      <a:headEnd type="none" w="med" len="med"/>
                      <a:tailEnd type="none" w="med" len="med"/>
                    </a:lnL>
                    <a:lnR w="12700" cap="flat" cmpd="sng" algn="ctr">
                      <a:solidFill>
                        <a:srgbClr val="CCCED0"/>
                      </a:solidFill>
                      <a:prstDash val="solid"/>
                      <a:round/>
                      <a:headEnd type="none" w="med" len="med"/>
                      <a:tailEnd type="none" w="med" len="med"/>
                    </a:lnR>
                    <a:lnT w="12700" cap="flat" cmpd="sng" algn="ctr">
                      <a:solidFill>
                        <a:srgbClr val="CCCED0"/>
                      </a:solidFill>
                      <a:prstDash val="solid"/>
                      <a:round/>
                      <a:headEnd type="none" w="med" len="med"/>
                      <a:tailEnd type="none" w="med" len="med"/>
                    </a:lnT>
                    <a:lnB w="12700" cap="flat" cmpd="sng" algn="ctr">
                      <a:solidFill>
                        <a:srgbClr val="CCCED0"/>
                      </a:solidFill>
                      <a:prstDash val="solid"/>
                      <a:round/>
                      <a:headEnd type="none" w="med" len="med"/>
                      <a:tailEnd type="none" w="med" len="med"/>
                    </a:lnB>
                  </a:tcPr>
                </a:tc>
                <a:tc>
                  <a:txBody>
                    <a:bodyPr/>
                    <a:lstStyle/>
                    <a:p>
                      <a:pPr algn="r" indent="0" marL="0">
                        <a:lnSpc>
                          <a:spcPts val="1890"/>
                        </a:lnSpc>
                        <a:buNone/>
                      </a:pPr>
                      <a:r>
                        <a:rPr lang="en-US" sz="1350" dirty="0">
                          <a:solidFill>
                            <a:srgbClr val="5D6E7D"/>
                          </a:solidFill>
                          <a:latin typeface="IBM Plex Sans Arabic" pitchFamily="34" charset="0"/>
                          <a:ea typeface="IBM Plex Sans Arabic" pitchFamily="34" charset="-122"/>
                          <a:cs typeface="IBM Plex Sans Arabic" pitchFamily="34" charset="-120"/>
                        </a:rPr>
                        <a:t>418</a:t>
                      </a:r>
                      <a:endParaRPr lang="en-US" sz="1350" dirty="0">
                        <a:latin typeface="IBM Plex Sans Arabic" charset="0"/>
                        <a:ea typeface="IBM Plex Sans Arabic" charset="0"/>
                        <a:cs typeface="IBM Plex Sans Arabic" charset="0"/>
                      </a:endParaRPr>
                    </a:p>
                  </a:txBody>
                  <a:tcPr marL="60007" marR="60007" marT="60007" marB="60007" anchor="t">
                    <a:lnL w="12700" cap="flat" cmpd="sng" algn="ctr">
                      <a:solidFill>
                        <a:srgbClr val="CCCED0"/>
                      </a:solidFill>
                      <a:prstDash val="solid"/>
                      <a:round/>
                      <a:headEnd type="none" w="med" len="med"/>
                      <a:tailEnd type="none" w="med" len="med"/>
                    </a:lnL>
                    <a:lnR w="12700" cap="flat" cmpd="sng" algn="ctr">
                      <a:solidFill>
                        <a:srgbClr val="CCCED0"/>
                      </a:solidFill>
                      <a:prstDash val="solid"/>
                      <a:round/>
                      <a:headEnd type="none" w="med" len="med"/>
                      <a:tailEnd type="none" w="med" len="med"/>
                    </a:lnR>
                    <a:lnT w="12700" cap="flat" cmpd="sng" algn="ctr">
                      <a:solidFill>
                        <a:srgbClr val="CCCED0"/>
                      </a:solidFill>
                      <a:prstDash val="solid"/>
                      <a:round/>
                      <a:headEnd type="none" w="med" len="med"/>
                      <a:tailEnd type="none" w="med" len="med"/>
                    </a:lnT>
                    <a:lnB w="12700" cap="flat" cmpd="sng" algn="ctr">
                      <a:solidFill>
                        <a:srgbClr val="CCCED0"/>
                      </a:solidFill>
                      <a:prstDash val="solid"/>
                      <a:round/>
                      <a:headEnd type="none" w="med" len="med"/>
                      <a:tailEnd type="none" w="med" len="med"/>
                    </a:lnB>
                  </a:tcPr>
                </a:tc>
              </a:tr>
              <a:tr h="372566">
                <a:tc>
                  <a:txBody>
                    <a:bodyPr/>
                    <a:lstStyle/>
                    <a:p>
                      <a:pPr algn="r" indent="0" marL="0">
                        <a:lnSpc>
                          <a:spcPts val="1890"/>
                        </a:lnSpc>
                        <a:buNone/>
                      </a:pPr>
                      <a:r>
                        <a:rPr lang="en-US" sz="1350" dirty="0">
                          <a:solidFill>
                            <a:srgbClr val="16202B"/>
                          </a:solidFill>
                          <a:latin typeface="IBM Plex Sans Arabic" pitchFamily="34" charset="0"/>
                          <a:ea typeface="IBM Plex Sans Arabic" pitchFamily="34" charset="-122"/>
                          <a:cs typeface="IBM Plex Sans Arabic" pitchFamily="34" charset="-120"/>
                        </a:rPr>
                        <a:t>طنّ واحد</a:t>
                      </a:r>
                      <a:endParaRPr lang="en-US" sz="1350" dirty="0">
                        <a:latin typeface="IBM Plex Sans Arabic" charset="0"/>
                        <a:ea typeface="IBM Plex Sans Arabic" charset="0"/>
                        <a:cs typeface="IBM Plex Sans Arabic" charset="0"/>
                      </a:endParaRPr>
                    </a:p>
                  </a:txBody>
                  <a:tcPr marL="60007" marR="60007" marT="60007" marB="60007" anchor="t">
                    <a:lnL w="12700" cap="flat" cmpd="sng" algn="ctr">
                      <a:solidFill>
                        <a:srgbClr val="CCCED0"/>
                      </a:solidFill>
                      <a:prstDash val="solid"/>
                      <a:round/>
                      <a:headEnd type="none" w="med" len="med"/>
                      <a:tailEnd type="none" w="med" len="med"/>
                    </a:lnL>
                    <a:lnR w="12700" cap="flat" cmpd="sng" algn="ctr">
                      <a:solidFill>
                        <a:srgbClr val="CCCED0"/>
                      </a:solidFill>
                      <a:prstDash val="solid"/>
                      <a:round/>
                      <a:headEnd type="none" w="med" len="med"/>
                      <a:tailEnd type="none" w="med" len="med"/>
                    </a:lnR>
                    <a:lnT w="12700" cap="flat" cmpd="sng" algn="ctr">
                      <a:solidFill>
                        <a:srgbClr val="CCCED0"/>
                      </a:solidFill>
                      <a:prstDash val="solid"/>
                      <a:round/>
                      <a:headEnd type="none" w="med" len="med"/>
                      <a:tailEnd type="none" w="med" len="med"/>
                    </a:lnT>
                    <a:lnB w="12700" cap="flat" cmpd="sng" algn="ctr">
                      <a:solidFill>
                        <a:srgbClr val="CCCED0"/>
                      </a:solidFill>
                      <a:prstDash val="solid"/>
                      <a:round/>
                      <a:headEnd type="none" w="med" len="med"/>
                      <a:tailEnd type="none" w="med" len="med"/>
                    </a:lnB>
                    <a:solidFill>
                      <a:srgbClr val="F2F4F6"/>
                    </a:solidFill>
                  </a:tcPr>
                </a:tc>
                <a:tc>
                  <a:txBody>
                    <a:bodyPr/>
                    <a:lstStyle/>
                    <a:p>
                      <a:pPr algn="r" indent="0" marL="0">
                        <a:lnSpc>
                          <a:spcPts val="1890"/>
                        </a:lnSpc>
                        <a:buNone/>
                      </a:pPr>
                      <a:r>
                        <a:rPr lang="en-US" sz="1350" dirty="0">
                          <a:solidFill>
                            <a:srgbClr val="16202B"/>
                          </a:solidFill>
                          <a:latin typeface="IBM Plex Sans Arabic" pitchFamily="34" charset="0"/>
                          <a:ea typeface="IBM Plex Sans Arabic" pitchFamily="34" charset="-122"/>
                          <a:cs typeface="IBM Plex Sans Arabic" pitchFamily="34" charset="-120"/>
                        </a:rPr>
                        <a:t>587.0 °C</a:t>
                      </a:r>
                      <a:endParaRPr lang="en-US" sz="1350" dirty="0">
                        <a:latin typeface="IBM Plex Sans Arabic" charset="0"/>
                        <a:ea typeface="IBM Plex Sans Arabic" charset="0"/>
                        <a:cs typeface="IBM Plex Sans Arabic" charset="0"/>
                      </a:endParaRPr>
                    </a:p>
                  </a:txBody>
                  <a:tcPr marL="60007" marR="60007" marT="60007" marB="60007" anchor="t">
                    <a:lnL w="12700" cap="flat" cmpd="sng" algn="ctr">
                      <a:solidFill>
                        <a:srgbClr val="CCCED0"/>
                      </a:solidFill>
                      <a:prstDash val="solid"/>
                      <a:round/>
                      <a:headEnd type="none" w="med" len="med"/>
                      <a:tailEnd type="none" w="med" len="med"/>
                    </a:lnL>
                    <a:lnR w="12700" cap="flat" cmpd="sng" algn="ctr">
                      <a:solidFill>
                        <a:srgbClr val="CCCED0"/>
                      </a:solidFill>
                      <a:prstDash val="solid"/>
                      <a:round/>
                      <a:headEnd type="none" w="med" len="med"/>
                      <a:tailEnd type="none" w="med" len="med"/>
                    </a:lnR>
                    <a:lnT w="12700" cap="flat" cmpd="sng" algn="ctr">
                      <a:solidFill>
                        <a:srgbClr val="CCCED0"/>
                      </a:solidFill>
                      <a:prstDash val="solid"/>
                      <a:round/>
                      <a:headEnd type="none" w="med" len="med"/>
                      <a:tailEnd type="none" w="med" len="med"/>
                    </a:lnT>
                    <a:lnB w="12700" cap="flat" cmpd="sng" algn="ctr">
                      <a:solidFill>
                        <a:srgbClr val="CCCED0"/>
                      </a:solidFill>
                      <a:prstDash val="solid"/>
                      <a:round/>
                      <a:headEnd type="none" w="med" len="med"/>
                      <a:tailEnd type="none" w="med" len="med"/>
                    </a:lnB>
                    <a:solidFill>
                      <a:srgbClr val="F2F4F6"/>
                    </a:solidFill>
                  </a:tcPr>
                </a:tc>
                <a:tc>
                  <a:txBody>
                    <a:bodyPr/>
                    <a:lstStyle/>
                    <a:p>
                      <a:pPr algn="r" indent="0" marL="0">
                        <a:lnSpc>
                          <a:spcPts val="1890"/>
                        </a:lnSpc>
                        <a:buNone/>
                      </a:pPr>
                      <a:r>
                        <a:rPr lang="en-US" sz="1350" dirty="0">
                          <a:solidFill>
                            <a:srgbClr val="5D6E7D"/>
                          </a:solidFill>
                          <a:latin typeface="IBM Plex Sans Arabic" pitchFamily="34" charset="0"/>
                          <a:ea typeface="IBM Plex Sans Arabic" pitchFamily="34" charset="-122"/>
                          <a:cs typeface="IBM Plex Sans Arabic" pitchFamily="34" charset="-120"/>
                        </a:rPr>
                        <a:t>263</a:t>
                      </a:r>
                      <a:endParaRPr lang="en-US" sz="1350" dirty="0">
                        <a:latin typeface="IBM Plex Sans Arabic" charset="0"/>
                        <a:ea typeface="IBM Plex Sans Arabic" charset="0"/>
                        <a:cs typeface="IBM Plex Sans Arabic" charset="0"/>
                      </a:endParaRPr>
                    </a:p>
                  </a:txBody>
                  <a:tcPr marL="60007" marR="60007" marT="60007" marB="60007" anchor="t">
                    <a:lnL w="12700" cap="flat" cmpd="sng" algn="ctr">
                      <a:solidFill>
                        <a:srgbClr val="CCCED0"/>
                      </a:solidFill>
                      <a:prstDash val="solid"/>
                      <a:round/>
                      <a:headEnd type="none" w="med" len="med"/>
                      <a:tailEnd type="none" w="med" len="med"/>
                    </a:lnL>
                    <a:lnR w="12700" cap="flat" cmpd="sng" algn="ctr">
                      <a:solidFill>
                        <a:srgbClr val="CCCED0"/>
                      </a:solidFill>
                      <a:prstDash val="solid"/>
                      <a:round/>
                      <a:headEnd type="none" w="med" len="med"/>
                      <a:tailEnd type="none" w="med" len="med"/>
                    </a:lnR>
                    <a:lnT w="12700" cap="flat" cmpd="sng" algn="ctr">
                      <a:solidFill>
                        <a:srgbClr val="CCCED0"/>
                      </a:solidFill>
                      <a:prstDash val="solid"/>
                      <a:round/>
                      <a:headEnd type="none" w="med" len="med"/>
                      <a:tailEnd type="none" w="med" len="med"/>
                    </a:lnT>
                    <a:lnB w="12700" cap="flat" cmpd="sng" algn="ctr">
                      <a:solidFill>
                        <a:srgbClr val="CCCED0"/>
                      </a:solidFill>
                      <a:prstDash val="solid"/>
                      <a:round/>
                      <a:headEnd type="none" w="med" len="med"/>
                      <a:tailEnd type="none" w="med" len="med"/>
                    </a:lnB>
                    <a:solidFill>
                      <a:srgbClr val="F2F4F6"/>
                    </a:solidFill>
                  </a:tcPr>
                </a:tc>
              </a:tr>
              <a:tr h="372566">
                <a:tc>
                  <a:txBody>
                    <a:bodyPr/>
                    <a:lstStyle/>
                    <a:p>
                      <a:pPr algn="r" indent="0" marL="0">
                        <a:lnSpc>
                          <a:spcPts val="1890"/>
                        </a:lnSpc>
                        <a:buNone/>
                      </a:pPr>
                      <a:r>
                        <a:rPr lang="en-US" sz="1350" dirty="0">
                          <a:solidFill>
                            <a:srgbClr val="16202B"/>
                          </a:solidFill>
                          <a:latin typeface="IBM Plex Sans Arabic" pitchFamily="34" charset="0"/>
                          <a:ea typeface="IBM Plex Sans Arabic" pitchFamily="34" charset="-122"/>
                          <a:cs typeface="IBM Plex Sans Arabic" pitchFamily="34" charset="-120"/>
                        </a:rPr>
                        <a:t>طنّان</a:t>
                      </a:r>
                      <a:endParaRPr lang="en-US" sz="1350" dirty="0">
                        <a:latin typeface="IBM Plex Sans Arabic" charset="0"/>
                        <a:ea typeface="IBM Plex Sans Arabic" charset="0"/>
                        <a:cs typeface="IBM Plex Sans Arabic" charset="0"/>
                      </a:endParaRPr>
                    </a:p>
                  </a:txBody>
                  <a:tcPr marL="60007" marR="60007" marT="60007" marB="60007" anchor="t">
                    <a:lnL w="12700" cap="flat" cmpd="sng" algn="ctr">
                      <a:solidFill>
                        <a:srgbClr val="CCCED0"/>
                      </a:solidFill>
                      <a:prstDash val="solid"/>
                      <a:round/>
                      <a:headEnd type="none" w="med" len="med"/>
                      <a:tailEnd type="none" w="med" len="med"/>
                    </a:lnL>
                    <a:lnR w="12700" cap="flat" cmpd="sng" algn="ctr">
                      <a:solidFill>
                        <a:srgbClr val="CCCED0"/>
                      </a:solidFill>
                      <a:prstDash val="solid"/>
                      <a:round/>
                      <a:headEnd type="none" w="med" len="med"/>
                      <a:tailEnd type="none" w="med" len="med"/>
                    </a:lnR>
                    <a:lnT w="12700" cap="flat" cmpd="sng" algn="ctr">
                      <a:solidFill>
                        <a:srgbClr val="CCCED0"/>
                      </a:solidFill>
                      <a:prstDash val="solid"/>
                      <a:round/>
                      <a:headEnd type="none" w="med" len="med"/>
                      <a:tailEnd type="none" w="med" len="med"/>
                    </a:lnT>
                    <a:lnB w="12700" cap="flat" cmpd="sng" algn="ctr">
                      <a:solidFill>
                        <a:srgbClr val="CCCED0"/>
                      </a:solidFill>
                      <a:prstDash val="solid"/>
                      <a:round/>
                      <a:headEnd type="none" w="med" len="med"/>
                      <a:tailEnd type="none" w="med" len="med"/>
                    </a:lnB>
                  </a:tcPr>
                </a:tc>
                <a:tc>
                  <a:txBody>
                    <a:bodyPr/>
                    <a:lstStyle/>
                    <a:p>
                      <a:pPr algn="r" indent="0" marL="0">
                        <a:lnSpc>
                          <a:spcPts val="1890"/>
                        </a:lnSpc>
                        <a:buNone/>
                      </a:pPr>
                      <a:r>
                        <a:rPr lang="en-US" sz="1350" dirty="0">
                          <a:solidFill>
                            <a:srgbClr val="16202B"/>
                          </a:solidFill>
                          <a:latin typeface="IBM Plex Sans Arabic" pitchFamily="34" charset="0"/>
                          <a:ea typeface="IBM Plex Sans Arabic" pitchFamily="34" charset="-122"/>
                          <a:cs typeface="IBM Plex Sans Arabic" pitchFamily="34" charset="-120"/>
                        </a:rPr>
                        <a:t>756.3 °C</a:t>
                      </a:r>
                      <a:endParaRPr lang="en-US" sz="1350" dirty="0">
                        <a:latin typeface="IBM Plex Sans Arabic" charset="0"/>
                        <a:ea typeface="IBM Plex Sans Arabic" charset="0"/>
                        <a:cs typeface="IBM Plex Sans Arabic" charset="0"/>
                      </a:endParaRPr>
                    </a:p>
                  </a:txBody>
                  <a:tcPr marL="60007" marR="60007" marT="60007" marB="60007" anchor="t">
                    <a:lnL w="12700" cap="flat" cmpd="sng" algn="ctr">
                      <a:solidFill>
                        <a:srgbClr val="CCCED0"/>
                      </a:solidFill>
                      <a:prstDash val="solid"/>
                      <a:round/>
                      <a:headEnd type="none" w="med" len="med"/>
                      <a:tailEnd type="none" w="med" len="med"/>
                    </a:lnL>
                    <a:lnR w="12700" cap="flat" cmpd="sng" algn="ctr">
                      <a:solidFill>
                        <a:srgbClr val="CCCED0"/>
                      </a:solidFill>
                      <a:prstDash val="solid"/>
                      <a:round/>
                      <a:headEnd type="none" w="med" len="med"/>
                      <a:tailEnd type="none" w="med" len="med"/>
                    </a:lnR>
                    <a:lnT w="12700" cap="flat" cmpd="sng" algn="ctr">
                      <a:solidFill>
                        <a:srgbClr val="CCCED0"/>
                      </a:solidFill>
                      <a:prstDash val="solid"/>
                      <a:round/>
                      <a:headEnd type="none" w="med" len="med"/>
                      <a:tailEnd type="none" w="med" len="med"/>
                    </a:lnT>
                    <a:lnB w="12700" cap="flat" cmpd="sng" algn="ctr">
                      <a:solidFill>
                        <a:srgbClr val="CCCED0"/>
                      </a:solidFill>
                      <a:prstDash val="solid"/>
                      <a:round/>
                      <a:headEnd type="none" w="med" len="med"/>
                      <a:tailEnd type="none" w="med" len="med"/>
                    </a:lnB>
                  </a:tcPr>
                </a:tc>
                <a:tc>
                  <a:txBody>
                    <a:bodyPr/>
                    <a:lstStyle/>
                    <a:p>
                      <a:pPr algn="r" indent="0" marL="0">
                        <a:lnSpc>
                          <a:spcPts val="1890"/>
                        </a:lnSpc>
                        <a:buNone/>
                      </a:pPr>
                      <a:r>
                        <a:rPr lang="en-US" sz="1350" dirty="0">
                          <a:solidFill>
                            <a:srgbClr val="BD3F2C"/>
                          </a:solidFill>
                          <a:latin typeface="IBM Plex Sans Arabic" pitchFamily="34" charset="0"/>
                          <a:ea typeface="IBM Plex Sans Arabic" pitchFamily="34" charset="-122"/>
                          <a:cs typeface="IBM Plex Sans Arabic" pitchFamily="34" charset="-120"/>
                        </a:rPr>
                        <a:t>94</a:t>
                      </a:r>
                      <a:endParaRPr lang="en-US" sz="1350" dirty="0">
                        <a:latin typeface="IBM Plex Sans Arabic" charset="0"/>
                        <a:ea typeface="IBM Plex Sans Arabic" charset="0"/>
                        <a:cs typeface="IBM Plex Sans Arabic" charset="0"/>
                      </a:endParaRPr>
                    </a:p>
                  </a:txBody>
                  <a:tcPr marL="60007" marR="60007" marT="60007" marB="60007" anchor="t">
                    <a:lnL w="12700" cap="flat" cmpd="sng" algn="ctr">
                      <a:solidFill>
                        <a:srgbClr val="CCCED0"/>
                      </a:solidFill>
                      <a:prstDash val="solid"/>
                      <a:round/>
                      <a:headEnd type="none" w="med" len="med"/>
                      <a:tailEnd type="none" w="med" len="med"/>
                    </a:lnL>
                    <a:lnR w="12700" cap="flat" cmpd="sng" algn="ctr">
                      <a:solidFill>
                        <a:srgbClr val="CCCED0"/>
                      </a:solidFill>
                      <a:prstDash val="solid"/>
                      <a:round/>
                      <a:headEnd type="none" w="med" len="med"/>
                      <a:tailEnd type="none" w="med" len="med"/>
                    </a:lnR>
                    <a:lnT w="12700" cap="flat" cmpd="sng" algn="ctr">
                      <a:solidFill>
                        <a:srgbClr val="CCCED0"/>
                      </a:solidFill>
                      <a:prstDash val="solid"/>
                      <a:round/>
                      <a:headEnd type="none" w="med" len="med"/>
                      <a:tailEnd type="none" w="med" len="med"/>
                    </a:lnT>
                    <a:lnB w="12700" cap="flat" cmpd="sng" algn="ctr">
                      <a:solidFill>
                        <a:srgbClr val="CCCED0"/>
                      </a:solidFill>
                      <a:prstDash val="solid"/>
                      <a:round/>
                      <a:headEnd type="none" w="med" len="med"/>
                      <a:tailEnd type="none" w="med" len="med"/>
                    </a:lnB>
                  </a:tcPr>
                </a:tc>
              </a:tr>
            </a:tbl>
          </a:graphicData>
        </a:graphic>
      </p:graphicFrame>
      <p:sp>
        <p:nvSpPr>
          <p:cNvPr id="12" name="Text 9"/>
          <p:cNvSpPr/>
          <p:nvPr/>
        </p:nvSpPr>
        <p:spPr>
          <a:xfrm>
            <a:off x="6121149" y="3480296"/>
            <a:ext cx="5258051" cy="482600"/>
          </a:xfrm>
          <a:prstGeom prst="rect">
            <a:avLst/>
          </a:prstGeom>
          <a:noFill/>
          <a:ln/>
        </p:spPr>
        <p:txBody>
          <a:bodyPr wrap="square" lIns="0" tIns="0" rIns="0" bIns="0" rtlCol="0" anchor="t">
            <a:normAutofit/>
          </a:bodyPr>
          <a:lstStyle/>
          <a:p>
            <a:pPr algn="r" indent="0" marL="0">
              <a:lnSpc>
                <a:spcPts val="1800"/>
              </a:lnSpc>
              <a:buNone/>
            </a:pPr>
            <a:r>
              <a:rPr lang="en-US" sz="1200" dirty="0">
                <a:solidFill>
                  <a:srgbClr val="5D6E7D"/>
                </a:solidFill>
                <a:latin typeface="IBM Plex Sans Arabic" pitchFamily="34" charset="0"/>
                <a:ea typeface="IBM Plex Sans Arabic" pitchFamily="34" charset="-122"/>
                <a:cs typeface="IBM Plex Sans Arabic" pitchFamily="34" charset="-120"/>
              </a:rPr>
              <a:t>SAE J2807 — طريق أريزونا SR 68، ‏18.3 كم، ميل 0–7 %، سرعة دنيا 64 كم/س، حرارة جوّ 37.8 °C. قرأناه من المعيار نفسه لا من ملخّص.</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6202B"/>
        </a:solidFill>
      </p:bgPr>
    </p:bg>
    <p:spTree>
      <p:nvGrpSpPr>
        <p:cNvPr id="1" name=""/>
        <p:cNvGrpSpPr/>
        <p:nvPr/>
      </p:nvGrpSpPr>
      <p:grpSpPr>
        <a:xfrm>
          <a:off x="0" y="0"/>
          <a:ext cx="0" cy="0"/>
          <a:chOff x="0" y="0"/>
          <a:chExt cx="0" cy="0"/>
        </a:xfrm>
      </p:grpSpPr>
      <p:sp>
        <p:nvSpPr>
          <p:cNvPr id="2" name="Text 0"/>
          <p:cNvSpPr/>
          <p:nvPr/>
        </p:nvSpPr>
        <p:spPr>
          <a:xfrm>
            <a:off x="495808" y="711200"/>
            <a:ext cx="10883392" cy="256480"/>
          </a:xfrm>
          <a:prstGeom prst="rect">
            <a:avLst/>
          </a:prstGeom>
          <a:noFill/>
          <a:ln/>
        </p:spPr>
        <p:txBody>
          <a:bodyPr wrap="square" lIns="0" tIns="0" rIns="0" bIns="0" rtlCol="0" anchor="t">
            <a:normAutofit/>
          </a:bodyPr>
          <a:lstStyle/>
          <a:p>
            <a:pPr algn="r" indent="0" marL="0">
              <a:lnSpc>
                <a:spcPts val="1820"/>
              </a:lnSpc>
              <a:buNone/>
            </a:pPr>
            <a:r>
              <a:rPr lang="en-US" sz="1300" b="1" spc="100" kern="0" dirty="0">
                <a:solidFill>
                  <a:srgbClr val="E08A78"/>
                </a:solidFill>
                <a:latin typeface="IBM Plex Sans Arabic" pitchFamily="34" charset="0"/>
                <a:ea typeface="IBM Plex Sans Arabic" pitchFamily="34" charset="-122"/>
                <a:cs typeface="IBM Plex Sans Arabic" pitchFamily="34" charset="-120"/>
              </a:rPr>
              <a:t>نتيجة سالبة · 2</a:t>
            </a:r>
            <a:endParaRPr lang="en-US" sz="1300" dirty="0"/>
          </a:p>
        </p:txBody>
      </p:sp>
      <p:sp>
        <p:nvSpPr>
          <p:cNvPr id="3" name="Text 1"/>
          <p:cNvSpPr/>
          <p:nvPr/>
        </p:nvSpPr>
        <p:spPr>
          <a:xfrm>
            <a:off x="495808" y="1005780"/>
            <a:ext cx="10883392" cy="463550"/>
          </a:xfrm>
          <a:prstGeom prst="rect">
            <a:avLst/>
          </a:prstGeom>
          <a:noFill/>
          <a:ln/>
        </p:spPr>
        <p:txBody>
          <a:bodyPr wrap="square" lIns="0" tIns="0" rIns="0" bIns="0" rtlCol="0" anchor="t">
            <a:normAutofit/>
          </a:bodyPr>
          <a:lstStyle/>
          <a:p>
            <a:pPr algn="r" indent="0" marL="0">
              <a:lnSpc>
                <a:spcPts val="3450"/>
              </a:lnSpc>
              <a:buNone/>
            </a:pPr>
            <a:r>
              <a:rPr lang="en-US" sz="3000" b="1" dirty="0">
                <a:solidFill>
                  <a:srgbClr val="F2F4F6"/>
                </a:solidFill>
                <a:latin typeface="IBM Plex Sans Arabic" pitchFamily="34" charset="0"/>
                <a:ea typeface="IBM Plex Sans Arabic" pitchFamily="34" charset="-122"/>
                <a:cs typeface="IBM Plex Sans Arabic" pitchFamily="34" charset="-120"/>
              </a:rPr>
              <a:t>سُقنا إلى الطائف وعُدنا — ولم تلمس الحدّ</a:t>
            </a:r>
            <a:endParaRPr lang="en-US" sz="3000" dirty="0"/>
          </a:p>
        </p:txBody>
      </p:sp>
      <p:sp>
        <p:nvSpPr>
          <p:cNvPr id="4" name="Shape 2"/>
          <p:cNvSpPr/>
          <p:nvPr/>
        </p:nvSpPr>
        <p:spPr>
          <a:xfrm>
            <a:off x="815975" y="1675705"/>
            <a:ext cx="6523236" cy="1149251"/>
          </a:xfrm>
          <a:prstGeom prst="roundRect">
            <a:avLst>
              <a:gd name="adj" fmla="val 7459"/>
            </a:avLst>
          </a:prstGeom>
          <a:solidFill>
            <a:srgbClr val="1C2A36"/>
          </a:solidFill>
          <a:ln w="6350">
            <a:solidFill>
              <a:srgbClr val="2F6FA8"/>
            </a:solidFill>
            <a:prstDash val="solid"/>
          </a:ln>
        </p:spPr>
      </p:sp>
      <p:sp>
        <p:nvSpPr>
          <p:cNvPr id="5" name="Text 3"/>
          <p:cNvSpPr/>
          <p:nvPr/>
        </p:nvSpPr>
        <p:spPr>
          <a:xfrm>
            <a:off x="839035" y="1843980"/>
            <a:ext cx="6293801"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7FB2DC"/>
                </a:solidFill>
                <a:latin typeface="IBM Plex Sans Arabic" pitchFamily="34" charset="0"/>
                <a:ea typeface="IBM Plex Sans Arabic" pitchFamily="34" charset="-122"/>
                <a:cs typeface="IBM Plex Sans Arabic" pitchFamily="34" charset="-120"/>
              </a:rPr>
              <a:t>الارتفاع مُثبَت بلا مقياس ضغط — من حسّاس حرارة الجوّ وحده</a:t>
            </a:r>
            <a:endParaRPr lang="en-US" sz="1300" dirty="0"/>
          </a:p>
        </p:txBody>
      </p:sp>
      <p:sp>
        <p:nvSpPr>
          <p:cNvPr id="6" name="Text 4"/>
          <p:cNvSpPr/>
          <p:nvPr/>
        </p:nvSpPr>
        <p:spPr>
          <a:xfrm>
            <a:off x="839035" y="2125861"/>
            <a:ext cx="6293801" cy="283170"/>
          </a:xfrm>
          <a:prstGeom prst="rect">
            <a:avLst/>
          </a:prstGeom>
          <a:noFill/>
          <a:ln/>
        </p:spPr>
        <p:txBody>
          <a:bodyPr wrap="square" lIns="0" tIns="0" rIns="0" bIns="0" rtlCol="0" anchor="t">
            <a:normAutofit/>
          </a:bodyPr>
          <a:lstStyle/>
          <a:p>
            <a:pPr algn="r" indent="0" marL="0">
              <a:lnSpc>
                <a:spcPts val="2030"/>
              </a:lnSpc>
              <a:buNone/>
            </a:pPr>
            <a:r>
              <a:rPr lang="en-US" sz="1450" dirty="0">
                <a:solidFill>
                  <a:srgbClr val="F2F4F6"/>
                </a:solidFill>
                <a:latin typeface="IBM Plex Mono" pitchFamily="34" charset="0"/>
                <a:ea typeface="IBM Plex Mono" pitchFamily="34" charset="-122"/>
                <a:cs typeface="IBM Plex Mono" pitchFamily="34" charset="-120"/>
              </a:rPr>
              <a:t>31.5 °C → 20.5 °C → 34.5 °C</a:t>
            </a:r>
            <a:endParaRPr lang="en-US" sz="1450" dirty="0"/>
          </a:p>
        </p:txBody>
      </p:sp>
      <p:sp>
        <p:nvSpPr>
          <p:cNvPr id="7" name="Text 5"/>
          <p:cNvSpPr/>
          <p:nvPr/>
        </p:nvSpPr>
        <p:spPr>
          <a:xfrm>
            <a:off x="839035" y="2434431"/>
            <a:ext cx="6293801" cy="247650"/>
          </a:xfrm>
          <a:prstGeom prst="rect">
            <a:avLst/>
          </a:prstGeom>
          <a:noFill/>
          <a:ln/>
        </p:spPr>
        <p:txBody>
          <a:bodyPr wrap="square" lIns="0" tIns="0" rIns="0" bIns="0" rtlCol="0" anchor="t">
            <a:normAutofit/>
          </a:bodyPr>
          <a:lstStyle/>
          <a:p>
            <a:pPr algn="r" indent="0" marL="0">
              <a:lnSpc>
                <a:spcPts val="1750"/>
              </a:lnSpc>
              <a:buNone/>
            </a:pPr>
            <a:r>
              <a:rPr lang="en-US" sz="1250" dirty="0">
                <a:solidFill>
                  <a:srgbClr val="8FA3B5"/>
                </a:solidFill>
                <a:latin typeface="IBM Plex Sans Arabic" pitchFamily="34" charset="0"/>
                <a:ea typeface="IBM Plex Sans Arabic" pitchFamily="34" charset="-122"/>
                <a:cs typeface="IBM Plex Sans Arabic" pitchFamily="34" charset="-120"/>
              </a:rPr>
              <a:t>مستوى البحر · الدقيقة 50 في الأعلى · ثمّ النزول</a:t>
            </a:r>
            <a:endParaRPr lang="en-US" sz="1250" dirty="0"/>
          </a:p>
        </p:txBody>
      </p:sp>
      <p:sp>
        <p:nvSpPr>
          <p:cNvPr id="8" name="Shape 6"/>
          <p:cNvSpPr/>
          <p:nvPr/>
        </p:nvSpPr>
        <p:spPr>
          <a:xfrm>
            <a:off x="815975" y="2958306"/>
            <a:ext cx="6523236" cy="1511399"/>
          </a:xfrm>
          <a:prstGeom prst="roundRect">
            <a:avLst>
              <a:gd name="adj" fmla="val 5672"/>
            </a:avLst>
          </a:prstGeom>
          <a:solidFill>
            <a:srgbClr val="2E1F1C"/>
          </a:solidFill>
          <a:ln w="6350">
            <a:solidFill>
              <a:srgbClr val="6B3A30"/>
            </a:solidFill>
            <a:prstDash val="solid"/>
          </a:ln>
        </p:spPr>
      </p:sp>
      <p:sp>
        <p:nvSpPr>
          <p:cNvPr id="9" name="Text 7"/>
          <p:cNvSpPr/>
          <p:nvPr/>
        </p:nvSpPr>
        <p:spPr>
          <a:xfrm>
            <a:off x="839035" y="3126581"/>
            <a:ext cx="6293801"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E08A78"/>
                </a:solidFill>
                <a:latin typeface="IBM Plex Sans Arabic" pitchFamily="34" charset="0"/>
                <a:ea typeface="IBM Plex Sans Arabic" pitchFamily="34" charset="-122"/>
                <a:cs typeface="IBM Plex Sans Arabic" pitchFamily="34" charset="-120"/>
              </a:rPr>
              <a:t>ولم تكن قيادة هادئة</a:t>
            </a:r>
            <a:endParaRPr lang="en-US" sz="1300" dirty="0"/>
          </a:p>
        </p:txBody>
      </p:sp>
      <p:sp>
        <p:nvSpPr>
          <p:cNvPr id="10" name="Text 8"/>
          <p:cNvSpPr/>
          <p:nvPr/>
        </p:nvSpPr>
        <p:spPr>
          <a:xfrm>
            <a:off x="839035" y="3421162"/>
            <a:ext cx="6293801" cy="310753"/>
          </a:xfrm>
          <a:prstGeom prst="rect">
            <a:avLst/>
          </a:prstGeom>
          <a:noFill/>
          <a:ln/>
        </p:spPr>
        <p:txBody>
          <a:bodyPr wrap="square" lIns="0" tIns="0" rIns="0" bIns="0" rtlCol="0" anchor="t">
            <a:normAutofit/>
          </a:bodyPr>
          <a:lstStyle/>
          <a:p>
            <a:pPr algn="r" indent="0" marL="0">
              <a:lnSpc>
                <a:spcPts val="2248"/>
              </a:lnSpc>
              <a:buNone/>
            </a:pPr>
            <a:r>
              <a:rPr lang="en-US" sz="1450" dirty="0">
                <a:solidFill>
                  <a:srgbClr val="F2F4F6"/>
                </a:solidFill>
                <a:latin typeface="IBM Plex Sans Arabic" pitchFamily="34" charset="0"/>
                <a:ea typeface="IBM Plex Sans Arabic" pitchFamily="34" charset="-122"/>
                <a:cs typeface="IBM Plex Sans Arabic" pitchFamily="34" charset="-120"/>
              </a:rPr>
              <a:t>أعلى سرعة 167 كم/س · 15 ثانية فوق 140 · 5 ثوانٍ فوق 160</a:t>
            </a:r>
            <a:endParaRPr lang="en-US" sz="1450" dirty="0"/>
          </a:p>
        </p:txBody>
      </p:sp>
      <p:sp>
        <p:nvSpPr>
          <p:cNvPr id="11" name="Text 9"/>
          <p:cNvSpPr/>
          <p:nvPr/>
        </p:nvSpPr>
        <p:spPr>
          <a:xfrm>
            <a:off x="839035" y="3770015"/>
            <a:ext cx="6293801" cy="556816"/>
          </a:xfrm>
          <a:prstGeom prst="rect">
            <a:avLst/>
          </a:prstGeom>
          <a:noFill/>
          <a:ln/>
        </p:spPr>
        <p:txBody>
          <a:bodyPr wrap="square" lIns="0" tIns="0" rIns="0" bIns="0" rtlCol="0" anchor="t">
            <a:normAutofit/>
          </a:bodyPr>
          <a:lstStyle/>
          <a:p>
            <a:pPr algn="r" indent="0" marL="0">
              <a:lnSpc>
                <a:spcPts val="2093"/>
              </a:lnSpc>
              <a:buNone/>
            </a:pPr>
            <a:r>
              <a:rPr lang="en-US" sz="1350" dirty="0">
                <a:solidFill>
                  <a:srgbClr val="C9A79E"/>
                </a:solidFill>
                <a:latin typeface="IBM Plex Sans Arabic" pitchFamily="34" charset="0"/>
                <a:ea typeface="IBM Plex Sans Arabic" pitchFamily="34" charset="-122"/>
                <a:cs typeface="IBM Plex Sans Arabic" pitchFamily="34" charset="-120"/>
              </a:rPr>
              <a:t>وأسخن لحظة في الرحلة لم تكن الصعود ولا أعلى سرعة، بل </a:t>
            </a:r>
            <a:r>
              <a:rPr lang="en-US" sz="1350" b="1" dirty="0">
                <a:solidFill>
                  <a:srgbClr val="C9A79E"/>
                </a:solidFill>
                <a:latin typeface="IBM Plex Sans Arabic" pitchFamily="34" charset="0"/>
                <a:ea typeface="IBM Plex Sans Arabic" pitchFamily="34" charset="-122"/>
                <a:cs typeface="IBM Plex Sans Arabic" pitchFamily="34" charset="-120"/>
              </a:rPr>
              <a:t>تسارُعاً عند 137 كم/س و 5792 دورة</a:t>
            </a:r>
            <a:r>
              <a:rPr lang="en-US" sz="1350" dirty="0">
                <a:solidFill>
                  <a:srgbClr val="C9A79E"/>
                </a:solidFill>
                <a:latin typeface="IBM Plex Sans Arabic" pitchFamily="34" charset="0"/>
                <a:ea typeface="IBM Plex Sans Arabic" pitchFamily="34" charset="-122"/>
                <a:cs typeface="IBM Plex Sans Arabic" pitchFamily="34" charset="-120"/>
              </a:rPr>
              <a:t> في الدقيقة 13.5</a:t>
            </a:r>
            <a:endParaRPr lang="en-US" sz="1350" dirty="0"/>
          </a:p>
        </p:txBody>
      </p:sp>
      <p:sp>
        <p:nvSpPr>
          <p:cNvPr id="12" name="Shape 10"/>
          <p:cNvSpPr/>
          <p:nvPr/>
        </p:nvSpPr>
        <p:spPr>
          <a:xfrm>
            <a:off x="7523361" y="1675705"/>
            <a:ext cx="3852664" cy="2794000"/>
          </a:xfrm>
          <a:prstGeom prst="roundRect">
            <a:avLst>
              <a:gd name="adj" fmla="val 3523"/>
            </a:avLst>
          </a:prstGeom>
          <a:solidFill>
            <a:srgbClr val="22303F"/>
          </a:solidFill>
          <a:ln w="6350">
            <a:solidFill>
              <a:srgbClr val="3A4C5C"/>
            </a:solidFill>
            <a:prstDash val="solid"/>
          </a:ln>
        </p:spPr>
      </p:sp>
      <p:sp>
        <p:nvSpPr>
          <p:cNvPr id="13" name="Text 11"/>
          <p:cNvSpPr/>
          <p:nvPr/>
        </p:nvSpPr>
        <p:spPr>
          <a:xfrm>
            <a:off x="7666925" y="2486620"/>
            <a:ext cx="3464625" cy="520700"/>
          </a:xfrm>
          <a:prstGeom prst="rect">
            <a:avLst/>
          </a:prstGeom>
          <a:noFill/>
          <a:ln/>
        </p:spPr>
        <p:txBody>
          <a:bodyPr wrap="square" lIns="0" tIns="0" rIns="0" bIns="0" rtlCol="0" anchor="t">
            <a:normAutofit/>
          </a:bodyPr>
          <a:lstStyle/>
          <a:p>
            <a:pPr algn="r" indent="0" marL="0">
              <a:lnSpc>
                <a:spcPts val="3900"/>
              </a:lnSpc>
              <a:buNone/>
            </a:pPr>
            <a:r>
              <a:rPr lang="en-US" sz="3900" b="1" dirty="0">
                <a:solidFill>
                  <a:srgbClr val="F2F4F6"/>
                </a:solidFill>
                <a:latin typeface="IBM Plex Mono" pitchFamily="34" charset="0"/>
                <a:ea typeface="IBM Plex Mono" pitchFamily="34" charset="-122"/>
                <a:cs typeface="IBM Plex Mono" pitchFamily="34" charset="-120"/>
              </a:rPr>
              <a:t>797.6 °C</a:t>
            </a:r>
            <a:endParaRPr lang="en-US" sz="3900" dirty="0"/>
          </a:p>
        </p:txBody>
      </p:sp>
      <p:sp>
        <p:nvSpPr>
          <p:cNvPr id="14" name="Text 12"/>
          <p:cNvSpPr/>
          <p:nvPr/>
        </p:nvSpPr>
        <p:spPr>
          <a:xfrm>
            <a:off x="7666925" y="3058120"/>
            <a:ext cx="3464625" cy="283170"/>
          </a:xfrm>
          <a:prstGeom prst="rect">
            <a:avLst/>
          </a:prstGeom>
          <a:noFill/>
          <a:ln/>
        </p:spPr>
        <p:txBody>
          <a:bodyPr wrap="square" lIns="0" tIns="0" rIns="0" bIns="0" rtlCol="0" anchor="t">
            <a:normAutofit/>
          </a:bodyPr>
          <a:lstStyle/>
          <a:p>
            <a:pPr algn="r" indent="0" marL="0">
              <a:lnSpc>
                <a:spcPts val="2030"/>
              </a:lnSpc>
              <a:buNone/>
            </a:pPr>
            <a:r>
              <a:rPr lang="en-US" sz="1450" b="1" dirty="0">
                <a:solidFill>
                  <a:srgbClr val="E08A78"/>
                </a:solidFill>
                <a:latin typeface="IBM Plex Sans Arabic" pitchFamily="34" charset="0"/>
                <a:ea typeface="IBM Plex Sans Arabic" pitchFamily="34" charset="-122"/>
                <a:cs typeface="IBM Plex Sans Arabic" pitchFamily="34" charset="-120"/>
              </a:rPr>
              <a:t>ناقص 52 درجة عن الحدّ</a:t>
            </a:r>
            <a:endParaRPr lang="en-US" sz="1450" dirty="0"/>
          </a:p>
        </p:txBody>
      </p:sp>
      <p:sp>
        <p:nvSpPr>
          <p:cNvPr id="15" name="Text 13"/>
          <p:cNvSpPr/>
          <p:nvPr/>
        </p:nvSpPr>
        <p:spPr>
          <a:xfrm>
            <a:off x="7666925" y="3392091"/>
            <a:ext cx="3464625" cy="292100"/>
          </a:xfrm>
          <a:prstGeom prst="rect">
            <a:avLst/>
          </a:prstGeom>
          <a:noFill/>
          <a:ln/>
        </p:spPr>
        <p:txBody>
          <a:bodyPr wrap="square" lIns="0" tIns="0" rIns="0" bIns="0" rtlCol="0" anchor="t">
            <a:normAutofit/>
          </a:bodyPr>
          <a:lstStyle/>
          <a:p>
            <a:pPr algn="r" indent="0" marL="0">
              <a:lnSpc>
                <a:spcPts val="2100"/>
              </a:lnSpc>
              <a:buNone/>
            </a:pPr>
            <a:r>
              <a:rPr lang="en-US" sz="1400" dirty="0">
                <a:solidFill>
                  <a:srgbClr val="8FA3B5"/>
                </a:solidFill>
                <a:latin typeface="IBM Plex Sans Arabic" pitchFamily="34" charset="0"/>
                <a:ea typeface="IBM Plex Sans Arabic" pitchFamily="34" charset="-122"/>
                <a:cs typeface="IBM Plex Sans Arabic" pitchFamily="34" charset="-120"/>
              </a:rPr>
              <a:t>صفر ثانية فوق الحدّ في 119.4 دقيقة</a:t>
            </a:r>
            <a:endParaRPr lang="en-US" sz="1400" dirty="0"/>
          </a:p>
        </p:txBody>
      </p:sp>
      <p:sp>
        <p:nvSpPr>
          <p:cNvPr id="16" name="Shape 14"/>
          <p:cNvSpPr/>
          <p:nvPr/>
        </p:nvSpPr>
        <p:spPr>
          <a:xfrm>
            <a:off x="812800" y="4701480"/>
            <a:ext cx="10566400" cy="926306"/>
          </a:xfrm>
          <a:prstGeom prst="roundRect">
            <a:avLst>
              <a:gd name="adj" fmla="val 9597"/>
            </a:avLst>
          </a:prstGeom>
          <a:solidFill>
            <a:srgbClr val="22303F"/>
          </a:solidFill>
          <a:ln/>
        </p:spPr>
      </p:sp>
      <p:sp>
        <p:nvSpPr>
          <p:cNvPr id="17" name="Shape 15"/>
          <p:cNvSpPr/>
          <p:nvPr/>
        </p:nvSpPr>
        <p:spPr>
          <a:xfrm>
            <a:off x="11353800" y="4701480"/>
            <a:ext cx="0" cy="926306"/>
          </a:xfrm>
          <a:prstGeom prst="line">
            <a:avLst/>
          </a:prstGeom>
          <a:noFill/>
          <a:ln w="50800">
            <a:solidFill>
              <a:srgbClr val="7FB2DC"/>
            </a:solidFill>
            <a:prstDash val="solid"/>
          </a:ln>
        </p:spPr>
      </p:sp>
      <p:sp>
        <p:nvSpPr>
          <p:cNvPr id="18" name="Text 16"/>
          <p:cNvSpPr/>
          <p:nvPr/>
        </p:nvSpPr>
        <p:spPr>
          <a:xfrm>
            <a:off x="739648" y="4879280"/>
            <a:ext cx="10360152" cy="596106"/>
          </a:xfrm>
          <a:prstGeom prst="rect">
            <a:avLst/>
          </a:prstGeom>
          <a:noFill/>
          <a:ln/>
        </p:spPr>
        <p:txBody>
          <a:bodyPr wrap="square" lIns="0" tIns="0" rIns="0" bIns="0" rtlCol="0" anchor="t">
            <a:normAutofit/>
          </a:bodyPr>
          <a:lstStyle/>
          <a:p>
            <a:pPr algn="r" indent="0" marL="0">
              <a:lnSpc>
                <a:spcPts val="2248"/>
              </a:lnSpc>
              <a:buNone/>
            </a:pPr>
            <a:r>
              <a:rPr lang="en-US" sz="1450" dirty="0">
                <a:solidFill>
                  <a:srgbClr val="B8C6D4"/>
                </a:solidFill>
                <a:latin typeface="IBM Plex Sans Arabic" pitchFamily="34" charset="0"/>
                <a:ea typeface="IBM Plex Sans Arabic" pitchFamily="34" charset="-122"/>
                <a:cs typeface="IBM Plex Sans Arabic" pitchFamily="34" charset="-120"/>
              </a:rPr>
              <a:t>الجبل يُؤخَذ بـ 60 إلى 90 كم/س، فيطلب 40–50 كيلوواط. السيناريو الذي ثبّتناه يطلب </a:t>
            </a:r>
            <a:r>
              <a:rPr lang="en-US" sz="1450" b="1" dirty="0">
                <a:solidFill>
                  <a:srgbClr val="B8C6D4"/>
                </a:solidFill>
                <a:latin typeface="IBM Plex Sans Arabic" pitchFamily="34" charset="0"/>
                <a:ea typeface="IBM Plex Sans Arabic" pitchFamily="34" charset="-122"/>
                <a:cs typeface="IBM Plex Sans Arabic" pitchFamily="34" charset="-120"/>
              </a:rPr>
              <a:t>88.7 كيلوواط لاثنتي عشرة دقيقة متّصلة</a:t>
            </a:r>
            <a:r>
              <a:rPr lang="en-US" sz="1450" dirty="0">
                <a:solidFill>
                  <a:srgbClr val="B8C6D4"/>
                </a:solidFill>
                <a:latin typeface="IBM Plex Sans Arabic" pitchFamily="34" charset="0"/>
                <a:ea typeface="IBM Plex Sans Arabic" pitchFamily="34" charset="-122"/>
                <a:cs typeface="IBM Plex Sans Arabic" pitchFamily="34" charset="-120"/>
              </a:rPr>
              <a:t>. الارتفاع لا يُسخّن التوربين — القدرة المستمرّة هي التي تُسخّنه.</a:t>
            </a:r>
            <a:endParaRPr lang="en-US" sz="14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F4F6"/>
        </a:solidFill>
      </p:bgPr>
    </p:bg>
    <p:spTree>
      <p:nvGrpSpPr>
        <p:cNvPr id="1" name=""/>
        <p:cNvGrpSpPr/>
        <p:nvPr/>
      </p:nvGrpSpPr>
      <p:grpSpPr>
        <a:xfrm>
          <a:off x="0" y="0"/>
          <a:ext cx="0" cy="0"/>
          <a:chOff x="0" y="0"/>
          <a:chExt cx="0" cy="0"/>
        </a:xfrm>
      </p:grpSpPr>
      <p:sp>
        <p:nvSpPr>
          <p:cNvPr id="2" name="Text 0"/>
          <p:cNvSpPr/>
          <p:nvPr/>
        </p:nvSpPr>
        <p:spPr>
          <a:xfrm>
            <a:off x="495808" y="711200"/>
            <a:ext cx="10883392" cy="256480"/>
          </a:xfrm>
          <a:prstGeom prst="rect">
            <a:avLst/>
          </a:prstGeom>
          <a:noFill/>
          <a:ln/>
        </p:spPr>
        <p:txBody>
          <a:bodyPr wrap="square" lIns="0" tIns="0" rIns="0" bIns="0" rtlCol="0" anchor="t">
            <a:normAutofit/>
          </a:bodyPr>
          <a:lstStyle/>
          <a:p>
            <a:pPr algn="r" indent="0" marL="0">
              <a:lnSpc>
                <a:spcPts val="1820"/>
              </a:lnSpc>
              <a:buNone/>
            </a:pPr>
            <a:r>
              <a:rPr lang="en-US" sz="1300" b="1" spc="100" kern="0" dirty="0">
                <a:solidFill>
                  <a:srgbClr val="2F6FA8"/>
                </a:solidFill>
                <a:latin typeface="IBM Plex Sans Arabic" pitchFamily="34" charset="0"/>
                <a:ea typeface="IBM Plex Sans Arabic" pitchFamily="34" charset="-122"/>
                <a:cs typeface="IBM Plex Sans Arabic" pitchFamily="34" charset="-120"/>
              </a:rPr>
              <a:t>ما اشترته تلك الرحلة</a:t>
            </a:r>
            <a:endParaRPr lang="en-US" sz="1300" dirty="0"/>
          </a:p>
        </p:txBody>
      </p:sp>
      <p:sp>
        <p:nvSpPr>
          <p:cNvPr id="3" name="Text 1"/>
          <p:cNvSpPr/>
          <p:nvPr/>
        </p:nvSpPr>
        <p:spPr>
          <a:xfrm>
            <a:off x="495808" y="1005780"/>
            <a:ext cx="10883392" cy="463550"/>
          </a:xfrm>
          <a:prstGeom prst="rect">
            <a:avLst/>
          </a:prstGeom>
          <a:noFill/>
          <a:ln/>
        </p:spPr>
        <p:txBody>
          <a:bodyPr wrap="square" lIns="0" tIns="0" rIns="0" bIns="0" rtlCol="0" anchor="t">
            <a:normAutofit/>
          </a:bodyPr>
          <a:lstStyle/>
          <a:p>
            <a:pPr algn="r" indent="0" marL="0">
              <a:lnSpc>
                <a:spcPts val="3450"/>
              </a:lnSpc>
              <a:buNone/>
            </a:pPr>
            <a:r>
              <a:rPr lang="en-US" sz="3000" b="1" dirty="0">
                <a:solidFill>
                  <a:srgbClr val="16202B"/>
                </a:solidFill>
                <a:latin typeface="IBM Plex Sans Arabic" pitchFamily="34" charset="0"/>
                <a:ea typeface="IBM Plex Sans Arabic" pitchFamily="34" charset="-122"/>
                <a:cs typeface="IBM Plex Sans Arabic" pitchFamily="34" charset="-120"/>
              </a:rPr>
              <a:t>رحلة لم تصل إلى الحدّ، وأعطت ثلاثة أشياء</a:t>
            </a:r>
            <a:endParaRPr lang="en-US" sz="3000" dirty="0"/>
          </a:p>
        </p:txBody>
      </p:sp>
      <p:sp>
        <p:nvSpPr>
          <p:cNvPr id="4" name="Shape 2"/>
          <p:cNvSpPr/>
          <p:nvPr/>
        </p:nvSpPr>
        <p:spPr>
          <a:xfrm>
            <a:off x="815975" y="1675705"/>
            <a:ext cx="3414117" cy="2031901"/>
          </a:xfrm>
          <a:prstGeom prst="roundRect">
            <a:avLst>
              <a:gd name="adj" fmla="val 4219"/>
            </a:avLst>
          </a:prstGeom>
          <a:solidFill>
            <a:srgbClr val="FFFFFF"/>
          </a:solidFill>
          <a:ln w="6350">
            <a:solidFill>
              <a:srgbClr val="D4DCE3"/>
            </a:solidFill>
            <a:prstDash val="solid"/>
          </a:ln>
        </p:spPr>
      </p:sp>
      <p:sp>
        <p:nvSpPr>
          <p:cNvPr id="5" name="Text 3"/>
          <p:cNvSpPr/>
          <p:nvPr/>
        </p:nvSpPr>
        <p:spPr>
          <a:xfrm>
            <a:off x="932309" y="1894780"/>
            <a:ext cx="3091408" cy="487660"/>
          </a:xfrm>
          <a:prstGeom prst="rect">
            <a:avLst/>
          </a:prstGeom>
          <a:noFill/>
          <a:ln/>
        </p:spPr>
        <p:txBody>
          <a:bodyPr wrap="square" lIns="0" tIns="0" rIns="0" bIns="0" rtlCol="0" anchor="t">
            <a:normAutofit/>
          </a:bodyPr>
          <a:lstStyle/>
          <a:p>
            <a:pPr algn="r" indent="0" marL="0">
              <a:lnSpc>
                <a:spcPts val="3640"/>
              </a:lnSpc>
              <a:buNone/>
            </a:pPr>
            <a:r>
              <a:rPr lang="en-US" sz="2600" b="1" dirty="0">
                <a:solidFill>
                  <a:srgbClr val="16202B"/>
                </a:solidFill>
                <a:latin typeface="IBM Plex Mono" pitchFamily="34" charset="0"/>
                <a:ea typeface="IBM Plex Mono" pitchFamily="34" charset="-122"/>
                <a:cs typeface="IBM Plex Mono" pitchFamily="34" charset="-120"/>
              </a:rPr>
              <a:t>86 K</a:t>
            </a:r>
            <a:endParaRPr lang="en-US" sz="2600" dirty="0"/>
          </a:p>
        </p:txBody>
      </p:sp>
      <p:sp>
        <p:nvSpPr>
          <p:cNvPr id="6" name="Text 4"/>
          <p:cNvSpPr/>
          <p:nvPr/>
        </p:nvSpPr>
        <p:spPr>
          <a:xfrm>
            <a:off x="932309" y="2433241"/>
            <a:ext cx="3091408" cy="261541"/>
          </a:xfrm>
          <a:prstGeom prst="rect">
            <a:avLst/>
          </a:prstGeom>
          <a:noFill/>
          <a:ln/>
        </p:spPr>
        <p:txBody>
          <a:bodyPr wrap="square" lIns="0" tIns="0" rIns="0" bIns="0" rtlCol="0" anchor="t">
            <a:normAutofit/>
          </a:bodyPr>
          <a:lstStyle/>
          <a:p>
            <a:pPr algn="r" indent="0" marL="0">
              <a:lnSpc>
                <a:spcPts val="1860"/>
              </a:lnSpc>
              <a:buNone/>
            </a:pPr>
            <a:r>
              <a:rPr lang="en-US" sz="1550" b="1" dirty="0">
                <a:solidFill>
                  <a:srgbClr val="16202B"/>
                </a:solidFill>
                <a:latin typeface="IBM Plex Sans Arabic" pitchFamily="34" charset="0"/>
                <a:ea typeface="IBM Plex Sans Arabic" pitchFamily="34" charset="-122"/>
                <a:cs typeface="IBM Plex Sans Arabic" pitchFamily="34" charset="-120"/>
              </a:rPr>
              <a:t>جواب على أصعب اعتراض</a:t>
            </a:r>
            <a:endParaRPr lang="en-US" sz="1550" dirty="0"/>
          </a:p>
        </p:txBody>
      </p:sp>
      <p:sp>
        <p:nvSpPr>
          <p:cNvPr id="7" name="Text 5"/>
          <p:cNvSpPr/>
          <p:nvPr/>
        </p:nvSpPr>
        <p:spPr>
          <a:xfrm>
            <a:off x="932309" y="2745581"/>
            <a:ext cx="3091408" cy="520700"/>
          </a:xfrm>
          <a:prstGeom prst="rect">
            <a:avLst/>
          </a:prstGeom>
          <a:noFill/>
          <a:ln/>
        </p:spPr>
        <p:txBody>
          <a:bodyPr wrap="square" lIns="0" tIns="0" rIns="0" bIns="0" rtlCol="0" anchor="t">
            <a:normAutofit/>
          </a:bodyPr>
          <a:lstStyle/>
          <a:p>
            <a:pPr algn="r" indent="0" marL="0">
              <a:lnSpc>
                <a:spcPts val="1950"/>
              </a:lnSpc>
              <a:buNone/>
            </a:pPr>
            <a:r>
              <a:rPr lang="en-US" sz="1300" dirty="0">
                <a:solidFill>
                  <a:srgbClr val="5D6E7D"/>
                </a:solidFill>
                <a:latin typeface="IBM Plex Sans Arabic" pitchFamily="34" charset="0"/>
                <a:ea typeface="IBM Plex Sans Arabic" pitchFamily="34" charset="-122"/>
                <a:cs typeface="IBM Plex Sans Arabic" pitchFamily="34" charset="-120"/>
              </a:rPr>
              <a:t>أقسى صعود حقيقيّ عندنا أبرد من سيناريو الاختبار بهذا القدر — فالسيناريو فوق الواقع عن قصد</a:t>
            </a:r>
            <a:endParaRPr lang="en-US" sz="1300" dirty="0"/>
          </a:p>
        </p:txBody>
      </p:sp>
      <p:sp>
        <p:nvSpPr>
          <p:cNvPr id="8" name="Shape 6"/>
          <p:cNvSpPr/>
          <p:nvPr/>
        </p:nvSpPr>
        <p:spPr>
          <a:xfrm>
            <a:off x="4388842" y="1675705"/>
            <a:ext cx="3414216" cy="2031901"/>
          </a:xfrm>
          <a:prstGeom prst="roundRect">
            <a:avLst>
              <a:gd name="adj" fmla="val 4219"/>
            </a:avLst>
          </a:prstGeom>
          <a:solidFill>
            <a:srgbClr val="FFFFFF"/>
          </a:solidFill>
          <a:ln w="6350">
            <a:solidFill>
              <a:srgbClr val="D4DCE3"/>
            </a:solidFill>
            <a:prstDash val="solid"/>
          </a:ln>
        </p:spPr>
      </p:sp>
      <p:sp>
        <p:nvSpPr>
          <p:cNvPr id="9" name="Text 7"/>
          <p:cNvSpPr/>
          <p:nvPr/>
        </p:nvSpPr>
        <p:spPr>
          <a:xfrm>
            <a:off x="4505173" y="1894780"/>
            <a:ext cx="3091510" cy="487660"/>
          </a:xfrm>
          <a:prstGeom prst="rect">
            <a:avLst/>
          </a:prstGeom>
          <a:noFill/>
          <a:ln/>
        </p:spPr>
        <p:txBody>
          <a:bodyPr wrap="square" lIns="0" tIns="0" rIns="0" bIns="0" rtlCol="0" anchor="t">
            <a:normAutofit/>
          </a:bodyPr>
          <a:lstStyle/>
          <a:p>
            <a:pPr algn="r" indent="0" marL="0">
              <a:lnSpc>
                <a:spcPts val="3640"/>
              </a:lnSpc>
              <a:buNone/>
            </a:pPr>
            <a:r>
              <a:rPr lang="en-US" sz="2600" b="1" dirty="0">
                <a:solidFill>
                  <a:srgbClr val="C8841F"/>
                </a:solidFill>
                <a:latin typeface="IBM Plex Mono" pitchFamily="34" charset="0"/>
                <a:ea typeface="IBM Plex Mono" pitchFamily="34" charset="-122"/>
                <a:cs typeface="IBM Plex Mono" pitchFamily="34" charset="-120"/>
              </a:rPr>
              <a:t>117 °C</a:t>
            </a:r>
            <a:endParaRPr lang="en-US" sz="2600" dirty="0"/>
          </a:p>
        </p:txBody>
      </p:sp>
      <p:sp>
        <p:nvSpPr>
          <p:cNvPr id="10" name="Text 8"/>
          <p:cNvSpPr/>
          <p:nvPr/>
        </p:nvSpPr>
        <p:spPr>
          <a:xfrm>
            <a:off x="4505173" y="2433241"/>
            <a:ext cx="3091510" cy="261541"/>
          </a:xfrm>
          <a:prstGeom prst="rect">
            <a:avLst/>
          </a:prstGeom>
          <a:noFill/>
          <a:ln/>
        </p:spPr>
        <p:txBody>
          <a:bodyPr wrap="square" lIns="0" tIns="0" rIns="0" bIns="0" rtlCol="0" anchor="t">
            <a:normAutofit/>
          </a:bodyPr>
          <a:lstStyle/>
          <a:p>
            <a:pPr algn="r" indent="0" marL="0">
              <a:lnSpc>
                <a:spcPts val="1860"/>
              </a:lnSpc>
              <a:buNone/>
            </a:pPr>
            <a:r>
              <a:rPr lang="en-US" sz="1550" b="1" dirty="0">
                <a:solidFill>
                  <a:srgbClr val="16202B"/>
                </a:solidFill>
                <a:latin typeface="IBM Plex Sans Arabic" pitchFamily="34" charset="0"/>
                <a:ea typeface="IBM Plex Sans Arabic" pitchFamily="34" charset="-122"/>
                <a:cs typeface="IBM Plex Sans Arabic" pitchFamily="34" charset="-120"/>
              </a:rPr>
              <a:t>حرارة الزيت صارت قابلة للتحقّق</a:t>
            </a:r>
            <a:endParaRPr lang="en-US" sz="1550" dirty="0"/>
          </a:p>
        </p:txBody>
      </p:sp>
      <p:sp>
        <p:nvSpPr>
          <p:cNvPr id="11" name="Text 9"/>
          <p:cNvSpPr/>
          <p:nvPr/>
        </p:nvSpPr>
        <p:spPr>
          <a:xfrm>
            <a:off x="4505173" y="2745581"/>
            <a:ext cx="3091510" cy="768350"/>
          </a:xfrm>
          <a:prstGeom prst="rect">
            <a:avLst/>
          </a:prstGeom>
          <a:noFill/>
          <a:ln/>
        </p:spPr>
        <p:txBody>
          <a:bodyPr wrap="square" lIns="0" tIns="0" rIns="0" bIns="0" rtlCol="0" anchor="t">
            <a:normAutofit/>
          </a:bodyPr>
          <a:lstStyle/>
          <a:p>
            <a:pPr algn="r" indent="0" marL="0">
              <a:lnSpc>
                <a:spcPts val="1950"/>
              </a:lnSpc>
              <a:buNone/>
            </a:pPr>
            <a:r>
              <a:rPr lang="en-US" sz="1300" dirty="0">
                <a:solidFill>
                  <a:srgbClr val="5D6E7D"/>
                </a:solidFill>
                <a:latin typeface="IBM Plex Sans Arabic" pitchFamily="34" charset="0"/>
                <a:ea typeface="IBM Plex Sans Arabic" pitchFamily="34" charset="-122"/>
                <a:cs typeface="IBM Plex Sans Arabic" pitchFamily="34" charset="-120"/>
              </a:rPr>
              <a:t>أعلى ما سجّلناه قبلها 107، أي تحت النطاق المنشور — فلم نكن نستطيع الحكم. الآن نعرف أنّ نموذجنا أبرد بـ 7 درجات</a:t>
            </a:r>
            <a:endParaRPr lang="en-US" sz="1300" dirty="0"/>
          </a:p>
        </p:txBody>
      </p:sp>
      <p:sp>
        <p:nvSpPr>
          <p:cNvPr id="12" name="Shape 10"/>
          <p:cNvSpPr/>
          <p:nvPr/>
        </p:nvSpPr>
        <p:spPr>
          <a:xfrm>
            <a:off x="7961809" y="1675705"/>
            <a:ext cx="3414216" cy="2031901"/>
          </a:xfrm>
          <a:prstGeom prst="roundRect">
            <a:avLst>
              <a:gd name="adj" fmla="val 4219"/>
            </a:avLst>
          </a:prstGeom>
          <a:solidFill>
            <a:srgbClr val="FFFFFF"/>
          </a:solidFill>
          <a:ln w="6350">
            <a:solidFill>
              <a:srgbClr val="D4DCE3"/>
            </a:solidFill>
            <a:prstDash val="solid"/>
          </a:ln>
        </p:spPr>
      </p:sp>
      <p:sp>
        <p:nvSpPr>
          <p:cNvPr id="13" name="Text 11"/>
          <p:cNvSpPr/>
          <p:nvPr/>
        </p:nvSpPr>
        <p:spPr>
          <a:xfrm>
            <a:off x="8078140" y="1894780"/>
            <a:ext cx="3091510" cy="487660"/>
          </a:xfrm>
          <a:prstGeom prst="rect">
            <a:avLst/>
          </a:prstGeom>
          <a:noFill/>
          <a:ln/>
        </p:spPr>
        <p:txBody>
          <a:bodyPr wrap="square" lIns="0" tIns="0" rIns="0" bIns="0" rtlCol="0" anchor="t">
            <a:normAutofit/>
          </a:bodyPr>
          <a:lstStyle/>
          <a:p>
            <a:pPr algn="r" indent="0" marL="0">
              <a:lnSpc>
                <a:spcPts val="3640"/>
              </a:lnSpc>
              <a:buNone/>
            </a:pPr>
            <a:r>
              <a:rPr lang="en-US" sz="2600" b="1" dirty="0">
                <a:solidFill>
                  <a:srgbClr val="2F6FA8"/>
                </a:solidFill>
                <a:latin typeface="IBM Plex Mono" pitchFamily="34" charset="0"/>
                <a:ea typeface="IBM Plex Mono" pitchFamily="34" charset="-122"/>
                <a:cs typeface="IBM Plex Mono" pitchFamily="34" charset="-120"/>
              </a:rPr>
              <a:t>+68 %</a:t>
            </a:r>
            <a:endParaRPr lang="en-US" sz="2600" dirty="0"/>
          </a:p>
        </p:txBody>
      </p:sp>
      <p:sp>
        <p:nvSpPr>
          <p:cNvPr id="14" name="Text 12"/>
          <p:cNvSpPr/>
          <p:nvPr/>
        </p:nvSpPr>
        <p:spPr>
          <a:xfrm>
            <a:off x="8078140" y="2433241"/>
            <a:ext cx="3091510" cy="261541"/>
          </a:xfrm>
          <a:prstGeom prst="rect">
            <a:avLst/>
          </a:prstGeom>
          <a:noFill/>
          <a:ln/>
        </p:spPr>
        <p:txBody>
          <a:bodyPr wrap="square" lIns="0" tIns="0" rIns="0" bIns="0" rtlCol="0" anchor="t">
            <a:normAutofit/>
          </a:bodyPr>
          <a:lstStyle/>
          <a:p>
            <a:pPr algn="r" indent="0" marL="0">
              <a:lnSpc>
                <a:spcPts val="1860"/>
              </a:lnSpc>
              <a:buNone/>
            </a:pPr>
            <a:r>
              <a:rPr lang="en-US" sz="1550" b="1" dirty="0">
                <a:solidFill>
                  <a:srgbClr val="16202B"/>
                </a:solidFill>
                <a:latin typeface="IBM Plex Sans Arabic" pitchFamily="34" charset="0"/>
                <a:ea typeface="IBM Plex Sans Arabic" pitchFamily="34" charset="-122"/>
                <a:cs typeface="IBM Plex Sans Arabic" pitchFamily="34" charset="-120"/>
              </a:rPr>
              <a:t>بيانات أكثر</a:t>
            </a:r>
            <a:endParaRPr lang="en-US" sz="1550" dirty="0"/>
          </a:p>
        </p:txBody>
      </p:sp>
      <p:sp>
        <p:nvSpPr>
          <p:cNvPr id="15" name="Text 13"/>
          <p:cNvSpPr/>
          <p:nvPr/>
        </p:nvSpPr>
        <p:spPr>
          <a:xfrm>
            <a:off x="8078140" y="2745581"/>
            <a:ext cx="3091510" cy="520700"/>
          </a:xfrm>
          <a:prstGeom prst="rect">
            <a:avLst/>
          </a:prstGeom>
          <a:noFill/>
          <a:ln/>
        </p:spPr>
        <p:txBody>
          <a:bodyPr wrap="square" lIns="0" tIns="0" rIns="0" bIns="0" rtlCol="0" anchor="t">
            <a:normAutofit/>
          </a:bodyPr>
          <a:lstStyle/>
          <a:p>
            <a:pPr algn="r" indent="0" marL="0">
              <a:lnSpc>
                <a:spcPts val="1950"/>
              </a:lnSpc>
              <a:buNone/>
            </a:pPr>
            <a:r>
              <a:rPr lang="en-US" sz="1300" dirty="0">
                <a:solidFill>
                  <a:srgbClr val="5D6E7D"/>
                </a:solidFill>
                <a:latin typeface="IBM Plex Sans Arabic" pitchFamily="34" charset="0"/>
                <a:ea typeface="IBM Plex Sans Arabic" pitchFamily="34" charset="-122"/>
                <a:cs typeface="IBM Plex Sans Arabic" pitchFamily="34" charset="-120"/>
              </a:rPr>
              <a:t>من 175.5 إلى 295.0 دقيقة مُسجّلة في جلسة واحدة</a:t>
            </a:r>
            <a:endParaRPr lang="en-US" sz="1300" dirty="0"/>
          </a:p>
        </p:txBody>
      </p:sp>
      <p:sp>
        <p:nvSpPr>
          <p:cNvPr id="16" name="Shape 14"/>
          <p:cNvSpPr/>
          <p:nvPr/>
        </p:nvSpPr>
        <p:spPr>
          <a:xfrm>
            <a:off x="815975" y="3942556"/>
            <a:ext cx="10560050" cy="1050925"/>
          </a:xfrm>
          <a:prstGeom prst="roundRect">
            <a:avLst>
              <a:gd name="adj" fmla="val 8157"/>
            </a:avLst>
          </a:prstGeom>
          <a:solidFill>
            <a:srgbClr val="EAF1F7"/>
          </a:solidFill>
          <a:ln w="6350">
            <a:solidFill>
              <a:srgbClr val="C3D6E6"/>
            </a:solidFill>
            <a:prstDash val="solid"/>
          </a:ln>
        </p:spPr>
      </p:sp>
      <p:sp>
        <p:nvSpPr>
          <p:cNvPr id="17" name="Text 15"/>
          <p:cNvSpPr/>
          <p:nvPr/>
        </p:nvSpPr>
        <p:spPr>
          <a:xfrm>
            <a:off x="758317" y="4136231"/>
            <a:ext cx="10373233" cy="311150"/>
          </a:xfrm>
          <a:prstGeom prst="rect">
            <a:avLst/>
          </a:prstGeom>
          <a:noFill/>
          <a:ln/>
        </p:spPr>
        <p:txBody>
          <a:bodyPr wrap="square" lIns="0" tIns="0" rIns="0" bIns="0" rtlCol="0" anchor="t">
            <a:normAutofit/>
          </a:bodyPr>
          <a:lstStyle/>
          <a:p>
            <a:pPr algn="r" indent="0" marL="0">
              <a:lnSpc>
                <a:spcPts val="2250"/>
              </a:lnSpc>
              <a:buNone/>
            </a:pPr>
            <a:r>
              <a:rPr lang="en-US" sz="1500" dirty="0">
                <a:solidFill>
                  <a:srgbClr val="16202B"/>
                </a:solidFill>
                <a:latin typeface="IBM Plex Sans Arabic" pitchFamily="34" charset="0"/>
                <a:ea typeface="IBM Plex Sans Arabic" pitchFamily="34" charset="-122"/>
                <a:cs typeface="IBM Plex Sans Arabic" pitchFamily="34" charset="-120"/>
              </a:rPr>
              <a:t>وجملة كنّا نكتبها في الرسالة صارت لاغية: </a:t>
            </a:r>
            <a:r>
              <a:rPr lang="en-US" sz="1500" dirty="0">
                <a:solidFill>
                  <a:srgbClr val="5D6E7D"/>
                </a:solidFill>
                <a:latin typeface="IBM Plex Sans Arabic" pitchFamily="34" charset="0"/>
                <a:ea typeface="IBM Plex Sans Arabic" pitchFamily="34" charset="-122"/>
                <a:cs typeface="IBM Plex Sans Arabic" pitchFamily="34" charset="-120"/>
              </a:rPr>
              <a:t>«لا نملك صعوداً جبليّاً مستمرّاً»</a:t>
            </a:r>
            <a:endParaRPr lang="en-US" sz="1500" dirty="0"/>
          </a:p>
        </p:txBody>
      </p:sp>
      <p:sp>
        <p:nvSpPr>
          <p:cNvPr id="18" name="Text 16"/>
          <p:cNvSpPr/>
          <p:nvPr/>
        </p:nvSpPr>
        <p:spPr>
          <a:xfrm>
            <a:off x="758317" y="4485481"/>
            <a:ext cx="10373233" cy="339725"/>
          </a:xfrm>
          <a:prstGeom prst="rect">
            <a:avLst/>
          </a:prstGeom>
          <a:noFill/>
          <a:ln/>
        </p:spPr>
        <p:txBody>
          <a:bodyPr wrap="square" lIns="0" tIns="0" rIns="0" bIns="0" rtlCol="0" anchor="t">
            <a:normAutofit/>
          </a:bodyPr>
          <a:lstStyle/>
          <a:p>
            <a:pPr algn="r" indent="0" marL="0">
              <a:lnSpc>
                <a:spcPts val="2475"/>
              </a:lnSpc>
              <a:buNone/>
            </a:pPr>
            <a:r>
              <a:rPr lang="en-US" sz="1650" b="1" dirty="0">
                <a:solidFill>
                  <a:srgbClr val="16202B"/>
                </a:solidFill>
                <a:latin typeface="IBM Plex Sans Arabic" pitchFamily="34" charset="0"/>
                <a:ea typeface="IBM Plex Sans Arabic" pitchFamily="34" charset="-122"/>
                <a:cs typeface="IBM Plex Sans Arabic" pitchFamily="34" charset="-120"/>
              </a:rPr>
              <a:t>صرنا نملكه — وهو لا يبلغ الحدّ. هذا قياس، وليس نقصاً في البيانات.</a:t>
            </a:r>
            <a:endParaRPr lang="en-US" sz="16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6202B"/>
        </a:solidFill>
      </p:bgPr>
    </p:bg>
    <p:spTree>
      <p:nvGrpSpPr>
        <p:cNvPr id="1" name=""/>
        <p:cNvGrpSpPr/>
        <p:nvPr/>
      </p:nvGrpSpPr>
      <p:grpSpPr>
        <a:xfrm>
          <a:off x="0" y="0"/>
          <a:ext cx="0" cy="0"/>
          <a:chOff x="0" y="0"/>
          <a:chExt cx="0" cy="0"/>
        </a:xfrm>
      </p:grpSpPr>
      <p:sp>
        <p:nvSpPr>
          <p:cNvPr id="2" name="Text 0"/>
          <p:cNvSpPr/>
          <p:nvPr/>
        </p:nvSpPr>
        <p:spPr>
          <a:xfrm>
            <a:off x="495808" y="711200"/>
            <a:ext cx="10883392" cy="256480"/>
          </a:xfrm>
          <a:prstGeom prst="rect">
            <a:avLst/>
          </a:prstGeom>
          <a:noFill/>
          <a:ln/>
        </p:spPr>
        <p:txBody>
          <a:bodyPr wrap="square" lIns="0" tIns="0" rIns="0" bIns="0" rtlCol="0" anchor="t">
            <a:normAutofit/>
          </a:bodyPr>
          <a:lstStyle/>
          <a:p>
            <a:pPr algn="r" indent="0" marL="0">
              <a:lnSpc>
                <a:spcPts val="1820"/>
              </a:lnSpc>
              <a:buNone/>
            </a:pPr>
            <a:r>
              <a:rPr lang="en-US" sz="1300" b="1" spc="100" kern="0" dirty="0">
                <a:solidFill>
                  <a:srgbClr val="7FB2DC"/>
                </a:solidFill>
                <a:latin typeface="IBM Plex Sans Arabic" pitchFamily="34" charset="0"/>
                <a:ea typeface="IBM Plex Sans Arabic" pitchFamily="34" charset="-122"/>
                <a:cs typeface="IBM Plex Sans Arabic" pitchFamily="34" charset="-120"/>
              </a:rPr>
              <a:t>الذي نجح</a:t>
            </a:r>
            <a:endParaRPr lang="en-US" sz="1300" dirty="0"/>
          </a:p>
        </p:txBody>
      </p:sp>
      <p:sp>
        <p:nvSpPr>
          <p:cNvPr id="3" name="Text 1"/>
          <p:cNvSpPr/>
          <p:nvPr/>
        </p:nvSpPr>
        <p:spPr>
          <a:xfrm>
            <a:off x="495808" y="1005780"/>
            <a:ext cx="10883392" cy="463550"/>
          </a:xfrm>
          <a:prstGeom prst="rect">
            <a:avLst/>
          </a:prstGeom>
          <a:noFill/>
          <a:ln/>
        </p:spPr>
        <p:txBody>
          <a:bodyPr wrap="square" lIns="0" tIns="0" rIns="0" bIns="0" rtlCol="0" anchor="t">
            <a:normAutofit/>
          </a:bodyPr>
          <a:lstStyle/>
          <a:p>
            <a:pPr algn="r" indent="0" marL="0">
              <a:lnSpc>
                <a:spcPts val="3450"/>
              </a:lnSpc>
              <a:buNone/>
            </a:pPr>
            <a:r>
              <a:rPr lang="en-US" sz="3000" b="1" dirty="0">
                <a:solidFill>
                  <a:srgbClr val="F2F4F6"/>
                </a:solidFill>
                <a:latin typeface="IBM Plex Sans Arabic" pitchFamily="34" charset="0"/>
                <a:ea typeface="IBM Plex Sans Arabic" pitchFamily="34" charset="-122"/>
                <a:cs typeface="IBM Plex Sans Arabic" pitchFamily="34" charset="-120"/>
              </a:rPr>
              <a:t>سيناريو مُثبَّت: ميل 12 % عند 130 كم/س</a:t>
            </a:r>
            <a:endParaRPr lang="en-US" sz="3000" dirty="0"/>
          </a:p>
        </p:txBody>
      </p:sp>
      <p:sp>
        <p:nvSpPr>
          <p:cNvPr id="4" name="Shape 2"/>
          <p:cNvSpPr/>
          <p:nvPr/>
        </p:nvSpPr>
        <p:spPr>
          <a:xfrm>
            <a:off x="815975" y="1663005"/>
            <a:ext cx="3652242" cy="1220391"/>
          </a:xfrm>
          <a:prstGeom prst="roundRect">
            <a:avLst>
              <a:gd name="adj" fmla="val 8065"/>
            </a:avLst>
          </a:prstGeom>
          <a:solidFill>
            <a:srgbClr val="22303F"/>
          </a:solidFill>
          <a:ln w="6350">
            <a:solidFill>
              <a:srgbClr val="3A4C5C"/>
            </a:solidFill>
            <a:prstDash val="solid"/>
          </a:ln>
        </p:spPr>
      </p:sp>
      <p:sp>
        <p:nvSpPr>
          <p:cNvPr id="5" name="Text 3"/>
          <p:cNvSpPr/>
          <p:nvPr/>
        </p:nvSpPr>
        <p:spPr>
          <a:xfrm>
            <a:off x="938627" y="1869380"/>
            <a:ext cx="3310515" cy="274241"/>
          </a:xfrm>
          <a:prstGeom prst="rect">
            <a:avLst/>
          </a:prstGeom>
          <a:noFill/>
          <a:ln/>
        </p:spPr>
        <p:txBody>
          <a:bodyPr wrap="square" lIns="0" tIns="0" rIns="0" bIns="0" rtlCol="0" anchor="t">
            <a:normAutofit/>
          </a:bodyPr>
          <a:lstStyle/>
          <a:p>
            <a:pPr algn="r" indent="0" marL="0">
              <a:lnSpc>
                <a:spcPts val="1960"/>
              </a:lnSpc>
              <a:buNone/>
            </a:pPr>
            <a:r>
              <a:rPr lang="en-US" sz="1400" b="1" dirty="0">
                <a:solidFill>
                  <a:srgbClr val="B8C6D4"/>
                </a:solidFill>
                <a:latin typeface="IBM Plex Sans Arabic" pitchFamily="34" charset="0"/>
                <a:ea typeface="IBM Plex Sans Arabic" pitchFamily="34" charset="-122"/>
                <a:cs typeface="IBM Plex Sans Arabic" pitchFamily="34" charset="-120"/>
              </a:rPr>
              <a:t>أخيراً صار للحماية عمل تقوم به</a:t>
            </a:r>
            <a:endParaRPr lang="en-US" sz="1400" dirty="0"/>
          </a:p>
        </p:txBody>
      </p:sp>
      <p:sp>
        <p:nvSpPr>
          <p:cNvPr id="6" name="Text 4"/>
          <p:cNvSpPr/>
          <p:nvPr/>
        </p:nvSpPr>
        <p:spPr>
          <a:xfrm>
            <a:off x="938627" y="2181721"/>
            <a:ext cx="3310515" cy="520700"/>
          </a:xfrm>
          <a:prstGeom prst="rect">
            <a:avLst/>
          </a:prstGeom>
          <a:noFill/>
          <a:ln/>
        </p:spPr>
        <p:txBody>
          <a:bodyPr wrap="square" lIns="0" tIns="0" rIns="0" bIns="0" rtlCol="0" anchor="t">
            <a:normAutofit/>
          </a:bodyPr>
          <a:lstStyle/>
          <a:p>
            <a:pPr algn="r" indent="0" marL="0">
              <a:lnSpc>
                <a:spcPts val="1950"/>
              </a:lnSpc>
              <a:buNone/>
            </a:pPr>
            <a:r>
              <a:rPr lang="en-US" sz="1300" dirty="0">
                <a:solidFill>
                  <a:srgbClr val="8FA3B5"/>
                </a:solidFill>
                <a:latin typeface="IBM Plex Sans Arabic" pitchFamily="34" charset="0"/>
                <a:ea typeface="IBM Plex Sans Arabic" pitchFamily="34" charset="-122"/>
                <a:cs typeface="IBM Plex Sans Arabic" pitchFamily="34" charset="-120"/>
              </a:rPr>
              <a:t>قبل هذا كان المحرّك أبرد من الحدّ، فأيّ حماية وأيّ استشراف كانا بلا معنى</a:t>
            </a:r>
            <a:endParaRPr lang="en-US" sz="1300" dirty="0"/>
          </a:p>
        </p:txBody>
      </p:sp>
      <p:sp>
        <p:nvSpPr>
          <p:cNvPr id="7" name="Shape 5"/>
          <p:cNvSpPr/>
          <p:nvPr/>
        </p:nvSpPr>
        <p:spPr>
          <a:xfrm>
            <a:off x="4626967" y="1663005"/>
            <a:ext cx="3295154" cy="1220391"/>
          </a:xfrm>
          <a:prstGeom prst="roundRect">
            <a:avLst>
              <a:gd name="adj" fmla="val 8065"/>
            </a:avLst>
          </a:prstGeom>
          <a:solidFill>
            <a:srgbClr val="1C2A36"/>
          </a:solidFill>
          <a:ln w="6350">
            <a:solidFill>
              <a:srgbClr val="2F6FA8"/>
            </a:solidFill>
            <a:prstDash val="solid"/>
          </a:ln>
        </p:spPr>
      </p:sp>
      <p:sp>
        <p:nvSpPr>
          <p:cNvPr id="8" name="Text 6"/>
          <p:cNvSpPr/>
          <p:nvPr/>
        </p:nvSpPr>
        <p:spPr>
          <a:xfrm>
            <a:off x="4760332" y="1885851"/>
            <a:ext cx="2942714" cy="469900"/>
          </a:xfrm>
          <a:prstGeom prst="rect">
            <a:avLst/>
          </a:prstGeom>
          <a:noFill/>
          <a:ln/>
        </p:spPr>
        <p:txBody>
          <a:bodyPr wrap="square" lIns="0" tIns="0" rIns="0" bIns="0" rtlCol="0" anchor="t">
            <a:normAutofit/>
          </a:bodyPr>
          <a:lstStyle/>
          <a:p>
            <a:pPr algn="r" indent="0" marL="0">
              <a:lnSpc>
                <a:spcPts val="3500"/>
              </a:lnSpc>
              <a:buNone/>
            </a:pPr>
            <a:r>
              <a:rPr lang="en-US" sz="3500" b="1" dirty="0">
                <a:solidFill>
                  <a:srgbClr val="F2F4F6"/>
                </a:solidFill>
                <a:latin typeface="IBM Plex Mono" pitchFamily="34" charset="0"/>
                <a:ea typeface="IBM Plex Mono" pitchFamily="34" charset="-122"/>
                <a:cs typeface="IBM Plex Mono" pitchFamily="34" charset="-120"/>
              </a:rPr>
              <a:t>34.0 %</a:t>
            </a:r>
            <a:endParaRPr lang="en-US" sz="3500" dirty="0"/>
          </a:p>
        </p:txBody>
      </p:sp>
      <p:sp>
        <p:nvSpPr>
          <p:cNvPr id="9" name="Text 7"/>
          <p:cNvSpPr/>
          <p:nvPr/>
        </p:nvSpPr>
        <p:spPr>
          <a:xfrm>
            <a:off x="4760332" y="2393851"/>
            <a:ext cx="2942714" cy="292100"/>
          </a:xfrm>
          <a:prstGeom prst="rect">
            <a:avLst/>
          </a:prstGeom>
          <a:noFill/>
          <a:ln/>
        </p:spPr>
        <p:txBody>
          <a:bodyPr wrap="square" lIns="0" tIns="0" rIns="0" bIns="0" rtlCol="0" anchor="t">
            <a:normAutofit/>
          </a:bodyPr>
          <a:lstStyle/>
          <a:p>
            <a:pPr algn="r" indent="0" marL="0">
              <a:lnSpc>
                <a:spcPts val="2100"/>
              </a:lnSpc>
              <a:buNone/>
            </a:pPr>
            <a:r>
              <a:rPr lang="en-US" sz="1500" b="1" dirty="0">
                <a:solidFill>
                  <a:srgbClr val="7FB2DC"/>
                </a:solidFill>
                <a:latin typeface="IBM Plex Sans Arabic" pitchFamily="34" charset="0"/>
                <a:ea typeface="IBM Plex Sans Arabic" pitchFamily="34" charset="-122"/>
                <a:cs typeface="IBM Plex Sans Arabic" pitchFamily="34" charset="-120"/>
              </a:rPr>
              <a:t>ما تخفضه الحماية من الضرر</a:t>
            </a:r>
            <a:endParaRPr lang="en-US" sz="1500" dirty="0"/>
          </a:p>
        </p:txBody>
      </p:sp>
      <p:sp>
        <p:nvSpPr>
          <p:cNvPr id="10" name="Shape 8"/>
          <p:cNvSpPr/>
          <p:nvPr/>
        </p:nvSpPr>
        <p:spPr>
          <a:xfrm>
            <a:off x="8080871" y="1663005"/>
            <a:ext cx="3295154" cy="1220391"/>
          </a:xfrm>
          <a:prstGeom prst="roundRect">
            <a:avLst>
              <a:gd name="adj" fmla="val 8065"/>
            </a:avLst>
          </a:prstGeom>
          <a:solidFill>
            <a:srgbClr val="1C2A36"/>
          </a:solidFill>
          <a:ln w="6350">
            <a:solidFill>
              <a:srgbClr val="2F6FA8"/>
            </a:solidFill>
            <a:prstDash val="solid"/>
          </a:ln>
        </p:spPr>
      </p:sp>
      <p:sp>
        <p:nvSpPr>
          <p:cNvPr id="11" name="Text 9"/>
          <p:cNvSpPr/>
          <p:nvPr/>
        </p:nvSpPr>
        <p:spPr>
          <a:xfrm>
            <a:off x="8214236" y="1885851"/>
            <a:ext cx="2942714" cy="469900"/>
          </a:xfrm>
          <a:prstGeom prst="rect">
            <a:avLst/>
          </a:prstGeom>
          <a:noFill/>
          <a:ln/>
        </p:spPr>
        <p:txBody>
          <a:bodyPr wrap="square" lIns="0" tIns="0" rIns="0" bIns="0" rtlCol="0" anchor="t">
            <a:normAutofit/>
          </a:bodyPr>
          <a:lstStyle/>
          <a:p>
            <a:pPr algn="r" indent="0" marL="0">
              <a:lnSpc>
                <a:spcPts val="3500"/>
              </a:lnSpc>
              <a:buNone/>
            </a:pPr>
            <a:r>
              <a:rPr lang="en-US" sz="3500" b="1" dirty="0">
                <a:solidFill>
                  <a:srgbClr val="F2F4F6"/>
                </a:solidFill>
                <a:latin typeface="IBM Plex Mono" pitchFamily="34" charset="0"/>
                <a:ea typeface="IBM Plex Mono" pitchFamily="34" charset="-122"/>
                <a:cs typeface="IBM Plex Mono" pitchFamily="34" charset="-120"/>
              </a:rPr>
              <a:t>884 °C</a:t>
            </a:r>
            <a:endParaRPr lang="en-US" sz="3500" dirty="0"/>
          </a:p>
        </p:txBody>
      </p:sp>
      <p:sp>
        <p:nvSpPr>
          <p:cNvPr id="12" name="Text 10"/>
          <p:cNvSpPr/>
          <p:nvPr/>
        </p:nvSpPr>
        <p:spPr>
          <a:xfrm>
            <a:off x="8214236" y="2393851"/>
            <a:ext cx="2942714" cy="292100"/>
          </a:xfrm>
          <a:prstGeom prst="rect">
            <a:avLst/>
          </a:prstGeom>
          <a:noFill/>
          <a:ln/>
        </p:spPr>
        <p:txBody>
          <a:bodyPr wrap="square" lIns="0" tIns="0" rIns="0" bIns="0" rtlCol="0" anchor="t">
            <a:normAutofit/>
          </a:bodyPr>
          <a:lstStyle/>
          <a:p>
            <a:pPr algn="r" indent="0" marL="0">
              <a:lnSpc>
                <a:spcPts val="2100"/>
              </a:lnSpc>
              <a:buNone/>
            </a:pPr>
            <a:r>
              <a:rPr lang="en-US" sz="1500" b="1" dirty="0">
                <a:solidFill>
                  <a:srgbClr val="7FB2DC"/>
                </a:solidFill>
                <a:latin typeface="IBM Plex Sans Arabic" pitchFamily="34" charset="0"/>
                <a:ea typeface="IBM Plex Sans Arabic" pitchFamily="34" charset="-122"/>
                <a:cs typeface="IBM Plex Sans Arabic" pitchFamily="34" charset="-120"/>
              </a:rPr>
              <a:t>فوق الحدّ بـ 34 درجة</a:t>
            </a:r>
            <a:endParaRPr lang="en-US" sz="1500" dirty="0"/>
          </a:p>
        </p:txBody>
      </p:sp>
      <p:sp>
        <p:nvSpPr>
          <p:cNvPr id="13" name="Shape 11"/>
          <p:cNvSpPr/>
          <p:nvPr/>
        </p:nvSpPr>
        <p:spPr>
          <a:xfrm>
            <a:off x="815975" y="3105646"/>
            <a:ext cx="10560050" cy="1551781"/>
          </a:xfrm>
          <a:prstGeom prst="roundRect">
            <a:avLst>
              <a:gd name="adj" fmla="val 6343"/>
            </a:avLst>
          </a:prstGeom>
          <a:solidFill>
            <a:srgbClr val="22303F"/>
          </a:solidFill>
          <a:ln w="6350">
            <a:solidFill>
              <a:srgbClr val="3A4C5C"/>
            </a:solidFill>
            <a:prstDash val="solid"/>
          </a:ln>
        </p:spPr>
      </p:sp>
      <p:sp>
        <p:nvSpPr>
          <p:cNvPr id="14" name="Text 12"/>
          <p:cNvSpPr/>
          <p:nvPr/>
        </p:nvSpPr>
        <p:spPr>
          <a:xfrm>
            <a:off x="771779" y="3312021"/>
            <a:ext cx="10347071" cy="283170"/>
          </a:xfrm>
          <a:prstGeom prst="rect">
            <a:avLst/>
          </a:prstGeom>
          <a:noFill/>
          <a:ln/>
        </p:spPr>
        <p:txBody>
          <a:bodyPr wrap="square" lIns="0" tIns="0" rIns="0" bIns="0" rtlCol="0" anchor="t">
            <a:normAutofit/>
          </a:bodyPr>
          <a:lstStyle/>
          <a:p>
            <a:pPr algn="r" indent="0" marL="0">
              <a:lnSpc>
                <a:spcPts val="2030"/>
              </a:lnSpc>
              <a:buNone/>
            </a:pPr>
            <a:r>
              <a:rPr lang="en-US" sz="1450" b="1" dirty="0">
                <a:solidFill>
                  <a:srgbClr val="7FB2DC"/>
                </a:solidFill>
                <a:latin typeface="IBM Plex Sans Arabic" pitchFamily="34" charset="0"/>
                <a:ea typeface="IBM Plex Sans Arabic" pitchFamily="34" charset="-122"/>
                <a:cs typeface="IBM Plex Sans Arabic" pitchFamily="34" charset="-120"/>
              </a:rPr>
              <a:t>لم نختره بالحدس — قِسنا ثماني تركيبات ووجدنا الحدّ الفاصل قرب 12 % عند 120 كم/س</a:t>
            </a:r>
            <a:endParaRPr lang="en-US" sz="1450" dirty="0"/>
          </a:p>
        </p:txBody>
      </p:sp>
      <p:sp>
        <p:nvSpPr>
          <p:cNvPr id="15" name="Text 13"/>
          <p:cNvSpPr/>
          <p:nvPr/>
        </p:nvSpPr>
        <p:spPr>
          <a:xfrm>
            <a:off x="929322" y="3671391"/>
            <a:ext cx="4938078" cy="805061"/>
          </a:xfrm>
          <a:prstGeom prst="rect">
            <a:avLst/>
          </a:prstGeom>
          <a:noFill/>
          <a:ln/>
        </p:spPr>
        <p:txBody>
          <a:bodyPr wrap="square" lIns="0" tIns="0" rIns="0" bIns="0" rtlCol="0" anchor="t">
            <a:normAutofit/>
          </a:bodyPr>
          <a:lstStyle/>
          <a:p>
            <a:pPr algn="r" indent="0" marL="0">
              <a:lnSpc>
                <a:spcPts val="2100"/>
              </a:lnSpc>
              <a:buNone/>
            </a:pPr>
            <a:r>
              <a:rPr lang="en-US" sz="1400" dirty="0">
                <a:solidFill>
                  <a:srgbClr val="B8C6D4"/>
                </a:solidFill>
                <a:latin typeface="IBM Plex Sans Arabic" pitchFamily="34" charset="0"/>
                <a:ea typeface="IBM Plex Sans Arabic" pitchFamily="34" charset="-122"/>
                <a:cs typeface="IBM Plex Sans Arabic" pitchFamily="34" charset="-120"/>
              </a:rPr>
              <a:t>ميل مختلف، وسرعة مختلفة، و</a:t>
            </a:r>
            <a:r>
              <a:rPr lang="en-US" sz="1400" b="1" dirty="0">
                <a:solidFill>
                  <a:srgbClr val="B8C6D4"/>
                </a:solidFill>
                <a:latin typeface="IBM Plex Sans Arabic" pitchFamily="34" charset="0"/>
                <a:ea typeface="IBM Plex Sans Arabic" pitchFamily="34" charset="-122"/>
                <a:cs typeface="IBM Plex Sans Arabic" pitchFamily="34" charset="-120"/>
              </a:rPr>
              <a:t>قدرة واحدة فحرارة واحدة</a:t>
            </a:r>
            <a:r>
              <a:rPr lang="en-US" sz="1400" dirty="0">
                <a:solidFill>
                  <a:srgbClr val="B8C6D4"/>
                </a:solidFill>
                <a:latin typeface="IBM Plex Sans Arabic" pitchFamily="34" charset="0"/>
                <a:ea typeface="IBM Plex Sans Arabic" pitchFamily="34" charset="-122"/>
                <a:cs typeface="IBM Plex Sans Arabic" pitchFamily="34" charset="-120"/>
              </a:rPr>
              <a:t>. هذا ما وجّهنا للاختيار بدل التجريب العشوائيّ.</a:t>
            </a:r>
            <a:endParaRPr lang="en-US" sz="1400" dirty="0"/>
          </a:p>
        </p:txBody>
      </p:sp>
      <p:sp>
        <p:nvSpPr>
          <p:cNvPr id="16" name="Shape 14"/>
          <p:cNvSpPr/>
          <p:nvPr/>
        </p:nvSpPr>
        <p:spPr>
          <a:xfrm>
            <a:off x="5994400" y="3671391"/>
            <a:ext cx="5124450" cy="779661"/>
          </a:xfrm>
          <a:prstGeom prst="roundRect">
            <a:avLst>
              <a:gd name="adj" fmla="val 9773"/>
            </a:avLst>
          </a:prstGeom>
          <a:solidFill>
            <a:srgbClr val="1C2A36"/>
          </a:solidFill>
          <a:ln/>
        </p:spPr>
      </p:sp>
      <p:sp>
        <p:nvSpPr>
          <p:cNvPr id="17" name="Text 15"/>
          <p:cNvSpPr/>
          <p:nvPr/>
        </p:nvSpPr>
        <p:spPr>
          <a:xfrm>
            <a:off x="6015673" y="3811091"/>
            <a:ext cx="4938078"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F2F4F6"/>
                </a:solidFill>
                <a:latin typeface="IBM Plex Mono" pitchFamily="34" charset="0"/>
                <a:ea typeface="IBM Plex Mono" pitchFamily="34" charset="-122"/>
                <a:cs typeface="IBM Plex Mono" pitchFamily="34" charset="-120"/>
              </a:rPr>
              <a:t>12 % @ 130 → 88.7 kW → 899 °C</a:t>
            </a:r>
            <a:endParaRPr lang="en-US" sz="1300" dirty="0"/>
          </a:p>
        </p:txBody>
      </p:sp>
      <p:sp>
        <p:nvSpPr>
          <p:cNvPr id="18" name="Text 16"/>
          <p:cNvSpPr/>
          <p:nvPr/>
        </p:nvSpPr>
        <p:spPr>
          <a:xfrm>
            <a:off x="6015673" y="4080272"/>
            <a:ext cx="4938078"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F2F4F6"/>
                </a:solidFill>
                <a:latin typeface="IBM Plex Mono" pitchFamily="34" charset="0"/>
                <a:ea typeface="IBM Plex Mono" pitchFamily="34" charset="-122"/>
                <a:cs typeface="IBM Plex Mono" pitchFamily="34" charset="-120"/>
              </a:rPr>
              <a:t>16 % @ 110 → 88.5 kW → 906 °C</a:t>
            </a:r>
            <a:endParaRPr lang="en-US" sz="1300" dirty="0"/>
          </a:p>
        </p:txBody>
      </p:sp>
      <p:sp>
        <p:nvSpPr>
          <p:cNvPr id="19" name="Text 17"/>
          <p:cNvSpPr/>
          <p:nvPr/>
        </p:nvSpPr>
        <p:spPr>
          <a:xfrm>
            <a:off x="495808" y="4876502"/>
            <a:ext cx="10883392" cy="254000"/>
          </a:xfrm>
          <a:prstGeom prst="rect">
            <a:avLst/>
          </a:prstGeom>
          <a:noFill/>
          <a:ln/>
        </p:spPr>
        <p:txBody>
          <a:bodyPr wrap="square" lIns="0" tIns="0" rIns="0" bIns="0" rtlCol="0" anchor="t">
            <a:normAutofit/>
          </a:bodyPr>
          <a:lstStyle/>
          <a:p>
            <a:pPr algn="r" indent="0" marL="0">
              <a:lnSpc>
                <a:spcPts val="1800"/>
              </a:lnSpc>
              <a:buNone/>
            </a:pPr>
            <a:r>
              <a:rPr lang="en-US" sz="1200" dirty="0">
                <a:solidFill>
                  <a:srgbClr val="8A9AA8"/>
                </a:solidFill>
                <a:latin typeface="IBM Plex Sans Arabic" pitchFamily="34" charset="0"/>
                <a:ea typeface="IBM Plex Sans Arabic" pitchFamily="34" charset="-122"/>
                <a:cs typeface="IBM Plex Sans Arabic" pitchFamily="34" charset="-120"/>
              </a:rPr>
              <a:t>الأرقام في المستطيل الأسفل من مسح المظروف قبل إدخال ناقل الحركة الحقيقيّ. بعد إدخال الثمانيّ الحقيقيّ استقرّ السيناريو على 884 °C — وما زال يتجاوز الحدّ.</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95808" y="711200"/>
            <a:ext cx="10883392" cy="256480"/>
          </a:xfrm>
          <a:prstGeom prst="rect">
            <a:avLst/>
          </a:prstGeom>
          <a:noFill/>
          <a:ln/>
        </p:spPr>
        <p:txBody>
          <a:bodyPr wrap="square" lIns="0" tIns="0" rIns="0" bIns="0" rtlCol="0" anchor="t">
            <a:normAutofit/>
          </a:bodyPr>
          <a:lstStyle/>
          <a:p>
            <a:pPr algn="r" indent="0" marL="0">
              <a:lnSpc>
                <a:spcPts val="1820"/>
              </a:lnSpc>
              <a:buNone/>
            </a:pPr>
            <a:r>
              <a:rPr lang="en-US" sz="1300" b="1" spc="100" kern="0" dirty="0">
                <a:solidFill>
                  <a:srgbClr val="2F6FA8"/>
                </a:solidFill>
                <a:latin typeface="IBM Plex Sans Arabic" pitchFamily="34" charset="0"/>
                <a:ea typeface="IBM Plex Sans Arabic" pitchFamily="34" charset="-122"/>
                <a:cs typeface="IBM Plex Sans Arabic" pitchFamily="34" charset="-120"/>
              </a:rPr>
              <a:t>أين وصلنا</a:t>
            </a:r>
            <a:endParaRPr lang="en-US" sz="1300" dirty="0"/>
          </a:p>
        </p:txBody>
      </p:sp>
      <p:sp>
        <p:nvSpPr>
          <p:cNvPr id="3" name="Text 1"/>
          <p:cNvSpPr/>
          <p:nvPr/>
        </p:nvSpPr>
        <p:spPr>
          <a:xfrm>
            <a:off x="495808" y="1005780"/>
            <a:ext cx="10883392" cy="463550"/>
          </a:xfrm>
          <a:prstGeom prst="rect">
            <a:avLst/>
          </a:prstGeom>
          <a:noFill/>
          <a:ln/>
        </p:spPr>
        <p:txBody>
          <a:bodyPr wrap="square" lIns="0" tIns="0" rIns="0" bIns="0" rtlCol="0" anchor="t">
            <a:normAutofit/>
          </a:bodyPr>
          <a:lstStyle/>
          <a:p>
            <a:pPr algn="r" indent="0" marL="0">
              <a:lnSpc>
                <a:spcPts val="3450"/>
              </a:lnSpc>
              <a:buNone/>
            </a:pPr>
            <a:r>
              <a:rPr lang="en-US" sz="3000" b="1" dirty="0">
                <a:solidFill>
                  <a:srgbClr val="16202B"/>
                </a:solidFill>
                <a:latin typeface="IBM Plex Sans Arabic" pitchFamily="34" charset="0"/>
                <a:ea typeface="IBM Plex Sans Arabic" pitchFamily="34" charset="-122"/>
                <a:cs typeface="IBM Plex Sans Arabic" pitchFamily="34" charset="-120"/>
              </a:rPr>
              <a:t>الأساس صار سليماً، والسؤال الأصليّ ما زال مفتوحاً</a:t>
            </a:r>
            <a:endParaRPr lang="en-US" sz="3000" dirty="0"/>
          </a:p>
        </p:txBody>
      </p:sp>
      <p:sp>
        <p:nvSpPr>
          <p:cNvPr id="4" name="Shape 2"/>
          <p:cNvSpPr/>
          <p:nvPr/>
        </p:nvSpPr>
        <p:spPr>
          <a:xfrm>
            <a:off x="815975" y="1675705"/>
            <a:ext cx="5187950" cy="2216150"/>
          </a:xfrm>
          <a:prstGeom prst="roundRect">
            <a:avLst>
              <a:gd name="adj" fmla="val 4441"/>
            </a:avLst>
          </a:prstGeom>
          <a:solidFill>
            <a:srgbClr val="FDF6F2"/>
          </a:solidFill>
          <a:ln w="6350">
            <a:solidFill>
              <a:srgbClr val="E8D0BA"/>
            </a:solidFill>
            <a:prstDash val="solid"/>
          </a:ln>
        </p:spPr>
      </p:sp>
      <p:sp>
        <p:nvSpPr>
          <p:cNvPr id="5" name="Text 3"/>
          <p:cNvSpPr/>
          <p:nvPr/>
        </p:nvSpPr>
        <p:spPr>
          <a:xfrm>
            <a:off x="919480" y="1894780"/>
            <a:ext cx="4839970" cy="274241"/>
          </a:xfrm>
          <a:prstGeom prst="rect">
            <a:avLst/>
          </a:prstGeom>
          <a:noFill/>
          <a:ln/>
        </p:spPr>
        <p:txBody>
          <a:bodyPr wrap="square" lIns="0" tIns="0" rIns="0" bIns="0" rtlCol="0" anchor="t">
            <a:normAutofit/>
          </a:bodyPr>
          <a:lstStyle/>
          <a:p>
            <a:pPr algn="r" indent="0" marL="0">
              <a:lnSpc>
                <a:spcPts val="1960"/>
              </a:lnSpc>
              <a:buNone/>
            </a:pPr>
            <a:r>
              <a:rPr lang="en-US" sz="1400" b="1" dirty="0">
                <a:solidFill>
                  <a:srgbClr val="B5741A"/>
                </a:solidFill>
                <a:latin typeface="IBM Plex Sans Arabic" pitchFamily="34" charset="0"/>
                <a:ea typeface="IBM Plex Sans Arabic" pitchFamily="34" charset="-122"/>
                <a:cs typeface="IBM Plex Sans Arabic" pitchFamily="34" charset="-120"/>
              </a:rPr>
              <a:t>ما لم يُحسَم بعد</a:t>
            </a:r>
            <a:endParaRPr lang="en-US" sz="1400" dirty="0"/>
          </a:p>
        </p:txBody>
      </p:sp>
      <p:sp>
        <p:nvSpPr>
          <p:cNvPr id="6" name="Text 4"/>
          <p:cNvSpPr/>
          <p:nvPr/>
        </p:nvSpPr>
        <p:spPr>
          <a:xfrm>
            <a:off x="919480" y="2232521"/>
            <a:ext cx="4839970" cy="596106"/>
          </a:xfrm>
          <a:prstGeom prst="rect">
            <a:avLst/>
          </a:prstGeom>
          <a:noFill/>
          <a:ln/>
        </p:spPr>
        <p:txBody>
          <a:bodyPr wrap="square" lIns="0" tIns="0" rIns="0" bIns="0" rtlCol="0" anchor="t">
            <a:normAutofit/>
          </a:bodyPr>
          <a:lstStyle/>
          <a:p>
            <a:pPr algn="r" indent="0" marL="0">
              <a:lnSpc>
                <a:spcPts val="2248"/>
              </a:lnSpc>
              <a:buNone/>
            </a:pPr>
            <a:r>
              <a:rPr lang="en-US" sz="1450" dirty="0">
                <a:solidFill>
                  <a:srgbClr val="16202B"/>
                </a:solidFill>
                <a:latin typeface="IBM Plex Sans Arabic" pitchFamily="34" charset="0"/>
                <a:ea typeface="IBM Plex Sans Arabic" pitchFamily="34" charset="-122"/>
                <a:cs typeface="IBM Plex Sans Arabic" pitchFamily="34" charset="-120"/>
              </a:rPr>
              <a:t>بالسياسات المكتوبة يدوياً، الاستشراف </a:t>
            </a:r>
            <a:r>
              <a:rPr lang="en-US" sz="1450" b="1" dirty="0">
                <a:solidFill>
                  <a:srgbClr val="16202B"/>
                </a:solidFill>
                <a:latin typeface="IBM Plex Sans Arabic" pitchFamily="34" charset="0"/>
                <a:ea typeface="IBM Plex Sans Arabic" pitchFamily="34" charset="-122"/>
                <a:cs typeface="IBM Plex Sans Arabic" pitchFamily="34" charset="-120"/>
              </a:rPr>
              <a:t>ما زال يخسر</a:t>
            </a:r>
            <a:r>
              <a:rPr lang="en-US" sz="1450" dirty="0">
                <a:solidFill>
                  <a:srgbClr val="16202B"/>
                </a:solidFill>
                <a:latin typeface="IBM Plex Sans Arabic" pitchFamily="34" charset="0"/>
                <a:ea typeface="IBM Plex Sans Arabic" pitchFamily="34" charset="-122"/>
                <a:cs typeface="IBM Plex Sans Arabic" pitchFamily="34" charset="-120"/>
              </a:rPr>
              <a:t>: من ناقص 1.8 نقطة إلى ناقص 0.4 نقطة.</a:t>
            </a:r>
            <a:endParaRPr lang="en-US" sz="1450" dirty="0"/>
          </a:p>
        </p:txBody>
      </p:sp>
      <p:sp>
        <p:nvSpPr>
          <p:cNvPr id="7" name="Text 5"/>
          <p:cNvSpPr/>
          <p:nvPr/>
        </p:nvSpPr>
        <p:spPr>
          <a:xfrm>
            <a:off x="919480" y="2892127"/>
            <a:ext cx="4839970" cy="520700"/>
          </a:xfrm>
          <a:prstGeom prst="rect">
            <a:avLst/>
          </a:prstGeom>
          <a:noFill/>
          <a:ln/>
        </p:spPr>
        <p:txBody>
          <a:bodyPr wrap="square" lIns="0" tIns="0" rIns="0" bIns="0" rtlCol="0" anchor="t">
            <a:normAutofit/>
          </a:bodyPr>
          <a:lstStyle/>
          <a:p>
            <a:pPr algn="r" indent="0" marL="0">
              <a:lnSpc>
                <a:spcPts val="1950"/>
              </a:lnSpc>
              <a:buNone/>
            </a:pPr>
            <a:r>
              <a:rPr lang="en-US" sz="1300" dirty="0">
                <a:solidFill>
                  <a:srgbClr val="8A6A42"/>
                </a:solidFill>
                <a:latin typeface="IBM Plex Sans Arabic" pitchFamily="34" charset="0"/>
                <a:ea typeface="IBM Plex Sans Arabic" pitchFamily="34" charset="-122"/>
                <a:cs typeface="IBM Plex Sans Arabic" pitchFamily="34" charset="-120"/>
              </a:rPr>
              <a:t>خمسة سيناريوهات وثلاث سياسات، والاستشراف يخسر في جميعها — وبهامش يتغيّر بمجرّد تغيير صيغة سطر واحد داخل إحدى السياسات.</a:t>
            </a:r>
            <a:endParaRPr lang="en-US" sz="1300" dirty="0"/>
          </a:p>
        </p:txBody>
      </p:sp>
      <p:sp>
        <p:nvSpPr>
          <p:cNvPr id="8" name="Shape 6"/>
          <p:cNvSpPr/>
          <p:nvPr/>
        </p:nvSpPr>
        <p:spPr>
          <a:xfrm>
            <a:off x="6188075" y="1675705"/>
            <a:ext cx="5187950" cy="2216150"/>
          </a:xfrm>
          <a:prstGeom prst="roundRect">
            <a:avLst>
              <a:gd name="adj" fmla="val 4441"/>
            </a:avLst>
          </a:prstGeom>
          <a:solidFill>
            <a:srgbClr val="F2F7FA"/>
          </a:solidFill>
          <a:ln w="6350">
            <a:solidFill>
              <a:srgbClr val="C3D6E6"/>
            </a:solidFill>
            <a:prstDash val="solid"/>
          </a:ln>
        </p:spPr>
      </p:sp>
      <p:sp>
        <p:nvSpPr>
          <p:cNvPr id="9" name="Text 7"/>
          <p:cNvSpPr/>
          <p:nvPr/>
        </p:nvSpPr>
        <p:spPr>
          <a:xfrm>
            <a:off x="6291580" y="1894780"/>
            <a:ext cx="4839970" cy="274241"/>
          </a:xfrm>
          <a:prstGeom prst="rect">
            <a:avLst/>
          </a:prstGeom>
          <a:noFill/>
          <a:ln/>
        </p:spPr>
        <p:txBody>
          <a:bodyPr wrap="square" lIns="0" tIns="0" rIns="0" bIns="0" rtlCol="0" anchor="t">
            <a:normAutofit/>
          </a:bodyPr>
          <a:lstStyle/>
          <a:p>
            <a:pPr algn="r" indent="0" marL="0">
              <a:lnSpc>
                <a:spcPts val="1960"/>
              </a:lnSpc>
              <a:buNone/>
            </a:pPr>
            <a:r>
              <a:rPr lang="en-US" sz="1400" b="1" dirty="0">
                <a:solidFill>
                  <a:srgbClr val="2F6FA8"/>
                </a:solidFill>
                <a:latin typeface="IBM Plex Sans Arabic" pitchFamily="34" charset="0"/>
                <a:ea typeface="IBM Plex Sans Arabic" pitchFamily="34" charset="-122"/>
                <a:cs typeface="IBM Plex Sans Arabic" pitchFamily="34" charset="-120"/>
              </a:rPr>
              <a:t>ما استقرّ</a:t>
            </a:r>
            <a:endParaRPr lang="en-US" sz="1400" dirty="0"/>
          </a:p>
        </p:txBody>
      </p:sp>
      <p:sp>
        <p:nvSpPr>
          <p:cNvPr id="10" name="Text 8"/>
          <p:cNvSpPr/>
          <p:nvPr/>
        </p:nvSpPr>
        <p:spPr>
          <a:xfrm>
            <a:off x="6291580" y="2232521"/>
            <a:ext cx="4839970" cy="881459"/>
          </a:xfrm>
          <a:prstGeom prst="rect">
            <a:avLst/>
          </a:prstGeom>
          <a:noFill/>
          <a:ln/>
        </p:spPr>
        <p:txBody>
          <a:bodyPr wrap="square" lIns="0" tIns="0" rIns="0" bIns="0" rtlCol="0" anchor="t">
            <a:normAutofit/>
          </a:bodyPr>
          <a:lstStyle/>
          <a:p>
            <a:pPr algn="r" indent="0" marL="0">
              <a:lnSpc>
                <a:spcPts val="2248"/>
              </a:lnSpc>
              <a:buNone/>
            </a:pPr>
            <a:r>
              <a:rPr lang="en-US" sz="1450" dirty="0">
                <a:solidFill>
                  <a:srgbClr val="16202B"/>
                </a:solidFill>
                <a:latin typeface="IBM Plex Sans Arabic" pitchFamily="34" charset="0"/>
                <a:ea typeface="IBM Plex Sans Arabic" pitchFamily="34" charset="-122"/>
                <a:cs typeface="IBM Plex Sans Arabic" pitchFamily="34" charset="-120"/>
              </a:rPr>
              <a:t>المحاكاة مُصحّحة من خمسة عيوب، وناقل الحركة صار الحقيقيّ ومُتحقَّقاً منه ضدّ سجلّات السيارة، والسيناريو يُجهد المحرّك فعلاً، والحماية تخفض الضرر 34 %.</a:t>
            </a:r>
            <a:endParaRPr lang="en-US" sz="1450" dirty="0"/>
          </a:p>
        </p:txBody>
      </p:sp>
      <p:sp>
        <p:nvSpPr>
          <p:cNvPr id="11" name="Text 9"/>
          <p:cNvSpPr/>
          <p:nvPr/>
        </p:nvSpPr>
        <p:spPr>
          <a:xfrm>
            <a:off x="6291580" y="3177480"/>
            <a:ext cx="4839970" cy="520700"/>
          </a:xfrm>
          <a:prstGeom prst="rect">
            <a:avLst/>
          </a:prstGeom>
          <a:noFill/>
          <a:ln/>
        </p:spPr>
        <p:txBody>
          <a:bodyPr wrap="square" lIns="0" tIns="0" rIns="0" bIns="0" rtlCol="0" anchor="t">
            <a:normAutofit/>
          </a:bodyPr>
          <a:lstStyle/>
          <a:p>
            <a:pPr algn="r" indent="0" marL="0">
              <a:lnSpc>
                <a:spcPts val="1950"/>
              </a:lnSpc>
              <a:buNone/>
            </a:pPr>
            <a:r>
              <a:rPr lang="en-US" sz="1300" dirty="0">
                <a:solidFill>
                  <a:srgbClr val="5D6E7D"/>
                </a:solidFill>
                <a:latin typeface="IBM Plex Sans Arabic" pitchFamily="34" charset="0"/>
                <a:ea typeface="IBM Plex Sans Arabic" pitchFamily="34" charset="-122"/>
                <a:cs typeface="IBM Plex Sans Arabic" pitchFamily="34" charset="-120"/>
              </a:rPr>
              <a:t>وبروتوكول التقييم مُثبَّت مسبقاً: 20 حالة اختبار مُجمَّدة لا تتغيّر بعد رؤية أيّ نتيجة.</a:t>
            </a:r>
            <a:endParaRPr lang="en-US" sz="1300" dirty="0"/>
          </a:p>
        </p:txBody>
      </p:sp>
      <p:sp>
        <p:nvSpPr>
          <p:cNvPr id="12" name="Shape 10"/>
          <p:cNvSpPr/>
          <p:nvPr/>
        </p:nvSpPr>
        <p:spPr>
          <a:xfrm>
            <a:off x="812800" y="4123630"/>
            <a:ext cx="10566400" cy="1753691"/>
          </a:xfrm>
          <a:prstGeom prst="roundRect">
            <a:avLst>
              <a:gd name="adj" fmla="val 5793"/>
            </a:avLst>
          </a:prstGeom>
          <a:solidFill>
            <a:srgbClr val="16202B"/>
          </a:solidFill>
          <a:ln/>
        </p:spPr>
      </p:sp>
      <p:sp>
        <p:nvSpPr>
          <p:cNvPr id="13" name="Text 11"/>
          <p:cNvSpPr/>
          <p:nvPr/>
        </p:nvSpPr>
        <p:spPr>
          <a:xfrm>
            <a:off x="791972" y="4352230"/>
            <a:ext cx="10307828" cy="265410"/>
          </a:xfrm>
          <a:prstGeom prst="rect">
            <a:avLst/>
          </a:prstGeom>
          <a:noFill/>
          <a:ln/>
        </p:spPr>
        <p:txBody>
          <a:bodyPr wrap="square" lIns="0" tIns="0" rIns="0" bIns="0" rtlCol="0" anchor="t">
            <a:normAutofit/>
          </a:bodyPr>
          <a:lstStyle/>
          <a:p>
            <a:pPr algn="r" indent="0" marL="0">
              <a:lnSpc>
                <a:spcPts val="1890"/>
              </a:lnSpc>
              <a:buNone/>
            </a:pPr>
            <a:r>
              <a:rPr lang="en-US" sz="1350" b="1" dirty="0">
                <a:solidFill>
                  <a:srgbClr val="7FB2DC"/>
                </a:solidFill>
                <a:latin typeface="IBM Plex Sans Arabic" pitchFamily="34" charset="0"/>
                <a:ea typeface="IBM Plex Sans Arabic" pitchFamily="34" charset="-122"/>
                <a:cs typeface="IBM Plex Sans Arabic" pitchFamily="34" charset="-120"/>
              </a:rPr>
              <a:t>وهذا نفسه استنتاج، لا تعثُّر</a:t>
            </a:r>
            <a:endParaRPr lang="en-US" sz="1350" dirty="0"/>
          </a:p>
        </p:txBody>
      </p:sp>
      <p:sp>
        <p:nvSpPr>
          <p:cNvPr id="14" name="Text 12"/>
          <p:cNvSpPr/>
          <p:nvPr/>
        </p:nvSpPr>
        <p:spPr>
          <a:xfrm>
            <a:off x="791972" y="4668441"/>
            <a:ext cx="10307828" cy="358775"/>
          </a:xfrm>
          <a:prstGeom prst="rect">
            <a:avLst/>
          </a:prstGeom>
          <a:noFill/>
          <a:ln/>
        </p:spPr>
        <p:txBody>
          <a:bodyPr wrap="square" lIns="0" tIns="0" rIns="0" bIns="0" rtlCol="0" anchor="t">
            <a:normAutofit/>
          </a:bodyPr>
          <a:lstStyle/>
          <a:p>
            <a:pPr algn="r" indent="0" marL="0">
              <a:lnSpc>
                <a:spcPts val="2625"/>
              </a:lnSpc>
              <a:buNone/>
            </a:pPr>
            <a:r>
              <a:rPr lang="en-US" sz="1750" b="1" dirty="0">
                <a:solidFill>
                  <a:srgbClr val="F2F4F6"/>
                </a:solidFill>
                <a:latin typeface="IBM Plex Sans Arabic" pitchFamily="34" charset="0"/>
                <a:ea typeface="IBM Plex Sans Arabic" pitchFamily="34" charset="-122"/>
                <a:cs typeface="IBM Plex Sans Arabic" pitchFamily="34" charset="-120"/>
              </a:rPr>
              <a:t>سؤال «هل يستحقّ الاستشراف أن نحصل عليه؟» لا يمكن أن تجيب عليه سياسة مكتوبة بيد الإنسان.</a:t>
            </a:r>
            <a:endParaRPr lang="en-US" sz="1750" dirty="0"/>
          </a:p>
        </p:txBody>
      </p:sp>
      <p:sp>
        <p:nvSpPr>
          <p:cNvPr id="15" name="Text 13"/>
          <p:cNvSpPr/>
          <p:nvPr/>
        </p:nvSpPr>
        <p:spPr>
          <a:xfrm>
            <a:off x="791972" y="5078016"/>
            <a:ext cx="10307828" cy="596106"/>
          </a:xfrm>
          <a:prstGeom prst="rect">
            <a:avLst/>
          </a:prstGeom>
          <a:noFill/>
          <a:ln/>
        </p:spPr>
        <p:txBody>
          <a:bodyPr wrap="square" lIns="0" tIns="0" rIns="0" bIns="0" rtlCol="0" anchor="t">
            <a:normAutofit/>
          </a:bodyPr>
          <a:lstStyle/>
          <a:p>
            <a:pPr algn="r" indent="0" marL="0">
              <a:lnSpc>
                <a:spcPts val="2248"/>
              </a:lnSpc>
              <a:buNone/>
            </a:pPr>
            <a:r>
              <a:rPr lang="en-US" sz="1450" dirty="0">
                <a:solidFill>
                  <a:srgbClr val="B8C6D4"/>
                </a:solidFill>
                <a:latin typeface="IBM Plex Sans Arabic" pitchFamily="34" charset="0"/>
                <a:ea typeface="IBM Plex Sans Arabic" pitchFamily="34" charset="-122"/>
                <a:cs typeface="IBM Plex Sans Arabic" pitchFamily="34" charset="-120"/>
              </a:rPr>
              <a:t>لأنّ السياسة اليدويّة تحمي طوال الوقت عند أوّل إشارة خطر، فتدفع ثمن الحماية في الأجزاء السهلة من الطريق. مرحلة التعلّم ليست طريقاً من طرق الإجابة — هي الطريق الوحيد.</a:t>
            </a:r>
            <a:endParaRPr lang="en-US" sz="14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2F4F6"/>
        </a:solidFill>
      </p:bgPr>
    </p:bg>
    <p:spTree>
      <p:nvGrpSpPr>
        <p:cNvPr id="1" name=""/>
        <p:cNvGrpSpPr/>
        <p:nvPr/>
      </p:nvGrpSpPr>
      <p:grpSpPr>
        <a:xfrm>
          <a:off x="0" y="0"/>
          <a:ext cx="0" cy="0"/>
          <a:chOff x="0" y="0"/>
          <a:chExt cx="0" cy="0"/>
        </a:xfrm>
      </p:grpSpPr>
      <p:sp>
        <p:nvSpPr>
          <p:cNvPr id="2" name="Text 0"/>
          <p:cNvSpPr/>
          <p:nvPr/>
        </p:nvSpPr>
        <p:spPr>
          <a:xfrm>
            <a:off x="495808" y="711200"/>
            <a:ext cx="10883392" cy="256480"/>
          </a:xfrm>
          <a:prstGeom prst="rect">
            <a:avLst/>
          </a:prstGeom>
          <a:noFill/>
          <a:ln/>
        </p:spPr>
        <p:txBody>
          <a:bodyPr wrap="square" lIns="0" tIns="0" rIns="0" bIns="0" rtlCol="0" anchor="t">
            <a:normAutofit/>
          </a:bodyPr>
          <a:lstStyle/>
          <a:p>
            <a:pPr algn="r" indent="0" marL="0">
              <a:lnSpc>
                <a:spcPts val="1820"/>
              </a:lnSpc>
              <a:buNone/>
            </a:pPr>
            <a:r>
              <a:rPr lang="en-US" sz="1300" b="1" spc="100" kern="0" dirty="0">
                <a:solidFill>
                  <a:srgbClr val="2F6FA8"/>
                </a:solidFill>
                <a:latin typeface="IBM Plex Sans Arabic" pitchFamily="34" charset="0"/>
                <a:ea typeface="IBM Plex Sans Arabic" pitchFamily="34" charset="-122"/>
                <a:cs typeface="IBM Plex Sans Arabic" pitchFamily="34" charset="-120"/>
              </a:rPr>
              <a:t>الخطوة التالية</a:t>
            </a:r>
            <a:endParaRPr lang="en-US" sz="1300" dirty="0"/>
          </a:p>
        </p:txBody>
      </p:sp>
      <p:sp>
        <p:nvSpPr>
          <p:cNvPr id="3" name="Text 1"/>
          <p:cNvSpPr/>
          <p:nvPr/>
        </p:nvSpPr>
        <p:spPr>
          <a:xfrm>
            <a:off x="495808" y="1005780"/>
            <a:ext cx="10883392" cy="463550"/>
          </a:xfrm>
          <a:prstGeom prst="rect">
            <a:avLst/>
          </a:prstGeom>
          <a:noFill/>
          <a:ln/>
        </p:spPr>
        <p:txBody>
          <a:bodyPr wrap="square" lIns="0" tIns="0" rIns="0" bIns="0" rtlCol="0" anchor="t">
            <a:normAutofit/>
          </a:bodyPr>
          <a:lstStyle/>
          <a:p>
            <a:pPr algn="r" indent="0" marL="0">
              <a:lnSpc>
                <a:spcPts val="3450"/>
              </a:lnSpc>
              <a:buNone/>
            </a:pPr>
            <a:r>
              <a:rPr lang="en-US" sz="3000" b="1" dirty="0">
                <a:solidFill>
                  <a:srgbClr val="16202B"/>
                </a:solidFill>
                <a:latin typeface="IBM Plex Sans Arabic" pitchFamily="34" charset="0"/>
                <a:ea typeface="IBM Plex Sans Arabic" pitchFamily="34" charset="-122"/>
                <a:cs typeface="IBM Plex Sans Arabic" pitchFamily="34" charset="-120"/>
              </a:rPr>
              <a:t>المقارنة نفسها، لكن بشكل يستطيع أن يفشل</a:t>
            </a:r>
            <a:endParaRPr lang="en-US" sz="3000" dirty="0"/>
          </a:p>
        </p:txBody>
      </p:sp>
      <p:sp>
        <p:nvSpPr>
          <p:cNvPr id="4" name="Shape 2"/>
          <p:cNvSpPr/>
          <p:nvPr/>
        </p:nvSpPr>
        <p:spPr>
          <a:xfrm>
            <a:off x="815975" y="1675705"/>
            <a:ext cx="5207000" cy="1537494"/>
          </a:xfrm>
          <a:prstGeom prst="roundRect">
            <a:avLst>
              <a:gd name="adj" fmla="val 5576"/>
            </a:avLst>
          </a:prstGeom>
          <a:solidFill>
            <a:srgbClr val="FFFFFF"/>
          </a:solidFill>
          <a:ln w="6350">
            <a:solidFill>
              <a:srgbClr val="D4DCE3"/>
            </a:solidFill>
            <a:prstDash val="solid"/>
          </a:ln>
        </p:spPr>
      </p:sp>
      <p:sp>
        <p:nvSpPr>
          <p:cNvPr id="5" name="Text 3"/>
          <p:cNvSpPr/>
          <p:nvPr/>
        </p:nvSpPr>
        <p:spPr>
          <a:xfrm>
            <a:off x="891985" y="1882080"/>
            <a:ext cx="4911916" cy="276820"/>
          </a:xfrm>
          <a:prstGeom prst="rect">
            <a:avLst/>
          </a:prstGeom>
          <a:noFill/>
          <a:ln/>
        </p:spPr>
        <p:txBody>
          <a:bodyPr wrap="square" lIns="0" tIns="0" rIns="0" bIns="0" rtlCol="0" anchor="t">
            <a:normAutofit/>
          </a:bodyPr>
          <a:lstStyle/>
          <a:p>
            <a:pPr algn="r" indent="0" marL="0">
              <a:lnSpc>
                <a:spcPts val="1980"/>
              </a:lnSpc>
              <a:buNone/>
            </a:pPr>
            <a:r>
              <a:rPr lang="en-US" sz="1650" b="1" dirty="0">
                <a:solidFill>
                  <a:srgbClr val="16202B"/>
                </a:solidFill>
                <a:latin typeface="IBM Plex Sans Arabic" pitchFamily="34" charset="0"/>
                <a:ea typeface="IBM Plex Sans Arabic" pitchFamily="34" charset="-122"/>
                <a:cs typeface="IBM Plex Sans Arabic" pitchFamily="34" charset="-120"/>
              </a:rPr>
              <a:t>بروتوكول مُجمَّد قبل النتيجة</a:t>
            </a:r>
            <a:endParaRPr lang="en-US" sz="1650" dirty="0"/>
          </a:p>
        </p:txBody>
      </p:sp>
      <p:sp>
        <p:nvSpPr>
          <p:cNvPr id="6" name="Text 4"/>
          <p:cNvSpPr/>
          <p:nvPr/>
        </p:nvSpPr>
        <p:spPr>
          <a:xfrm>
            <a:off x="891985" y="2209701"/>
            <a:ext cx="4911916" cy="822523"/>
          </a:xfrm>
          <a:prstGeom prst="rect">
            <a:avLst/>
          </a:prstGeom>
          <a:noFill/>
          <a:ln/>
        </p:spPr>
        <p:txBody>
          <a:bodyPr wrap="square" lIns="0" tIns="0" rIns="0" bIns="0" rtlCol="0" anchor="t">
            <a:normAutofit/>
          </a:bodyPr>
          <a:lstStyle/>
          <a:p>
            <a:pPr algn="r" indent="0" marL="0">
              <a:lnSpc>
                <a:spcPts val="2093"/>
              </a:lnSpc>
              <a:buNone/>
            </a:pPr>
            <a:r>
              <a:rPr lang="en-US" sz="1350" dirty="0">
                <a:solidFill>
                  <a:srgbClr val="5D6E7D"/>
                </a:solidFill>
                <a:latin typeface="IBM Plex Sans Arabic" pitchFamily="34" charset="0"/>
                <a:ea typeface="IBM Plex Sans Arabic" pitchFamily="34" charset="-122"/>
                <a:cs typeface="IBM Plex Sans Arabic" pitchFamily="34" charset="-120"/>
              </a:rPr>
              <a:t>20 حالة اختبار مُثبّتة · خمس بذور عشوائيّة · الوسيط والمدى الربيعيّ · ثلاثة مراجع للمقارنة. </a:t>
            </a:r>
            <a:r>
              <a:rPr lang="en-US" sz="1350" b="1" dirty="0">
                <a:solidFill>
                  <a:srgbClr val="5D6E7D"/>
                </a:solidFill>
                <a:latin typeface="IBM Plex Sans Arabic" pitchFamily="34" charset="0"/>
                <a:ea typeface="IBM Plex Sans Arabic" pitchFamily="34" charset="-122"/>
                <a:cs typeface="IBM Plex Sans Arabic" pitchFamily="34" charset="-120"/>
              </a:rPr>
              <a:t>تغيير الاختبار بعد رؤية النتيجة هو الخطأ الوحيد الذي لا يُغتفر.</a:t>
            </a:r>
            <a:endParaRPr lang="en-US" sz="1350" dirty="0"/>
          </a:p>
        </p:txBody>
      </p:sp>
      <p:sp>
        <p:nvSpPr>
          <p:cNvPr id="7" name="Shape 5"/>
          <p:cNvSpPr/>
          <p:nvPr/>
        </p:nvSpPr>
        <p:spPr>
          <a:xfrm>
            <a:off x="6169025" y="1675705"/>
            <a:ext cx="5207000" cy="1537494"/>
          </a:xfrm>
          <a:prstGeom prst="roundRect">
            <a:avLst>
              <a:gd name="adj" fmla="val 5576"/>
            </a:avLst>
          </a:prstGeom>
          <a:solidFill>
            <a:srgbClr val="FFFFFF"/>
          </a:solidFill>
          <a:ln w="6350">
            <a:solidFill>
              <a:srgbClr val="D4DCE3"/>
            </a:solidFill>
            <a:prstDash val="solid"/>
          </a:ln>
        </p:spPr>
      </p:sp>
      <p:sp>
        <p:nvSpPr>
          <p:cNvPr id="8" name="Text 6"/>
          <p:cNvSpPr/>
          <p:nvPr/>
        </p:nvSpPr>
        <p:spPr>
          <a:xfrm>
            <a:off x="6245035" y="1882080"/>
            <a:ext cx="4911916" cy="276820"/>
          </a:xfrm>
          <a:prstGeom prst="rect">
            <a:avLst/>
          </a:prstGeom>
          <a:noFill/>
          <a:ln/>
        </p:spPr>
        <p:txBody>
          <a:bodyPr wrap="square" lIns="0" tIns="0" rIns="0" bIns="0" rtlCol="0" anchor="t">
            <a:normAutofit/>
          </a:bodyPr>
          <a:lstStyle/>
          <a:p>
            <a:pPr algn="r" indent="0" marL="0">
              <a:lnSpc>
                <a:spcPts val="1980"/>
              </a:lnSpc>
              <a:buNone/>
            </a:pPr>
            <a:r>
              <a:rPr lang="en-US" sz="1650" b="1" dirty="0">
                <a:solidFill>
                  <a:srgbClr val="16202B"/>
                </a:solidFill>
                <a:latin typeface="IBM Plex Sans Arabic" pitchFamily="34" charset="0"/>
                <a:ea typeface="IBM Plex Sans Arabic" pitchFamily="34" charset="-122"/>
                <a:cs typeface="IBM Plex Sans Arabic" pitchFamily="34" charset="-120"/>
              </a:rPr>
              <a:t>نموذجان مُدرَّبان، لا سياستان مكتوبتان</a:t>
            </a:r>
            <a:endParaRPr lang="en-US" sz="1650" dirty="0"/>
          </a:p>
        </p:txBody>
      </p:sp>
      <p:sp>
        <p:nvSpPr>
          <p:cNvPr id="9" name="Text 7"/>
          <p:cNvSpPr/>
          <p:nvPr/>
        </p:nvSpPr>
        <p:spPr>
          <a:xfrm>
            <a:off x="6245035" y="2209701"/>
            <a:ext cx="4911916" cy="556816"/>
          </a:xfrm>
          <a:prstGeom prst="rect">
            <a:avLst/>
          </a:prstGeom>
          <a:noFill/>
          <a:ln/>
        </p:spPr>
        <p:txBody>
          <a:bodyPr wrap="square" lIns="0" tIns="0" rIns="0" bIns="0" rtlCol="0" anchor="t">
            <a:normAutofit/>
          </a:bodyPr>
          <a:lstStyle/>
          <a:p>
            <a:pPr algn="r" indent="0" marL="0">
              <a:lnSpc>
                <a:spcPts val="2093"/>
              </a:lnSpc>
              <a:buNone/>
            </a:pPr>
            <a:r>
              <a:rPr lang="en-US" sz="1350" dirty="0">
                <a:solidFill>
                  <a:srgbClr val="5D6E7D"/>
                </a:solidFill>
                <a:latin typeface="IBM Plex Sans Arabic" pitchFamily="34" charset="0"/>
                <a:ea typeface="IBM Plex Sans Arabic" pitchFamily="34" charset="-122"/>
                <a:cs typeface="IBM Plex Sans Arabic" pitchFamily="34" charset="-120"/>
              </a:rPr>
              <a:t>واحد يرى الطريق أمامه وواحد لا يراه، وكلاهما يتعلّم بنفس الميزانية. حينها يصبح التساوي نتيجةً، لأنّ الاختلاف كان ممكناً.</a:t>
            </a:r>
            <a:endParaRPr lang="en-US" sz="1350" dirty="0"/>
          </a:p>
        </p:txBody>
      </p:sp>
      <p:sp>
        <p:nvSpPr>
          <p:cNvPr id="10" name="Shape 8"/>
          <p:cNvSpPr/>
          <p:nvPr/>
        </p:nvSpPr>
        <p:spPr>
          <a:xfrm>
            <a:off x="815975" y="3448149"/>
            <a:ext cx="10560050" cy="1502370"/>
          </a:xfrm>
          <a:prstGeom prst="roundRect">
            <a:avLst>
              <a:gd name="adj" fmla="val 5706"/>
            </a:avLst>
          </a:prstGeom>
          <a:solidFill>
            <a:srgbClr val="FFFFFF"/>
          </a:solidFill>
          <a:ln w="6350">
            <a:solidFill>
              <a:srgbClr val="D4DCE3"/>
            </a:solidFill>
            <a:prstDash val="solid"/>
          </a:ln>
        </p:spPr>
      </p:sp>
      <p:sp>
        <p:nvSpPr>
          <p:cNvPr id="11" name="Text 9"/>
          <p:cNvSpPr/>
          <p:nvPr/>
        </p:nvSpPr>
        <p:spPr>
          <a:xfrm>
            <a:off x="771779" y="3654524"/>
            <a:ext cx="10347071" cy="283170"/>
          </a:xfrm>
          <a:prstGeom prst="rect">
            <a:avLst/>
          </a:prstGeom>
          <a:noFill/>
          <a:ln/>
        </p:spPr>
        <p:txBody>
          <a:bodyPr wrap="square" lIns="0" tIns="0" rIns="0" bIns="0" rtlCol="0" anchor="t">
            <a:normAutofit/>
          </a:bodyPr>
          <a:lstStyle/>
          <a:p>
            <a:pPr algn="r" indent="0" marL="0">
              <a:lnSpc>
                <a:spcPts val="2030"/>
              </a:lnSpc>
              <a:buNone/>
            </a:pPr>
            <a:r>
              <a:rPr lang="en-US" sz="1450" b="1" dirty="0">
                <a:solidFill>
                  <a:srgbClr val="B5741A"/>
                </a:solidFill>
                <a:latin typeface="IBM Plex Sans Arabic" pitchFamily="34" charset="0"/>
                <a:ea typeface="IBM Plex Sans Arabic" pitchFamily="34" charset="-122"/>
                <a:cs typeface="IBM Plex Sans Arabic" pitchFamily="34" charset="-120"/>
              </a:rPr>
              <a:t>وثلاثة حدود سنكتبها في الرسالة بدل أن نُخفيها</a:t>
            </a:r>
            <a:endParaRPr lang="en-US" sz="1450" dirty="0"/>
          </a:p>
        </p:txBody>
      </p:sp>
      <p:sp>
        <p:nvSpPr>
          <p:cNvPr id="12" name="Text 10"/>
          <p:cNvSpPr/>
          <p:nvPr/>
        </p:nvSpPr>
        <p:spPr>
          <a:xfrm>
            <a:off x="975233" y="4001195"/>
            <a:ext cx="3361817" cy="768350"/>
          </a:xfrm>
          <a:prstGeom prst="rect">
            <a:avLst/>
          </a:prstGeom>
          <a:noFill/>
          <a:ln/>
        </p:spPr>
        <p:txBody>
          <a:bodyPr wrap="square" lIns="0" tIns="0" rIns="0" bIns="0" rtlCol="0" anchor="t">
            <a:normAutofit/>
          </a:bodyPr>
          <a:lstStyle/>
          <a:p>
            <a:pPr algn="r" indent="0" marL="0">
              <a:lnSpc>
                <a:spcPts val="1950"/>
              </a:lnSpc>
              <a:buNone/>
            </a:pPr>
            <a:r>
              <a:rPr lang="en-US" sz="1300" b="1" dirty="0">
                <a:solidFill>
                  <a:srgbClr val="3D4C5A"/>
                </a:solidFill>
                <a:latin typeface="IBM Plex Sans Arabic" pitchFamily="34" charset="0"/>
                <a:ea typeface="IBM Plex Sans Arabic" pitchFamily="34" charset="-122"/>
                <a:cs typeface="IBM Plex Sans Arabic" pitchFamily="34" charset="-120"/>
              </a:rPr>
              <a:t>خطوة الزمن غير موحّدة</a:t>
            </a:r>
            <a:r>
              <a:rPr lang="en-US" sz="1300" dirty="0">
                <a:solidFill>
                  <a:srgbClr val="3D4C5A"/>
                </a:solidFill>
                <a:latin typeface="IBM Plex Sans Arabic" pitchFamily="34" charset="0"/>
                <a:ea typeface="IBM Plex Sans Arabic" pitchFamily="34" charset="-122"/>
                <a:cs typeface="IBM Plex Sans Arabic" pitchFamily="34" charset="-120"/>
              </a:rPr>
              <a:t> بين التدريب والتقييم، وقد قِسنا أثرها ووجدناها تحرّك الأرقام بمقدار يُقارب الإشارة نفسها</a:t>
            </a:r>
            <a:endParaRPr lang="en-US" sz="1300" dirty="0"/>
          </a:p>
        </p:txBody>
      </p:sp>
      <p:sp>
        <p:nvSpPr>
          <p:cNvPr id="13" name="Text 11"/>
          <p:cNvSpPr/>
          <p:nvPr/>
        </p:nvSpPr>
        <p:spPr>
          <a:xfrm>
            <a:off x="4366133" y="4001195"/>
            <a:ext cx="3361817" cy="768350"/>
          </a:xfrm>
          <a:prstGeom prst="rect">
            <a:avLst/>
          </a:prstGeom>
          <a:noFill/>
          <a:ln/>
        </p:spPr>
        <p:txBody>
          <a:bodyPr wrap="square" lIns="0" tIns="0" rIns="0" bIns="0" rtlCol="0" anchor="t">
            <a:normAutofit/>
          </a:bodyPr>
          <a:lstStyle/>
          <a:p>
            <a:pPr algn="r" indent="0" marL="0">
              <a:lnSpc>
                <a:spcPts val="1950"/>
              </a:lnSpc>
              <a:buNone/>
            </a:pPr>
            <a:r>
              <a:rPr lang="en-US" sz="1300" b="1" dirty="0">
                <a:solidFill>
                  <a:srgbClr val="3D4C5A"/>
                </a:solidFill>
                <a:latin typeface="IBM Plex Sans Arabic" pitchFamily="34" charset="0"/>
                <a:ea typeface="IBM Plex Sans Arabic" pitchFamily="34" charset="-122"/>
                <a:cs typeface="IBM Plex Sans Arabic" pitchFamily="34" charset="-120"/>
              </a:rPr>
              <a:t>نموذج الطَّرق غير مُتحقَّق منه</a:t>
            </a:r>
            <a:r>
              <a:rPr lang="en-US" sz="1300" dirty="0">
                <a:solidFill>
                  <a:srgbClr val="3D4C5A"/>
                </a:solidFill>
                <a:latin typeface="IBM Plex Sans Arabic" pitchFamily="34" charset="0"/>
                <a:ea typeface="IBM Plex Sans Arabic" pitchFamily="34" charset="-122"/>
                <a:cs typeface="IBM Plex Sans Arabic" pitchFamily="34" charset="-120"/>
              </a:rPr>
              <a:t> ضدّ هذه السيارة — قارنّاه بتأخير الشرارة الذي تطبّقه السيارة نفسها ولا علاقة بينهما</a:t>
            </a:r>
            <a:endParaRPr lang="en-US" sz="1300" dirty="0"/>
          </a:p>
        </p:txBody>
      </p:sp>
      <p:sp>
        <p:nvSpPr>
          <p:cNvPr id="14" name="Text 12"/>
          <p:cNvSpPr/>
          <p:nvPr/>
        </p:nvSpPr>
        <p:spPr>
          <a:xfrm>
            <a:off x="7757033" y="4001195"/>
            <a:ext cx="3361817" cy="768350"/>
          </a:xfrm>
          <a:prstGeom prst="rect">
            <a:avLst/>
          </a:prstGeom>
          <a:noFill/>
          <a:ln/>
        </p:spPr>
        <p:txBody>
          <a:bodyPr wrap="square" lIns="0" tIns="0" rIns="0" bIns="0" rtlCol="0" anchor="t">
            <a:normAutofit/>
          </a:bodyPr>
          <a:lstStyle/>
          <a:p>
            <a:pPr algn="r" indent="0" marL="0">
              <a:lnSpc>
                <a:spcPts val="1950"/>
              </a:lnSpc>
              <a:buNone/>
            </a:pPr>
            <a:r>
              <a:rPr lang="en-US" sz="1300" b="1" dirty="0">
                <a:solidFill>
                  <a:srgbClr val="3D4C5A"/>
                </a:solidFill>
                <a:latin typeface="IBM Plex Sans Arabic" pitchFamily="34" charset="0"/>
                <a:ea typeface="IBM Plex Sans Arabic" pitchFamily="34" charset="-122"/>
                <a:cs typeface="IBM Plex Sans Arabic" pitchFamily="34" charset="-120"/>
              </a:rPr>
              <a:t>سعة حرارة التوربين مُفترَضة</a:t>
            </a:r>
            <a:r>
              <a:rPr lang="en-US" sz="1300" dirty="0">
                <a:solidFill>
                  <a:srgbClr val="3D4C5A"/>
                </a:solidFill>
                <a:latin typeface="IBM Plex Sans Arabic" pitchFamily="34" charset="0"/>
                <a:ea typeface="IBM Plex Sans Arabic" pitchFamily="34" charset="-122"/>
                <a:cs typeface="IBM Plex Sans Arabic" pitchFamily="34" charset="-120"/>
              </a:rPr>
              <a:t> لا مقيسة — ولهذا نمسحها على مدى 75 ضعفاً، فالادّعاء عن النسبة لا عن الرقم</a:t>
            </a:r>
            <a:endParaRPr lang="en-US" sz="1300" dirty="0"/>
          </a:p>
        </p:txBody>
      </p:sp>
      <p:sp>
        <p:nvSpPr>
          <p:cNvPr id="15" name="Text 13"/>
          <p:cNvSpPr/>
          <p:nvPr/>
        </p:nvSpPr>
        <p:spPr>
          <a:xfrm>
            <a:off x="495808" y="5182295"/>
            <a:ext cx="10883392" cy="282575"/>
          </a:xfrm>
          <a:prstGeom prst="rect">
            <a:avLst/>
          </a:prstGeom>
          <a:noFill/>
          <a:ln/>
        </p:spPr>
        <p:txBody>
          <a:bodyPr wrap="square" lIns="0" tIns="0" rIns="0" bIns="0" rtlCol="0" anchor="t">
            <a:normAutofit/>
          </a:bodyPr>
          <a:lstStyle/>
          <a:p>
            <a:pPr algn="r" indent="0" marL="0">
              <a:lnSpc>
                <a:spcPts val="2025"/>
              </a:lnSpc>
              <a:buNone/>
            </a:pPr>
            <a:r>
              <a:rPr lang="en-US" sz="1350" dirty="0">
                <a:solidFill>
                  <a:srgbClr val="5D6E7D"/>
                </a:solidFill>
                <a:latin typeface="IBM Plex Sans Arabic" pitchFamily="34" charset="0"/>
                <a:ea typeface="IBM Plex Sans Arabic" pitchFamily="34" charset="-122"/>
                <a:cs typeface="IBM Plex Sans Arabic" pitchFamily="34" charset="-120"/>
              </a:rPr>
              <a:t>وبالتوازي: التطبيق الحيّ يعمل بجانب السيارة بنفس الفيزياء المُعايَرة، ويُقدّر حرارة لا تملك السيارة حسّاساً لها. جاهز للعرض.</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تحديث المشروع — 20 سبتمبر</dc:title>
  <dc:subject>PptxGenJS Presentation</dc:subject>
  <dc:creator>PptxGenJS</dc:creator>
  <cp:lastModifiedBy>PptxGenJS</cp:lastModifiedBy>
  <cp:revision>1</cp:revision>
  <dcterms:created xsi:type="dcterms:W3CDTF">2026-09-20T14:39:32Z</dcterms:created>
  <dcterms:modified xsi:type="dcterms:W3CDTF">2026-09-20T14:39:32Z</dcterms:modified>
</cp:coreProperties>
</file>