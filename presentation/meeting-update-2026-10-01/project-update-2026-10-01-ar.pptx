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قبل</c:v>
                </c:pt>
              </c:strCache>
            </c:strRef>
          </c:tx>
          <c:spPr>
            <a:solidFill>
              <a:srgbClr val="8A9AA8"/>
            </a:solidFill>
            <a:effectLst/>
          </c:spPr>
          <c:invertIfNegative val="0"/>
          <c:dLbls>
            <c:numFmt formatCode="0.00" sourceLinked="0"/>
            <c:txPr>
              <a:bodyPr/>
              <a:lstStyle/>
              <a:p>
                <a:pPr>
                  <a:defRPr b="0" i="0" strike="noStrike" sz="1300" u="none">
                    <a:solidFill>
                      <a:srgbClr val="16202B"/>
                    </a:solidFill>
                    <a:latin typeface="IBM Plex Sans Arabic"/>
                  </a:defRPr>
                </a:pPr>
              </a:p>
            </c:txPr>
            <c:showLegendKey val="0"/>
            <c:showVal val="1"/>
            <c:showCatName val="0"/>
            <c:showSerName val="0"/>
            <c:showPercent val="0"/>
            <c:showBubbleSize val="0"/>
            <c:showLeaderLines val="0"/>
          </c:dLbls>
          <c:cat>
            <c:multiLvlStrRef>
              <c:f>Sheet1!$A$2:$A$3</c:f>
              <c:multiLvlStrCache>
                <c:ptCount val="2"/>
                <c:lvl>
                  <c:pt idx="0">
                    <c:v>الزيت</c:v>
                  </c:pt>
                  <c:pt idx="1">
                    <c:v>ماء التبريد</c:v>
                  </c:pt>
                </c:lvl>
              </c:multiLvlStrCache>
            </c:multiLvlStrRef>
          </c:cat>
          <c:val>
            <c:numRef>
              <c:f>Sheet1!$B$2:$B$3</c:f>
              <c:numCache>
                <c:formatCode>General</c:formatCode>
                <c:ptCount val="2"/>
                <c:pt idx="0">
                  <c:v>7.55</c:v>
                </c:pt>
                <c:pt idx="1">
                  <c:v>5.51</c:v>
                </c:pt>
              </c:numCache>
            </c:numRef>
          </c:val>
        </c:ser>
        <c:ser>
          <c:idx val="1"/>
          <c:order val="1"/>
          <c:tx>
            <c:strRef>
              <c:f>Sheet1!$C$1</c:f>
              <c:strCache>
                <c:ptCount val="1"/>
                <c:pt idx="0">
                  <c:v>بعد</c:v>
                </c:pt>
              </c:strCache>
            </c:strRef>
          </c:tx>
          <c:spPr>
            <a:solidFill>
              <a:srgbClr val="2F6FA8"/>
            </a:solidFill>
            <a:effectLst/>
          </c:spPr>
          <c:invertIfNegative val="0"/>
          <c:dLbls>
            <c:numFmt formatCode="0.00" sourceLinked="0"/>
            <c:txPr>
              <a:bodyPr/>
              <a:lstStyle/>
              <a:p>
                <a:pPr>
                  <a:defRPr b="0" i="0" strike="noStrike" sz="1300" u="none">
                    <a:solidFill>
                      <a:srgbClr val="16202B"/>
                    </a:solidFill>
                    <a:latin typeface="IBM Plex Sans Arabic"/>
                  </a:defRPr>
                </a:pPr>
              </a:p>
            </c:txPr>
            <c:showLegendKey val="0"/>
            <c:showVal val="1"/>
            <c:showCatName val="0"/>
            <c:showSerName val="0"/>
            <c:showPercent val="0"/>
            <c:showBubbleSize val="0"/>
            <c:showLeaderLines val="0"/>
          </c:dLbls>
          <c:cat>
            <c:multiLvlStrRef>
              <c:f>Sheet1!$A$2:$A$3</c:f>
              <c:multiLvlStrCache>
                <c:ptCount val="2"/>
                <c:lvl>
                  <c:pt idx="0">
                    <c:v>الزيت</c:v>
                  </c:pt>
                  <c:pt idx="1">
                    <c:v>ماء التبريد</c:v>
                  </c:pt>
                </c:lvl>
              </c:multiLvlStrCache>
            </c:multiLvlStrRef>
          </c:cat>
          <c:val>
            <c:numRef>
              <c:f>Sheet1!$C$2:$C$3</c:f>
              <c:numCache>
                <c:formatCode>General</c:formatCode>
                <c:ptCount val="2"/>
                <c:pt idx="0">
                  <c:v>3.57</c:v>
                </c:pt>
                <c:pt idx="1">
                  <c:v>2.28</c:v>
                </c:pt>
              </c:numCache>
            </c:numRef>
          </c:val>
        </c:ser>
        <c:dLbls>
          <c:numFmt formatCode="0.00" sourceLinked="0"/>
          <c:txPr>
            <a:bodyPr/>
            <a:lstStyle/>
            <a:p>
              <a:pPr>
                <a:defRPr b="0" i="0" strike="noStrike" sz="1300" u="none">
                  <a:solidFill>
                    <a:srgbClr val="16202B"/>
                  </a:solidFill>
                  <a:latin typeface="IBM Plex Sans Arab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202B"/>
                </a:solidFill>
                <a:latin typeface="IBM Plex Sans Arabic"/>
              </a:defRPr>
            </a:pPr>
            <a:endParaRPr lang="en-US"/>
          </a:p>
        </c:txPr>
        <c:crossAx val="2094734552"/>
        <c:crosses val="autoZero"/>
        <c:auto val="1"/>
        <c:lblAlgn val="ctr"/>
        <c:noMultiLvlLbl val="1"/>
      </c:catAx>
      <c:valAx>
        <c:axId val="2094734552"/>
        <c:scaling>
          <c:orientation val="minMax"/>
          <c:max val="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D6E7D"/>
              </a:solidFill>
              <a:latin typeface="IBM Plex Sans Arabic"/>
              <a:cs typeface="IBM Plex Sans Arab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افتح بهذي الجملة: «من آخر عرض اشتغلنا على شيئين: خلّينا المحاكاة تأخذ أرقامها من سيارتنا نفسها، ودمجنا شغل الفريق في نسخة واحدة. وخلال الدمج لقينا عيبين في المحاكاة، ونعرف علاج كل واحد.» العرض الماضي كان عن تصحيح المحاكاة؛ هذا العرض عن جعلها تأخذ أرقامها من السيارة نفسها.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هذي الشريحة هي العرض كله. لو الوقت ضيق تكفي. النقطة الثالثة ليست خبراً سيئاً: نحن من وجد العيبين أثناء مراجعة الدمج، وعلاج كل واحد مكتوب ومتّفق عليه بين جاد وغسان.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التسارع الكامل بغيار ثابت: نثبّت الغيار يدوياً (وضع M) وندعس للآخر لثوانٍ ثم نرفع. الهدف نعرف كم ضغط يعطيه الشاحن (التيربو) والمحرك وهو يدور ببطء. القراءة كل 1.05 ثانية أسرع سبع مرات من رحلة 7475b5d7 اللي سجّلت 26 قناة. ولو سأل عن حرارة الجو: الخطأ مسجّل عندنا كدرس رقم 21، والتعويض موسوم في البيانات حتى لا يختلط بالمقيس.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المعنى البسيط: بدل ما نكتب الرقم بيدنا مرة ويبقى، البرنامج يحسبه من بيانات السيارة كل ما جت رحلة جديدة. خط الشرارة كان مكتوب بس المحاكاة ما كانت تستعمله، لأنه كان فوق حدّ الطَّرق في كل النقاط، فكانت الشرارة كلها تجي من نموذج الطَّرق. لو سأل عن سيارات ثانية: نفس الطريقة يمكن تجربتها على أي سيارة نسجّل لها نفس القنوات — لكن ما جرّبناها بعد، فلا نعد بنتيجة.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لو سأل: ليش ما ضبطتوا الأرقام لين يطابق؟ جرّبنا، وكل ضبط كان يحسّن رحلة ويخرّب ثانية. لما يصير كذا، المشكلة في شكل المعادلة مو في أرقامها — وهذا الدرس رقم 20 في سجل أخطائنا. الأرقام: خطأ الزيت نزل من 7.55 إلى 3.57 درجة، ولو حسبنا الثوابت بدون رحلة الطائف يصير 3.90. وثابت زمن الزيت صار 57 ثانية بدل 14 حسب المعادلة، و60 ثانية لما نقيسه بنفس طريقة قياس السيارة (شريحة التحقّق). والمراجعة لقت إن جملة «الوقود ما يسخّن الزيت» غلط: الفرق يزيد 1.5 إلى 2.8 درجة لكل غرام وقود في الثانية، وصحّحناها.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حفظ الكتلة يعني: اللي يطلع من العادم = الهواء الداخل + الوقود. الصيغة القديمة (الوقود × 15) كانت أقل بـ 4.5% في السير العادي، وأكثر بـ 11% لما المحرك يُغنى بالوقود، فكانت تخفي جزءاً من التبريد اللي يعطيه الإغناء. لو لاحظ إن الحرارة القصوى ما تغيّرت — هذي بالضبط النقطة: التشابه صدفة، وقسنا كل تصحيح لحاله.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نزول الغيار: زي لما تدعس في طلعة والسيارة تنزّل غيار لحالها. المحاكاة ما كانت تسويها، فكانت تطلب من المحرك عزماً ما يقدر عليه. حدّ الطَّرق: أعلى تقديم للشرارة قبل ما يصير الاحتراق غير منتظم. الـ 26 نقطة هي نقاط تشغيل ثابتة من رحلاتنا، بين 30 و 75 كيلوباسكال.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8 من 11 هو نفس العدد اللي قلناه قبل، لكن الآن 4 صفوف مقارنة مع سيارتنا الحقيقية — اختبار أصعب وأصدق. ثابت الزمن: كم ثانية يحتاج الزيت عشان يلحق تغيّر الحرارة. والصف السابع (ثابت زمن غلاف التوربين 48 ثانية) ما زال ضد المراجع، لأن السيارة ما فيها حسّاس هناك.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هذا نفس الفخ اللي وقعنا فيه مع حسّاس حرارة الهواء: كان الارتباط 0.35 لما كانت القراءات بطيئة، وصار 0.95 لما سجّلنا 7 قنوات فقط. يعني «ما لقينا علاقة» ما يعني «ما فيه علاقة» — القياس كان أبطأ من الشيء اللي يقيسه. رحلة C ما تكتب شيء في السيارة؛ تسجيل قراءة فقط، والراكب يمسك الجوال والسائق يسوق.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قلها بثقة لا باعتذار: نحن من وجد العيبين في مراجعة الدمج. مثال الأول: سواق يطالع الطريق مرة كل ثانيتين — يعدّل يمين زيادة ويسار زيادة ويتمايل. لو يطالع كل عُشر ثانية يمشي مستقيم. والثاني ما يصير في السيارة الحقيقية: وحدة التحكّم الحقيقية تختار الشرارة كل دورة محرك، والطريق الحقيقي ما يقفز من مستوٍ إلى 12% في لحظة. الاتفاق بين جاد وغسان: نعالج الاثنين قبل أي قياس جديد.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قل هذا قبل ما يسأل: الأرقام تغيّرت لأن المحاكاة صارت أدق، وكل تغيير له سبب مكتوب. الدكتور شاف 34% في العرض الماضي، فلازم يعرف ليش صارت 43.4%: الصيغة القديمة للعادم كانت تقلّل ضرر السيارة الأصلية، فكانت النسبة أقل من حقيقتها. «الميل الحالي» سياسة مكتوبة يدوياً تحمي حسب الميل اللي السيارة عليه الآن، بلا نظر للأمام.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المعمل جاهز للعرض لو بقي وقت: يعيد رحلة حقيقية بالأبعاد الثلاثة مع الحرارة المقدّرة لحظة بلحظة. وحارس المستندات هو السبب إن كل رقم في هذا العرض له مصدر: لو تغيّر رقم في المحاكاة ونسينا نحدّثه في مستند، يفشل الفحص.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اختم بهذي: نعرف بالضبط وش العيبين، وعلاجهما مكتوب ومتّفق عليه، وبعدها نعيد القياس كله مرة وحدة. رحلة C قبل A لأن C تحسم سؤال الطَّرق، وA تحسم الزيت. لو سأل عن السيارات الجديدة: طريقة اشتقاق الثوابت من السجلات تقدر تشتغل على أي سيارة نسجّل لها نفس القنوات — لكن لازم نجرّبها قبل ما نعد بنتيجة.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493776" y="813816"/>
            <a:ext cx="10881360" cy="274320"/>
          </a:xfrm>
          <a:prstGeom prst="rect">
            <a:avLst/>
          </a:prstGeom>
          <a:noFill/>
          <a:ln/>
        </p:spPr>
        <p:txBody>
          <a:bodyPr wrap="square" lIns="0" tIns="0" rIns="0" bIns="0" rtlCol="0" anchor="t"/>
          <a:lstStyle/>
          <a:p>
            <a:pPr algn="r" indent="0" marL="0" rtl="1">
              <a:lnSpc>
                <a:spcPct val="120000"/>
              </a:lnSpc>
              <a:buNone/>
            </a:pPr>
            <a:r>
              <a:rPr lang="ar-SA" altLang="en-US" sz="1400" dirty="0">
                <a:solidFill>
                  <a:srgbClr val="7FB2DC"/>
                </a:solidFill>
                <a:latin typeface="IBM Plex Sans Arabic" pitchFamily="34" charset="0"/>
                <a:cs typeface="IBM Plex Sans Arabic"/>
              </a:rPr>
              <a:t>مشروع التخرّج · جامعة جدة</a:t>
            </a:r>
            <a:endParaRPr lang="en-US" sz="1400" dirty="0"/>
          </a:p>
        </p:txBody>
      </p:sp>
      <p:sp>
        <p:nvSpPr>
          <p:cNvPr id="3" name="Text 1"/>
          <p:cNvSpPr txBox="1"/>
          <p:nvPr/>
        </p:nvSpPr>
        <p:spPr>
          <a:xfrm>
            <a:off x="493776" y="2743200"/>
            <a:ext cx="10881360" cy="822960"/>
          </a:xfrm>
          <a:prstGeom prst="rect">
            <a:avLst/>
          </a:prstGeom>
          <a:noFill/>
          <a:ln/>
        </p:spPr>
        <p:txBody>
          <a:bodyPr wrap="square" lIns="0" tIns="0" rIns="0" bIns="0" rtlCol="0" anchor="t"/>
          <a:lstStyle/>
          <a:p>
            <a:pPr algn="r" indent="0" marL="0" rtl="1">
              <a:lnSpc>
                <a:spcPct val="100000"/>
              </a:lnSpc>
              <a:buNone/>
            </a:pPr>
            <a:r>
              <a:rPr lang="ar-SA" altLang="en-US" sz="5200" b="1" dirty="0">
                <a:solidFill>
                  <a:srgbClr val="F2F4F6"/>
                </a:solidFill>
                <a:latin typeface="IBM Plex Sans Arabic" pitchFamily="34" charset="0"/>
                <a:cs typeface="IBM Plex Sans Arabic"/>
              </a:rPr>
              <a:t>تحديث المشروع</a:t>
            </a:r>
            <a:endParaRPr lang="en-US" sz="5200" dirty="0"/>
          </a:p>
        </p:txBody>
      </p:sp>
      <p:sp>
        <p:nvSpPr>
          <p:cNvPr id="4" name="Text 2"/>
          <p:cNvSpPr txBox="1"/>
          <p:nvPr/>
        </p:nvSpPr>
        <p:spPr>
          <a:xfrm>
            <a:off x="493776" y="3721608"/>
            <a:ext cx="10881360" cy="457200"/>
          </a:xfrm>
          <a:prstGeom prst="rect">
            <a:avLst/>
          </a:prstGeom>
          <a:noFill/>
          <a:ln/>
        </p:spPr>
        <p:txBody>
          <a:bodyPr wrap="square" lIns="0" tIns="0" rIns="0" bIns="0" rtlCol="0" anchor="t"/>
          <a:lstStyle/>
          <a:p>
            <a:pPr algn="r" indent="0" marL="0" rtl="1">
              <a:lnSpc>
                <a:spcPct val="120000"/>
              </a:lnSpc>
              <a:buNone/>
            </a:pPr>
            <a:r>
              <a:rPr lang="ar-SA" altLang="en-US" sz="2200" dirty="0">
                <a:solidFill>
                  <a:srgbClr val="B8C6D4"/>
                </a:solidFill>
                <a:latin typeface="IBM Plex Sans Arabic" pitchFamily="34" charset="0"/>
                <a:cs typeface="IBM Plex Sans Arabic"/>
              </a:rPr>
              <a:t>ما حدث منذ عرض </a:t>
            </a:r>
            <a:r>
              <a:rPr lang="en-US" altLang="en-US" sz="2200" dirty="0">
                <a:solidFill>
                  <a:srgbClr val="B8C6D4"/>
                </a:solidFill>
                <a:latin typeface="IBM Plex Sans Arabic" pitchFamily="34" charset="0"/>
                <a:cs typeface="IBM Plex Sans Arabic"/>
              </a:rPr>
              <a:t>‎20‎</a:t>
            </a:r>
            <a:r>
              <a:rPr lang="ar-SA" altLang="en-US" sz="2200" dirty="0">
                <a:solidFill>
                  <a:srgbClr val="B8C6D4"/>
                </a:solidFill>
                <a:latin typeface="IBM Plex Sans Arabic" pitchFamily="34" charset="0"/>
                <a:cs typeface="IBM Plex Sans Arabic"/>
              </a:rPr>
              <a:t> سبتمبر</a:t>
            </a:r>
            <a:endParaRPr lang="en-US" sz="2200" dirty="0"/>
          </a:p>
        </p:txBody>
      </p:sp>
      <p:sp>
        <p:nvSpPr>
          <p:cNvPr id="5" name="Text 3"/>
          <p:cNvSpPr txBox="1"/>
          <p:nvPr/>
        </p:nvSpPr>
        <p:spPr>
          <a:xfrm>
            <a:off x="8686800" y="5815584"/>
            <a:ext cx="2697480" cy="274320"/>
          </a:xfrm>
          <a:prstGeom prst="rect">
            <a:avLst/>
          </a:prstGeom>
          <a:noFill/>
          <a:ln/>
        </p:spPr>
        <p:txBody>
          <a:bodyPr wrap="square" lIns="0" tIns="0" rIns="0" bIns="0" rtlCol="0" anchor="t"/>
          <a:lstStyle/>
          <a:p>
            <a:pPr algn="r" indent="0" marL="0" rtl="1">
              <a:lnSpc>
                <a:spcPct val="120000"/>
              </a:lnSpc>
              <a:buNone/>
            </a:pPr>
            <a:r>
              <a:rPr lang="en-US" altLang="en-US" sz="1300" dirty="0">
                <a:solidFill>
                  <a:srgbClr val="8A9AA8"/>
                </a:solidFill>
                <a:latin typeface="IBM Plex Sans Arabic" pitchFamily="34" charset="0"/>
                <a:cs typeface="IBM Plex Sans Arabic"/>
              </a:rPr>
              <a:t>‎1‎</a:t>
            </a:r>
            <a:r>
              <a:rPr lang="ar-SA" altLang="en-US" sz="1300" dirty="0">
                <a:solidFill>
                  <a:srgbClr val="8A9AA8"/>
                </a:solidFill>
                <a:latin typeface="IBM Plex Sans Arabic" pitchFamily="34" charset="0"/>
                <a:cs typeface="IBM Plex Sans Arabic"/>
              </a:rPr>
              <a:t> أكتوبر </a:t>
            </a:r>
            <a:r>
              <a:rPr lang="en-US" altLang="en-US" sz="1300" dirty="0">
                <a:solidFill>
                  <a:srgbClr val="8A9AA8"/>
                </a:solidFill>
                <a:latin typeface="IBM Plex Sans Arabic" pitchFamily="34" charset="0"/>
                <a:cs typeface="IBM Plex Sans Arabic"/>
              </a:rPr>
              <a:t>‎2026‎</a:t>
            </a:r>
            <a:endParaRPr lang="en-US" sz="1300" dirty="0"/>
          </a:p>
        </p:txBody>
      </p:sp>
      <p:sp>
        <p:nvSpPr>
          <p:cNvPr id="6" name="Text 4"/>
          <p:cNvSpPr txBox="1"/>
          <p:nvPr/>
        </p:nvSpPr>
        <p:spPr>
          <a:xfrm>
            <a:off x="813816" y="5815584"/>
            <a:ext cx="5852160" cy="274320"/>
          </a:xfrm>
          <a:prstGeom prst="rect">
            <a:avLst/>
          </a:prstGeom>
          <a:noFill/>
          <a:ln/>
        </p:spPr>
        <p:txBody>
          <a:bodyPr wrap="square" lIns="0" tIns="0" rIns="0" bIns="0" rtlCol="0" anchor="t"/>
          <a:lstStyle/>
          <a:p>
            <a:pPr algn="l" indent="0" marL="0" rtl="1">
              <a:lnSpc>
                <a:spcPct val="120000"/>
              </a:lnSpc>
              <a:buNone/>
            </a:pPr>
            <a:r>
              <a:rPr lang="ar-SA" altLang="en-US" sz="1300" dirty="0">
                <a:solidFill>
                  <a:srgbClr val="8A9AA8"/>
                </a:solidFill>
                <a:latin typeface="IBM Plex Sans Arabic" pitchFamily="34" charset="0"/>
                <a:cs typeface="IBM Plex Sans Arabic"/>
              </a:rPr>
              <a:t>كل رقم في هذا العرض مكتوب في المستودع، مع السكربت أو التقرير الذي أخرجه</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6"/>
        </a:solidFill>
      </p:bgPr>
    </p:bg>
    <p:spTree>
      <p:nvGrpSpPr>
        <p:cNvPr id="1" name=""/>
        <p:cNvGrpSpPr/>
        <p:nvPr/>
      </p:nvGrpSpPr>
      <p:grpSpPr>
        <a:xfrm>
          <a:off x="0" y="0"/>
          <a:ext cx="0" cy="0"/>
          <a:chOff x="0" y="0"/>
          <a:chExt cx="0" cy="0"/>
        </a:xfrm>
      </p:grpSpPr>
      <p:sp>
        <p:nvSpPr>
          <p:cNvPr id="2" name="Text 0"/>
          <p:cNvSpPr txBox="1"/>
          <p:nvPr/>
        </p:nvSpPr>
        <p:spPr>
          <a:xfrm>
            <a:off x="493776" y="813816"/>
            <a:ext cx="10881360" cy="566928"/>
          </a:xfrm>
          <a:prstGeom prst="rect">
            <a:avLst/>
          </a:prstGeom>
          <a:noFill/>
          <a:ln/>
        </p:spPr>
        <p:txBody>
          <a:bodyPr wrap="square" lIns="0" tIns="0" rIns="0" bIns="0" rtlCol="0" anchor="t"/>
          <a:lstStyle/>
          <a:p>
            <a:pPr algn="r" indent="0" marL="0" rtl="1">
              <a:lnSpc>
                <a:spcPct val="100000"/>
              </a:lnSpc>
              <a:buNone/>
            </a:pPr>
            <a:r>
              <a:rPr lang="ar-SA" altLang="en-US" sz="3400" b="1" dirty="0">
                <a:solidFill>
                  <a:srgbClr val="16202B"/>
                </a:solidFill>
                <a:latin typeface="IBM Plex Sans Arabic" pitchFamily="34" charset="0"/>
                <a:cs typeface="IBM Plex Sans Arabic"/>
              </a:rPr>
              <a:t>الخلاصة في ثلاثة أسطر</a:t>
            </a:r>
            <a:endParaRPr lang="en-US" sz="3400" dirty="0"/>
          </a:p>
        </p:txBody>
      </p:sp>
      <p:sp>
        <p:nvSpPr>
          <p:cNvPr id="3" name="Shape 1"/>
          <p:cNvSpPr/>
          <p:nvPr/>
        </p:nvSpPr>
        <p:spPr>
          <a:xfrm>
            <a:off x="813816" y="1664208"/>
            <a:ext cx="10561320" cy="1152144"/>
          </a:xfrm>
          <a:prstGeom prst="roundRect">
            <a:avLst>
              <a:gd name="adj" fmla="val 6349"/>
            </a:avLst>
          </a:prstGeom>
          <a:solidFill>
            <a:srgbClr val="FFFFFF"/>
          </a:solidFill>
          <a:ln w="9525">
            <a:solidFill>
              <a:srgbClr val="D4DCE3"/>
            </a:solidFill>
            <a:prstDash val="solid"/>
          </a:ln>
        </p:spPr>
      </p:sp>
      <p:sp>
        <p:nvSpPr>
          <p:cNvPr id="4" name="Text 2"/>
          <p:cNvSpPr txBox="1"/>
          <p:nvPr/>
        </p:nvSpPr>
        <p:spPr>
          <a:xfrm>
            <a:off x="1088136" y="1911096"/>
            <a:ext cx="10012680" cy="329184"/>
          </a:xfrm>
          <a:prstGeom prst="rect">
            <a:avLst/>
          </a:prstGeom>
          <a:noFill/>
          <a:ln/>
        </p:spPr>
        <p:txBody>
          <a:bodyPr wrap="square" lIns="0" tIns="0" rIns="0" bIns="0" rtlCol="0" anchor="t"/>
          <a:lstStyle/>
          <a:p>
            <a:pPr algn="r" indent="0" marL="0" rtl="1">
              <a:lnSpc>
                <a:spcPct val="120000"/>
              </a:lnSpc>
              <a:buNone/>
            </a:pPr>
            <a:r>
              <a:rPr lang="ar-SA" altLang="en-US" sz="1900" b="1" dirty="0">
                <a:solidFill>
                  <a:srgbClr val="16202B"/>
                </a:solidFill>
                <a:latin typeface="IBM Plex Sans Arabic" pitchFamily="34" charset="0"/>
                <a:cs typeface="IBM Plex Sans Arabic"/>
              </a:rPr>
              <a:t>صارت ثوابت المحاكاة تُحسب من سجلّات سيارتنا</a:t>
            </a:r>
            <a:endParaRPr lang="en-US" sz="1900" dirty="0"/>
          </a:p>
        </p:txBody>
      </p:sp>
      <p:sp>
        <p:nvSpPr>
          <p:cNvPr id="5" name="Text 3"/>
          <p:cNvSpPr txBox="1"/>
          <p:nvPr/>
        </p:nvSpPr>
        <p:spPr>
          <a:xfrm>
            <a:off x="1088136" y="2286000"/>
            <a:ext cx="10012680" cy="329184"/>
          </a:xfrm>
          <a:prstGeom prst="rect">
            <a:avLst/>
          </a:prstGeom>
          <a:noFill/>
          <a:ln/>
        </p:spPr>
        <p:txBody>
          <a:bodyPr wrap="square" lIns="0" tIns="0" rIns="0" bIns="0" rtlCol="0" anchor="t"/>
          <a:lstStyle/>
          <a:p>
            <a:pPr algn="r" indent="0" marL="0" rtl="1">
              <a:lnSpc>
                <a:spcPct val="120000"/>
              </a:lnSpc>
              <a:buNone/>
            </a:pPr>
            <a:r>
              <a:rPr lang="ar-SA" altLang="en-US" sz="1500" dirty="0">
                <a:solidFill>
                  <a:srgbClr val="5D6E7D"/>
                </a:solidFill>
                <a:latin typeface="IBM Plex Sans Arabic" pitchFamily="34" charset="0"/>
                <a:cs typeface="IBM Plex Sans Arabic"/>
              </a:rPr>
              <a:t>الحرارة، وسقف ضغط الشاحن، والشرارة، والإغناء، ونزول الغيار — يُعاد حسابها كلها مع كل رحلة جديدة</a:t>
            </a:r>
            <a:endParaRPr lang="en-US" sz="1500" dirty="0"/>
          </a:p>
        </p:txBody>
      </p:sp>
      <p:sp>
        <p:nvSpPr>
          <p:cNvPr id="6" name="Shape 4"/>
          <p:cNvSpPr/>
          <p:nvPr/>
        </p:nvSpPr>
        <p:spPr>
          <a:xfrm>
            <a:off x="813816" y="2999232"/>
            <a:ext cx="10561320" cy="1152144"/>
          </a:xfrm>
          <a:prstGeom prst="roundRect">
            <a:avLst>
              <a:gd name="adj" fmla="val 6349"/>
            </a:avLst>
          </a:prstGeom>
          <a:solidFill>
            <a:srgbClr val="FFFFFF"/>
          </a:solidFill>
          <a:ln w="9525">
            <a:solidFill>
              <a:srgbClr val="D4DCE3"/>
            </a:solidFill>
            <a:prstDash val="solid"/>
          </a:ln>
        </p:spPr>
      </p:sp>
      <p:sp>
        <p:nvSpPr>
          <p:cNvPr id="7" name="Text 5"/>
          <p:cNvSpPr txBox="1"/>
          <p:nvPr/>
        </p:nvSpPr>
        <p:spPr>
          <a:xfrm>
            <a:off x="1088136" y="3246120"/>
            <a:ext cx="10012680" cy="329184"/>
          </a:xfrm>
          <a:prstGeom prst="rect">
            <a:avLst/>
          </a:prstGeom>
          <a:noFill/>
          <a:ln/>
        </p:spPr>
        <p:txBody>
          <a:bodyPr wrap="square" lIns="0" tIns="0" rIns="0" bIns="0" rtlCol="0" anchor="t"/>
          <a:lstStyle/>
          <a:p>
            <a:pPr algn="r" indent="0" marL="0" rtl="1">
              <a:lnSpc>
                <a:spcPct val="120000"/>
              </a:lnSpc>
              <a:buNone/>
            </a:pPr>
            <a:r>
              <a:rPr lang="ar-SA" altLang="en-US" sz="1900" b="1" dirty="0">
                <a:solidFill>
                  <a:srgbClr val="16202B"/>
                </a:solidFill>
                <a:latin typeface="IBM Plex Sans Arabic" pitchFamily="34" charset="0"/>
                <a:cs typeface="IBM Plex Sans Arabic"/>
              </a:rPr>
              <a:t>سجّلنا رحلة جديدة، ودمجنا عمل الفريق في نسخة واحدة</a:t>
            </a:r>
            <a:endParaRPr lang="en-US" sz="1900" dirty="0"/>
          </a:p>
        </p:txBody>
      </p:sp>
      <p:sp>
        <p:nvSpPr>
          <p:cNvPr id="8" name="Text 6"/>
          <p:cNvSpPr txBox="1"/>
          <p:nvPr/>
        </p:nvSpPr>
        <p:spPr>
          <a:xfrm>
            <a:off x="1088136" y="3621024"/>
            <a:ext cx="10012680" cy="329184"/>
          </a:xfrm>
          <a:prstGeom prst="rect">
            <a:avLst/>
          </a:prstGeom>
          <a:noFill/>
          <a:ln/>
        </p:spPr>
        <p:txBody>
          <a:bodyPr wrap="square" lIns="0" tIns="0" rIns="0" bIns="0" rtlCol="0" anchor="t"/>
          <a:lstStyle/>
          <a:p>
            <a:pPr algn="r" indent="0" marL="0" rtl="1">
              <a:lnSpc>
                <a:spcPct val="120000"/>
              </a:lnSpc>
              <a:buNone/>
            </a:pPr>
            <a:r>
              <a:rPr lang="ar-SA" altLang="en-US" sz="1500" dirty="0">
                <a:solidFill>
                  <a:srgbClr val="5D6E7D"/>
                </a:solidFill>
                <a:latin typeface="IBM Plex Sans Arabic" pitchFamily="34" charset="0"/>
                <a:cs typeface="IBM Plex Sans Arabic"/>
              </a:rPr>
              <a:t>رحلة </a:t>
            </a:r>
            <a:r>
              <a:rPr lang="en-US" altLang="en-US" sz="1500" dirty="0">
                <a:solidFill>
                  <a:srgbClr val="5D6E7D"/>
                </a:solidFill>
                <a:latin typeface="IBM Plex Sans Arabic" pitchFamily="34" charset="0"/>
                <a:cs typeface="IBM Plex Sans Arabic"/>
              </a:rPr>
              <a:t>‎B‎</a:t>
            </a:r>
            <a:r>
              <a:rPr lang="ar-SA" altLang="en-US" sz="1500" dirty="0">
                <a:solidFill>
                  <a:srgbClr val="5D6E7D"/>
                </a:solidFill>
                <a:latin typeface="IBM Plex Sans Arabic" pitchFamily="34" charset="0"/>
                <a:cs typeface="IBM Plex Sans Arabic"/>
              </a:rPr>
              <a:t>: واحد وأربعون تسارعاً كاملاً بغيار ثابت · الدمج: </a:t>
            </a:r>
            <a:r>
              <a:rPr lang="en-US" altLang="en-US" sz="1500" dirty="0">
                <a:solidFill>
                  <a:srgbClr val="5D6E7D"/>
                </a:solidFill>
                <a:latin typeface="IBM Plex Sans Arabic" pitchFamily="34" charset="0"/>
                <a:cs typeface="IBM Plex Sans Arabic"/>
              </a:rPr>
              <a:t>‎15‎</a:t>
            </a:r>
            <a:r>
              <a:rPr lang="ar-SA" altLang="en-US" sz="1500" dirty="0">
                <a:solidFill>
                  <a:srgbClr val="5D6E7D"/>
                </a:solidFill>
                <a:latin typeface="IBM Plex Sans Arabic" pitchFamily="34" charset="0"/>
                <a:cs typeface="IBM Plex Sans Arabic"/>
              </a:rPr>
              <a:t> ملفاً متعارضاً، ولا ملف محذوف</a:t>
            </a:r>
            <a:endParaRPr lang="en-US" sz="1500" dirty="0"/>
          </a:p>
        </p:txBody>
      </p:sp>
      <p:sp>
        <p:nvSpPr>
          <p:cNvPr id="9" name="Shape 7"/>
          <p:cNvSpPr/>
          <p:nvPr/>
        </p:nvSpPr>
        <p:spPr>
          <a:xfrm>
            <a:off x="813816" y="4334256"/>
            <a:ext cx="10561320" cy="1152144"/>
          </a:xfrm>
          <a:prstGeom prst="roundRect">
            <a:avLst>
              <a:gd name="adj" fmla="val 6349"/>
            </a:avLst>
          </a:prstGeom>
          <a:solidFill>
            <a:srgbClr val="FFFFFF"/>
          </a:solidFill>
          <a:ln w="9525">
            <a:solidFill>
              <a:srgbClr val="D4DCE3"/>
            </a:solidFill>
            <a:prstDash val="solid"/>
          </a:ln>
        </p:spPr>
      </p:sp>
      <p:sp>
        <p:nvSpPr>
          <p:cNvPr id="10" name="Text 8"/>
          <p:cNvSpPr txBox="1"/>
          <p:nvPr/>
        </p:nvSpPr>
        <p:spPr>
          <a:xfrm>
            <a:off x="1088136" y="4581144"/>
            <a:ext cx="10012680" cy="329184"/>
          </a:xfrm>
          <a:prstGeom prst="rect">
            <a:avLst/>
          </a:prstGeom>
          <a:noFill/>
          <a:ln/>
        </p:spPr>
        <p:txBody>
          <a:bodyPr wrap="square" lIns="0" tIns="0" rIns="0" bIns="0" rtlCol="0" anchor="t"/>
          <a:lstStyle/>
          <a:p>
            <a:pPr algn="r" indent="0" marL="0" rtl="1">
              <a:lnSpc>
                <a:spcPct val="120000"/>
              </a:lnSpc>
              <a:buNone/>
            </a:pPr>
            <a:r>
              <a:rPr lang="ar-SA" altLang="en-US" sz="1900" b="1" dirty="0">
                <a:solidFill>
                  <a:srgbClr val="16202B"/>
                </a:solidFill>
                <a:latin typeface="IBM Plex Sans Arabic" pitchFamily="34" charset="0"/>
                <a:cs typeface="IBM Plex Sans Arabic"/>
              </a:rPr>
              <a:t>ووجدنا عيبين في المحاكاة، ونعرف علاج كل واحد</a:t>
            </a:r>
            <a:endParaRPr lang="en-US" sz="1900" dirty="0"/>
          </a:p>
        </p:txBody>
      </p:sp>
      <p:sp>
        <p:nvSpPr>
          <p:cNvPr id="11" name="Text 9"/>
          <p:cNvSpPr txBox="1"/>
          <p:nvPr/>
        </p:nvSpPr>
        <p:spPr>
          <a:xfrm>
            <a:off x="1088136" y="4956048"/>
            <a:ext cx="10012680" cy="329184"/>
          </a:xfrm>
          <a:prstGeom prst="rect">
            <a:avLst/>
          </a:prstGeom>
          <a:noFill/>
          <a:ln/>
        </p:spPr>
        <p:txBody>
          <a:bodyPr wrap="square" lIns="0" tIns="0" rIns="0" bIns="0" rtlCol="0" anchor="t"/>
          <a:lstStyle/>
          <a:p>
            <a:pPr algn="r" indent="0" marL="0" rtl="1">
              <a:lnSpc>
                <a:spcPct val="120000"/>
              </a:lnSpc>
              <a:buNone/>
            </a:pPr>
            <a:r>
              <a:rPr lang="ar-SA" altLang="en-US" sz="1500" dirty="0">
                <a:solidFill>
                  <a:srgbClr val="5D6E7D"/>
                </a:solidFill>
                <a:latin typeface="IBM Plex Sans Arabic" pitchFamily="34" charset="0"/>
                <a:cs typeface="IBM Plex Sans Arabic"/>
              </a:rPr>
              <a:t>حساب حرارة الماء يتذبذب، وثانية «طَرق» مصطنعة عند بداية كل طلعة</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2F6FA8"/>
                </a:solidFill>
                <a:latin typeface="IBM Plex Sans Arabic" pitchFamily="34" charset="0"/>
                <a:cs typeface="IBM Plex Sans Arabic"/>
              </a:rPr>
              <a:t>البيانات</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رحلة جديدة: تسارعات كاملة بغيار ثابت</a:t>
            </a:r>
            <a:endParaRPr lang="en-US" sz="3000" dirty="0"/>
          </a:p>
        </p:txBody>
      </p:sp>
      <p:sp>
        <p:nvSpPr>
          <p:cNvPr id="4" name="Text 2"/>
          <p:cNvSpPr txBox="1"/>
          <p:nvPr/>
        </p:nvSpPr>
        <p:spPr>
          <a:xfrm>
            <a:off x="813816" y="1627632"/>
            <a:ext cx="10561320" cy="329184"/>
          </a:xfrm>
          <a:prstGeom prst="rect">
            <a:avLst/>
          </a:prstGeom>
          <a:noFill/>
          <a:ln/>
        </p:spPr>
        <p:txBody>
          <a:bodyPr wrap="square" lIns="0" tIns="0" rIns="0" bIns="0" rtlCol="0" anchor="t"/>
          <a:lstStyle/>
          <a:p>
            <a:pPr algn="r" indent="0" marL="0" rtl="1">
              <a:lnSpc>
                <a:spcPct val="120000"/>
              </a:lnSpc>
              <a:buNone/>
            </a:pPr>
            <a:r>
              <a:rPr lang="ar-SA" altLang="en-US" sz="1500" dirty="0">
                <a:solidFill>
                  <a:srgbClr val="5D6E7D"/>
                </a:solidFill>
                <a:latin typeface="IBM Plex Sans Arabic" pitchFamily="34" charset="0"/>
                <a:cs typeface="IBM Plex Sans Arabic"/>
              </a:rPr>
              <a:t>لماذا: في رحلاتنا السابقة لم يُطلب من الشاحن ضغطٌ عالٍ على دوران منخفض، فلم تكن المحاكاة تعرف كم يستطيع هناك.</a:t>
            </a:r>
            <a:endParaRPr lang="en-US" sz="1500" dirty="0"/>
          </a:p>
        </p:txBody>
      </p:sp>
      <p:sp>
        <p:nvSpPr>
          <p:cNvPr id="5" name="Shape 3"/>
          <p:cNvSpPr/>
          <p:nvPr/>
        </p:nvSpPr>
        <p:spPr>
          <a:xfrm>
            <a:off x="7964424" y="2148840"/>
            <a:ext cx="3410712" cy="2011680"/>
          </a:xfrm>
          <a:prstGeom prst="roundRect">
            <a:avLst>
              <a:gd name="adj" fmla="val 3636"/>
            </a:avLst>
          </a:prstGeom>
          <a:solidFill>
            <a:srgbClr val="FFFFFF"/>
          </a:solidFill>
          <a:ln w="9525">
            <a:solidFill>
              <a:srgbClr val="D4DCE3"/>
            </a:solidFill>
            <a:prstDash val="solid"/>
          </a:ln>
        </p:spPr>
      </p:sp>
      <p:sp>
        <p:nvSpPr>
          <p:cNvPr id="6" name="Text 4"/>
          <p:cNvSpPr txBox="1"/>
          <p:nvPr/>
        </p:nvSpPr>
        <p:spPr>
          <a:xfrm>
            <a:off x="8147304" y="2350008"/>
            <a:ext cx="3044952" cy="548640"/>
          </a:xfrm>
          <a:prstGeom prst="rect">
            <a:avLst/>
          </a:prstGeom>
          <a:noFill/>
          <a:ln/>
        </p:spPr>
        <p:txBody>
          <a:bodyPr wrap="square" lIns="0" tIns="0" rIns="0" bIns="0" rtlCol="0" anchor="t"/>
          <a:lstStyle/>
          <a:p>
            <a:pPr algn="r" indent="0" marL="0">
              <a:lnSpc>
                <a:spcPct val="100000"/>
              </a:lnSpc>
              <a:buNone/>
            </a:pPr>
            <a:r>
              <a:rPr lang="en-US" altLang="en-US" sz="3000" b="1" dirty="0">
                <a:solidFill>
                  <a:srgbClr val="2F6FA8"/>
                </a:solidFill>
                <a:latin typeface="IBM Plex Sans Arabic" pitchFamily="34" charset="0"/>
                <a:cs typeface="IBM Plex Sans Arabic"/>
              </a:rPr>
              <a:t>‎41‎</a:t>
            </a:r>
            <a:endParaRPr lang="en-US" sz="3000" dirty="0"/>
          </a:p>
        </p:txBody>
      </p:sp>
      <p:sp>
        <p:nvSpPr>
          <p:cNvPr id="7" name="Text 5"/>
          <p:cNvSpPr txBox="1"/>
          <p:nvPr/>
        </p:nvSpPr>
        <p:spPr>
          <a:xfrm>
            <a:off x="8147304" y="2953512"/>
            <a:ext cx="3044952" cy="292608"/>
          </a:xfrm>
          <a:prstGeom prst="rect">
            <a:avLst/>
          </a:prstGeom>
          <a:noFill/>
          <a:ln/>
        </p:spPr>
        <p:txBody>
          <a:bodyPr wrap="square" lIns="0" tIns="0" rIns="0" bIns="0" rtlCol="0" anchor="t"/>
          <a:lstStyle/>
          <a:p>
            <a:pPr algn="r" indent="0" marL="0" rtl="1">
              <a:lnSpc>
                <a:spcPct val="120000"/>
              </a:lnSpc>
              <a:buNone/>
            </a:pPr>
            <a:r>
              <a:rPr lang="ar-SA" altLang="en-US" sz="1550" b="1" dirty="0">
                <a:solidFill>
                  <a:srgbClr val="16202B"/>
                </a:solidFill>
                <a:latin typeface="IBM Plex Sans Arabic" pitchFamily="34" charset="0"/>
                <a:cs typeface="IBM Plex Sans Arabic"/>
              </a:rPr>
              <a:t>تسارعاً كاملاً</a:t>
            </a:r>
            <a:endParaRPr lang="en-US" sz="1550" dirty="0"/>
          </a:p>
        </p:txBody>
      </p:sp>
      <p:sp>
        <p:nvSpPr>
          <p:cNvPr id="8" name="Text 6"/>
          <p:cNvSpPr txBox="1"/>
          <p:nvPr/>
        </p:nvSpPr>
        <p:spPr>
          <a:xfrm>
            <a:off x="8147304" y="3282696"/>
            <a:ext cx="3044952" cy="77724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بالغيار السادس والسابع والثامن، مثبّتاً يدوياً، في </a:t>
            </a:r>
            <a:r>
              <a:rPr lang="en-US" altLang="en-US" sz="1300" dirty="0">
                <a:solidFill>
                  <a:srgbClr val="5D6E7D"/>
                </a:solidFill>
                <a:latin typeface="IBM Plex Sans Arabic" pitchFamily="34" charset="0"/>
                <a:cs typeface="IBM Plex Sans Arabic"/>
              </a:rPr>
              <a:t>‎26.7‎</a:t>
            </a:r>
            <a:r>
              <a:rPr lang="ar-SA" altLang="en-US" sz="1300" dirty="0">
                <a:solidFill>
                  <a:srgbClr val="5D6E7D"/>
                </a:solidFill>
                <a:latin typeface="IBM Plex Sans Arabic" pitchFamily="34" charset="0"/>
                <a:cs typeface="IBM Plex Sans Arabic"/>
              </a:rPr>
              <a:t> دقيقة</a:t>
            </a:r>
            <a:endParaRPr lang="en-US" sz="1300" dirty="0"/>
          </a:p>
        </p:txBody>
      </p:sp>
      <p:sp>
        <p:nvSpPr>
          <p:cNvPr id="9" name="Shape 7"/>
          <p:cNvSpPr/>
          <p:nvPr/>
        </p:nvSpPr>
        <p:spPr>
          <a:xfrm>
            <a:off x="4389120" y="2148840"/>
            <a:ext cx="3410712" cy="2011680"/>
          </a:xfrm>
          <a:prstGeom prst="roundRect">
            <a:avLst>
              <a:gd name="adj" fmla="val 3636"/>
            </a:avLst>
          </a:prstGeom>
          <a:solidFill>
            <a:srgbClr val="FFFFFF"/>
          </a:solidFill>
          <a:ln w="9525">
            <a:solidFill>
              <a:srgbClr val="D4DCE3"/>
            </a:solidFill>
            <a:prstDash val="solid"/>
          </a:ln>
        </p:spPr>
      </p:sp>
      <p:sp>
        <p:nvSpPr>
          <p:cNvPr id="10" name="Text 8"/>
          <p:cNvSpPr txBox="1"/>
          <p:nvPr/>
        </p:nvSpPr>
        <p:spPr>
          <a:xfrm>
            <a:off x="4572000" y="2350008"/>
            <a:ext cx="3044952" cy="548640"/>
          </a:xfrm>
          <a:prstGeom prst="rect">
            <a:avLst/>
          </a:prstGeom>
          <a:noFill/>
          <a:ln/>
        </p:spPr>
        <p:txBody>
          <a:bodyPr wrap="square" lIns="0" tIns="0" rIns="0" bIns="0" rtlCol="0" anchor="t"/>
          <a:lstStyle/>
          <a:p>
            <a:pPr algn="r" indent="0" marL="0" rtl="1">
              <a:lnSpc>
                <a:spcPct val="100000"/>
              </a:lnSpc>
              <a:buNone/>
            </a:pPr>
            <a:r>
              <a:rPr lang="en-US" altLang="en-US" sz="3000" b="1" dirty="0">
                <a:solidFill>
                  <a:srgbClr val="16202B"/>
                </a:solidFill>
                <a:latin typeface="IBM Plex Sans Arabic" pitchFamily="34" charset="0"/>
                <a:cs typeface="IBM Plex Sans Arabic"/>
              </a:rPr>
              <a:t>‎1.05‎</a:t>
            </a:r>
            <a:r>
              <a:rPr lang="ar-SA" altLang="en-US" sz="3000" b="1" dirty="0">
                <a:solidFill>
                  <a:srgbClr val="16202B"/>
                </a:solidFill>
                <a:latin typeface="IBM Plex Sans Arabic" pitchFamily="34" charset="0"/>
                <a:cs typeface="IBM Plex Sans Arabic"/>
              </a:rPr>
              <a:t> ث</a:t>
            </a:r>
            <a:endParaRPr lang="en-US" sz="3000" dirty="0"/>
          </a:p>
        </p:txBody>
      </p:sp>
      <p:sp>
        <p:nvSpPr>
          <p:cNvPr id="11" name="Text 9"/>
          <p:cNvSpPr txBox="1"/>
          <p:nvPr/>
        </p:nvSpPr>
        <p:spPr>
          <a:xfrm>
            <a:off x="4572000" y="2953512"/>
            <a:ext cx="3044952" cy="292608"/>
          </a:xfrm>
          <a:prstGeom prst="rect">
            <a:avLst/>
          </a:prstGeom>
          <a:noFill/>
          <a:ln/>
        </p:spPr>
        <p:txBody>
          <a:bodyPr wrap="square" lIns="0" tIns="0" rIns="0" bIns="0" rtlCol="0" anchor="t"/>
          <a:lstStyle/>
          <a:p>
            <a:pPr algn="r" indent="0" marL="0" rtl="1">
              <a:lnSpc>
                <a:spcPct val="120000"/>
              </a:lnSpc>
              <a:buNone/>
            </a:pPr>
            <a:r>
              <a:rPr lang="ar-SA" altLang="en-US" sz="1550" b="1" dirty="0">
                <a:solidFill>
                  <a:srgbClr val="16202B"/>
                </a:solidFill>
                <a:latin typeface="IBM Plex Sans Arabic" pitchFamily="34" charset="0"/>
                <a:cs typeface="IBM Plex Sans Arabic"/>
              </a:rPr>
              <a:t>لكل قراءة</a:t>
            </a:r>
            <a:endParaRPr lang="en-US" sz="1550" dirty="0"/>
          </a:p>
        </p:txBody>
      </p:sp>
      <p:sp>
        <p:nvSpPr>
          <p:cNvPr id="12" name="Text 10"/>
          <p:cNvSpPr txBox="1"/>
          <p:nvPr/>
        </p:nvSpPr>
        <p:spPr>
          <a:xfrm>
            <a:off x="4572000" y="3282696"/>
            <a:ext cx="3044952" cy="77724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سجّلنا </a:t>
            </a:r>
            <a:r>
              <a:rPr lang="en-US" altLang="en-US" sz="1300" dirty="0">
                <a:solidFill>
                  <a:srgbClr val="5D6E7D"/>
                </a:solidFill>
                <a:latin typeface="IBM Plex Sans Arabic" pitchFamily="34" charset="0"/>
                <a:cs typeface="IBM Plex Sans Arabic"/>
              </a:rPr>
              <a:t>‎7‎</a:t>
            </a:r>
            <a:r>
              <a:rPr lang="ar-SA" altLang="en-US" sz="1300" dirty="0">
                <a:solidFill>
                  <a:srgbClr val="5D6E7D"/>
                </a:solidFill>
                <a:latin typeface="IBM Plex Sans Arabic" pitchFamily="34" charset="0"/>
                <a:cs typeface="IBM Plex Sans Arabic"/>
              </a:rPr>
              <a:t> قنوات فقط، فكل قناة تُقرأ مرة كل </a:t>
            </a:r>
            <a:r>
              <a:rPr lang="en-US" altLang="en-US" sz="1300" dirty="0">
                <a:solidFill>
                  <a:srgbClr val="5D6E7D"/>
                </a:solidFill>
                <a:latin typeface="IBM Plex Sans Arabic" pitchFamily="34" charset="0"/>
                <a:cs typeface="IBM Plex Sans Arabic"/>
              </a:rPr>
              <a:t>‎1.05‎</a:t>
            </a:r>
            <a:r>
              <a:rPr lang="ar-SA" altLang="en-US" sz="1300" dirty="0">
                <a:solidFill>
                  <a:srgbClr val="5D6E7D"/>
                </a:solidFill>
                <a:latin typeface="IBM Plex Sans Arabic" pitchFamily="34" charset="0"/>
                <a:cs typeface="IBM Plex Sans Arabic"/>
              </a:rPr>
              <a:t> ثانية</a:t>
            </a:r>
            <a:endParaRPr lang="en-US" sz="1300" dirty="0"/>
          </a:p>
        </p:txBody>
      </p:sp>
      <p:sp>
        <p:nvSpPr>
          <p:cNvPr id="13" name="Shape 11"/>
          <p:cNvSpPr/>
          <p:nvPr/>
        </p:nvSpPr>
        <p:spPr>
          <a:xfrm>
            <a:off x="813816" y="2148840"/>
            <a:ext cx="3410712" cy="2011680"/>
          </a:xfrm>
          <a:prstGeom prst="roundRect">
            <a:avLst>
              <a:gd name="adj" fmla="val 3636"/>
            </a:avLst>
          </a:prstGeom>
          <a:solidFill>
            <a:srgbClr val="FFFFFF"/>
          </a:solidFill>
          <a:ln w="9525">
            <a:solidFill>
              <a:srgbClr val="D4DCE3"/>
            </a:solidFill>
            <a:prstDash val="solid"/>
          </a:ln>
        </p:spPr>
      </p:sp>
      <p:sp>
        <p:nvSpPr>
          <p:cNvPr id="14" name="Text 12"/>
          <p:cNvSpPr txBox="1"/>
          <p:nvPr/>
        </p:nvSpPr>
        <p:spPr>
          <a:xfrm>
            <a:off x="996696" y="2350008"/>
            <a:ext cx="3044952" cy="548640"/>
          </a:xfrm>
          <a:prstGeom prst="rect">
            <a:avLst/>
          </a:prstGeom>
          <a:noFill/>
          <a:ln/>
        </p:spPr>
        <p:txBody>
          <a:bodyPr wrap="square" lIns="0" tIns="0" rIns="0" bIns="0" rtlCol="0" anchor="t"/>
          <a:lstStyle/>
          <a:p>
            <a:pPr algn="r" indent="0" marL="0">
              <a:lnSpc>
                <a:spcPct val="100000"/>
              </a:lnSpc>
              <a:buNone/>
            </a:pPr>
            <a:r>
              <a:rPr lang="en-US" altLang="en-US" sz="3000" b="1" dirty="0">
                <a:solidFill>
                  <a:srgbClr val="16202B"/>
                </a:solidFill>
                <a:latin typeface="IBM Plex Sans Arabic" pitchFamily="34" charset="0"/>
                <a:cs typeface="IBM Plex Sans Arabic"/>
              </a:rPr>
              <a:t>‎321.7‎</a:t>
            </a:r>
            <a:endParaRPr lang="en-US" sz="3000" dirty="0"/>
          </a:p>
        </p:txBody>
      </p:sp>
      <p:sp>
        <p:nvSpPr>
          <p:cNvPr id="15" name="Text 13"/>
          <p:cNvSpPr txBox="1"/>
          <p:nvPr/>
        </p:nvSpPr>
        <p:spPr>
          <a:xfrm>
            <a:off x="996696" y="2953512"/>
            <a:ext cx="3044952" cy="292608"/>
          </a:xfrm>
          <a:prstGeom prst="rect">
            <a:avLst/>
          </a:prstGeom>
          <a:noFill/>
          <a:ln/>
        </p:spPr>
        <p:txBody>
          <a:bodyPr wrap="square" lIns="0" tIns="0" rIns="0" bIns="0" rtlCol="0" anchor="t"/>
          <a:lstStyle/>
          <a:p>
            <a:pPr algn="r" indent="0" marL="0" rtl="1">
              <a:lnSpc>
                <a:spcPct val="120000"/>
              </a:lnSpc>
              <a:buNone/>
            </a:pPr>
            <a:r>
              <a:rPr lang="ar-SA" altLang="en-US" sz="1550" b="1" dirty="0">
                <a:solidFill>
                  <a:srgbClr val="16202B"/>
                </a:solidFill>
                <a:latin typeface="IBM Plex Sans Arabic" pitchFamily="34" charset="0"/>
                <a:cs typeface="IBM Plex Sans Arabic"/>
              </a:rPr>
              <a:t>دقيقة مسجّلة الآن</a:t>
            </a:r>
            <a:endParaRPr lang="en-US" sz="1550" dirty="0"/>
          </a:p>
        </p:txBody>
      </p:sp>
      <p:sp>
        <p:nvSpPr>
          <p:cNvPr id="16" name="Text 14"/>
          <p:cNvSpPr txBox="1"/>
          <p:nvPr/>
        </p:nvSpPr>
        <p:spPr>
          <a:xfrm>
            <a:off x="996696" y="3282696"/>
            <a:ext cx="3044952" cy="77724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في </a:t>
            </a:r>
            <a:r>
              <a:rPr lang="en-US" altLang="en-US" sz="1300" dirty="0">
                <a:solidFill>
                  <a:srgbClr val="5D6E7D"/>
                </a:solidFill>
                <a:latin typeface="IBM Plex Sans Arabic" pitchFamily="34" charset="0"/>
                <a:cs typeface="IBM Plex Sans Arabic"/>
              </a:rPr>
              <a:t>‎11‎</a:t>
            </a:r>
            <a:r>
              <a:rPr lang="ar-SA" altLang="en-US" sz="1300" dirty="0">
                <a:solidFill>
                  <a:srgbClr val="5D6E7D"/>
                </a:solidFill>
                <a:latin typeface="IBM Plex Sans Arabic" pitchFamily="34" charset="0"/>
                <a:cs typeface="IBM Plex Sans Arabic"/>
              </a:rPr>
              <a:t> رحلة، ثمانٍ منها تحمل عيّنات صالحة — كانت </a:t>
            </a:r>
            <a:r>
              <a:rPr lang="en-US" altLang="en-US" sz="1300" dirty="0">
                <a:solidFill>
                  <a:srgbClr val="5D6E7D"/>
                </a:solidFill>
                <a:latin typeface="IBM Plex Sans Arabic" pitchFamily="34" charset="0"/>
                <a:cs typeface="IBM Plex Sans Arabic"/>
              </a:rPr>
              <a:t>‎295.0‎</a:t>
            </a:r>
            <a:r>
              <a:rPr lang="ar-SA" altLang="en-US" sz="1300" dirty="0">
                <a:solidFill>
                  <a:srgbClr val="5D6E7D"/>
                </a:solidFill>
                <a:latin typeface="IBM Plex Sans Arabic" pitchFamily="34" charset="0"/>
                <a:cs typeface="IBM Plex Sans Arabic"/>
              </a:rPr>
              <a:t> دقيقة في </a:t>
            </a:r>
            <a:r>
              <a:rPr lang="en-US" altLang="en-US" sz="1300" dirty="0">
                <a:solidFill>
                  <a:srgbClr val="5D6E7D"/>
                </a:solidFill>
                <a:latin typeface="IBM Plex Sans Arabic" pitchFamily="34" charset="0"/>
                <a:cs typeface="IBM Plex Sans Arabic"/>
              </a:rPr>
              <a:t>‎10‎</a:t>
            </a:r>
            <a:r>
              <a:rPr lang="ar-SA" altLang="en-US" sz="1300" dirty="0">
                <a:solidFill>
                  <a:srgbClr val="5D6E7D"/>
                </a:solidFill>
                <a:latin typeface="IBM Plex Sans Arabic" pitchFamily="34" charset="0"/>
                <a:cs typeface="IBM Plex Sans Arabic"/>
              </a:rPr>
              <a:t> رحلات</a:t>
            </a:r>
            <a:endParaRPr lang="en-US" sz="1300" dirty="0"/>
          </a:p>
        </p:txBody>
      </p:sp>
      <p:sp>
        <p:nvSpPr>
          <p:cNvPr id="17" name="Shape 15"/>
          <p:cNvSpPr/>
          <p:nvPr/>
        </p:nvSpPr>
        <p:spPr>
          <a:xfrm>
            <a:off x="813816" y="4434840"/>
            <a:ext cx="10561320" cy="1143000"/>
          </a:xfrm>
          <a:prstGeom prst="roundRect">
            <a:avLst>
              <a:gd name="adj" fmla="val 6400"/>
            </a:avLst>
          </a:prstGeom>
          <a:solidFill>
            <a:srgbClr val="EAF1F7"/>
          </a:solidFill>
          <a:ln w="9525">
            <a:solidFill>
              <a:srgbClr val="C3D6E6"/>
            </a:solidFill>
            <a:prstDash val="solid"/>
          </a:ln>
        </p:spPr>
      </p:sp>
      <p:sp>
        <p:nvSpPr>
          <p:cNvPr id="18" name="Text 16"/>
          <p:cNvSpPr txBox="1"/>
          <p:nvPr/>
        </p:nvSpPr>
        <p:spPr>
          <a:xfrm>
            <a:off x="1088136" y="4599432"/>
            <a:ext cx="10012680" cy="310896"/>
          </a:xfrm>
          <a:prstGeom prst="rect">
            <a:avLst/>
          </a:prstGeom>
          <a:noFill/>
          <a:ln/>
        </p:spPr>
        <p:txBody>
          <a:bodyPr wrap="square" lIns="0" tIns="0" rIns="0" bIns="0" rtlCol="0" anchor="t"/>
          <a:lstStyle/>
          <a:p>
            <a:pPr algn="r" indent="0" marL="0" rtl="1">
              <a:lnSpc>
                <a:spcPct val="120000"/>
              </a:lnSpc>
              <a:buNone/>
            </a:pPr>
            <a:r>
              <a:rPr lang="ar-SA" altLang="en-US" sz="1600" b="1" dirty="0">
                <a:solidFill>
                  <a:srgbClr val="B5741A"/>
                </a:solidFill>
                <a:latin typeface="IBM Plex Sans Arabic" pitchFamily="34" charset="0"/>
                <a:cs typeface="IBM Plex Sans Arabic"/>
              </a:rPr>
              <a:t>درس دفعنا ثمنه: نسينا قناة حرارة الجو</a:t>
            </a:r>
            <a:endParaRPr lang="en-US" sz="1600" dirty="0"/>
          </a:p>
        </p:txBody>
      </p:sp>
      <p:sp>
        <p:nvSpPr>
          <p:cNvPr id="19" name="Text 17"/>
          <p:cNvSpPr txBox="1"/>
          <p:nvPr/>
        </p:nvSpPr>
        <p:spPr>
          <a:xfrm>
            <a:off x="1088136" y="4937760"/>
            <a:ext cx="10012680" cy="548640"/>
          </a:xfrm>
          <a:prstGeom prst="rect">
            <a:avLst/>
          </a:prstGeom>
          <a:noFill/>
          <a:ln/>
        </p:spPr>
        <p:txBody>
          <a:bodyPr wrap="square" lIns="0" tIns="0" rIns="0" bIns="0" rtlCol="0" anchor="t"/>
          <a:lstStyle/>
          <a:p>
            <a:pPr algn="r" indent="0" marL="0" rtl="1">
              <a:lnSpc>
                <a:spcPct val="120000"/>
              </a:lnSpc>
              <a:buNone/>
            </a:pPr>
            <a:r>
              <a:rPr lang="ar-SA" altLang="en-US" sz="1450" dirty="0">
                <a:solidFill>
                  <a:srgbClr val="16202B"/>
                </a:solidFill>
                <a:latin typeface="IBM Plex Sans Arabic" pitchFamily="34" charset="0"/>
                <a:cs typeface="IBM Plex Sans Arabic"/>
              </a:rPr>
              <a:t>وكل حساب حرارة في النموذج يحتاجها. عوّضناها بـ </a:t>
            </a:r>
            <a:r>
              <a:rPr lang="en-US" altLang="en-US" sz="1450" dirty="0">
                <a:solidFill>
                  <a:srgbClr val="16202B"/>
                </a:solidFill>
                <a:latin typeface="IBM Plex Sans Arabic" pitchFamily="34" charset="0"/>
                <a:cs typeface="IBM Plex Sans Arabic"/>
              </a:rPr>
              <a:t>‎42 °C‎</a:t>
            </a:r>
            <a:r>
              <a:rPr lang="ar-SA" altLang="en-US" sz="1450" dirty="0">
                <a:solidFill>
                  <a:srgbClr val="16202B"/>
                </a:solidFill>
                <a:latin typeface="IBM Plex Sans Arabic" pitchFamily="34" charset="0"/>
                <a:cs typeface="IBM Plex Sans Arabic"/>
              </a:rPr>
              <a:t> من رحلاتنا العصرية ووسمنا كل صفّ بأنه مُفترَض — وصارت القناة في كل قائمة رحلة قادمة.</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6"/>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2F6FA8"/>
                </a:solidFill>
                <a:latin typeface="IBM Plex Sans Arabic" pitchFamily="34" charset="0"/>
                <a:cs typeface="IBM Plex Sans Arabic"/>
              </a:rPr>
              <a:t>من السيارة نفسها</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ثوابت المحاكاة صارت تُشتق من السجلات، لا تُكتب باليد</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10561320" cy="914400"/>
        </p:xfrm>
        <a:graphic>
          <a:graphicData uri="http://schemas.openxmlformats.org/drawingml/2006/table">
            <a:tbl>
              <a:tblPr/>
              <a:tblGrid>
                <a:gridCol w="4846320"/>
                <a:gridCol w="3337560"/>
                <a:gridCol w="2377440"/>
              </a:tblGrid>
              <a:tr h="420624">
                <a:tc>
                  <a:txBody>
                    <a:bodyPr/>
                    <a:lstStyle/>
                    <a:p>
                      <a:pPr algn="r" indent="0" marL="0" rtl="1">
                        <a:buNone/>
                      </a:pPr>
                      <a:r>
                        <a:rPr lang="ar-SA" altLang="en-US" sz="1300" b="1" dirty="0">
                          <a:solidFill>
                            <a:srgbClr val="FFFFFF"/>
                          </a:solidFill>
                          <a:latin typeface="IBM Plex Sans Arabic" pitchFamily="34" charset="0"/>
                          <a:cs typeface="IBM Plex Sans Arabic"/>
                        </a:rPr>
                        <a:t>الآن</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قبل</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الثابت</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r>
              <a:tr h="548640">
                <a:tc>
                  <a:txBody>
                    <a:bodyPr/>
                    <a:lstStyle/>
                    <a:p>
                      <a:pPr algn="r" indent="0" marL="0" rtl="1">
                        <a:buNone/>
                      </a:pPr>
                      <a:r>
                        <a:rPr lang="ar-SA" altLang="en-US" sz="1350" dirty="0">
                          <a:solidFill>
                            <a:srgbClr val="3D4C5A"/>
                          </a:solidFill>
                          <a:latin typeface="IBM Plex Sans Arabic" pitchFamily="34" charset="0"/>
                          <a:cs typeface="IBM Plex Sans Arabic"/>
                        </a:rPr>
                        <a:t>مُقدَّرة من </a:t>
                      </a:r>
                      <a:r>
                        <a:rPr lang="en-US" altLang="en-US" sz="1350" dirty="0">
                          <a:solidFill>
                            <a:srgbClr val="3D4C5A"/>
                          </a:solidFill>
                          <a:latin typeface="IBM Plex Sans Arabic" pitchFamily="34" charset="0"/>
                          <a:cs typeface="IBM Plex Sans Arabic"/>
                        </a:rPr>
                        <a:t>‎7‎</a:t>
                      </a:r>
                      <a:r>
                        <a:rPr lang="ar-SA" altLang="en-US" sz="1350" dirty="0">
                          <a:solidFill>
                            <a:srgbClr val="3D4C5A"/>
                          </a:solidFill>
                          <a:latin typeface="IBM Plex Sans Arabic" pitchFamily="34" charset="0"/>
                          <a:cs typeface="IBM Plex Sans Arabic"/>
                        </a:rPr>
                        <a:t> رحلات تحمل الزيت والماء وحرارة الجو</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dirty="0">
                          <a:solidFill>
                            <a:srgbClr val="3D4C5A"/>
                          </a:solidFill>
                          <a:latin typeface="IBM Plex Sans Arabic" pitchFamily="34" charset="0"/>
                          <a:cs typeface="IBM Plex Sans Arabic"/>
                        </a:rPr>
                        <a:t>أرقام مُفترَضة</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حرارة الكتلة والزيت</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r h="548640">
                <a:tc>
                  <a:txBody>
                    <a:bodyPr/>
                    <a:lstStyle/>
                    <a:p>
                      <a:pPr algn="r" indent="0" marL="0" rtl="1">
                        <a:buNone/>
                      </a:pPr>
                      <a:r>
                        <a:rPr lang="ar-SA" altLang="en-US" sz="1350" dirty="0">
                          <a:solidFill>
                            <a:srgbClr val="3D4C5A"/>
                          </a:solidFill>
                          <a:latin typeface="IBM Plex Sans Arabic" pitchFamily="34" charset="0"/>
                          <a:cs typeface="IBM Plex Sans Arabic"/>
                        </a:rPr>
                        <a:t>الغلاف المقيس نفسه: أعلى ما وصلته السيارة عند كل تدفّق هواء</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350" dirty="0">
                          <a:solidFill>
                            <a:srgbClr val="3D4C5A"/>
                          </a:solidFill>
                          <a:latin typeface="IBM Plex Sans Arabic" pitchFamily="34" charset="0"/>
                          <a:cs typeface="IBM Plex Sans Arabic"/>
                        </a:rPr>
                        <a:t>معادلة مُلاءَمة مرة واحدة في </a:t>
                      </a:r>
                      <a:r>
                        <a:rPr lang="en-US" altLang="en-US" sz="1350" dirty="0">
                          <a:solidFill>
                            <a:srgbClr val="3D4C5A"/>
                          </a:solidFill>
                          <a:latin typeface="IBM Plex Sans Arabic" pitchFamily="34" charset="0"/>
                          <a:cs typeface="IBM Plex Sans Arabic"/>
                        </a:rPr>
                        <a:t>‎8‎</a:t>
                      </a:r>
                      <a:r>
                        <a:rPr lang="ar-SA" altLang="en-US" sz="1350" dirty="0">
                          <a:solidFill>
                            <a:srgbClr val="3D4C5A"/>
                          </a:solidFill>
                          <a:latin typeface="IBM Plex Sans Arabic" pitchFamily="34" charset="0"/>
                          <a:cs typeface="IBM Plex Sans Arabic"/>
                        </a:rPr>
                        <a:t> سبتمبر</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سقف ضغط الشاحن</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r>
              <a:tr h="548640">
                <a:tc>
                  <a:txBody>
                    <a:bodyPr/>
                    <a:lstStyle/>
                    <a:p>
                      <a:pPr algn="r" indent="0" marL="0" rtl="1">
                        <a:buNone/>
                      </a:pPr>
                      <a:r>
                        <a:rPr lang="en-US" altLang="en-US" sz="1350" dirty="0">
                          <a:solidFill>
                            <a:srgbClr val="3D4C5A"/>
                          </a:solidFill>
                          <a:latin typeface="IBM Plex Sans Arabic" pitchFamily="34" charset="0"/>
                          <a:cs typeface="IBM Plex Sans Arabic"/>
                        </a:rPr>
                        <a:t>‎13.42‎</a:t>
                      </a:r>
                      <a:r>
                        <a:rPr lang="ar-SA" altLang="en-US" sz="1350" dirty="0">
                          <a:solidFill>
                            <a:srgbClr val="3D4C5A"/>
                          </a:solidFill>
                          <a:latin typeface="IBM Plex Sans Arabic" pitchFamily="34" charset="0"/>
                          <a:cs typeface="IBM Plex Sans Arabic"/>
                        </a:rPr>
                        <a:t> — يحدّد الشرارة في </a:t>
                      </a:r>
                      <a:r>
                        <a:rPr lang="en-US" altLang="en-US" sz="1350" dirty="0">
                          <a:solidFill>
                            <a:srgbClr val="3D4C5A"/>
                          </a:solidFill>
                          <a:latin typeface="IBM Plex Sans Arabic" pitchFamily="34" charset="0"/>
                          <a:cs typeface="IBM Plex Sans Arabic"/>
                        </a:rPr>
                        <a:t>‎25‎</a:t>
                      </a:r>
                      <a:r>
                        <a:rPr lang="ar-SA" altLang="en-US" sz="1350" dirty="0">
                          <a:solidFill>
                            <a:srgbClr val="3D4C5A"/>
                          </a:solidFill>
                          <a:latin typeface="IBM Plex Sans Arabic" pitchFamily="34" charset="0"/>
                          <a:cs typeface="IBM Plex Sans Arabic"/>
                        </a:rPr>
                        <a:t> من </a:t>
                      </a:r>
                      <a:r>
                        <a:rPr lang="en-US" altLang="en-US" sz="1350" dirty="0">
                          <a:solidFill>
                            <a:srgbClr val="3D4C5A"/>
                          </a:solidFill>
                          <a:latin typeface="IBM Plex Sans Arabic" pitchFamily="34" charset="0"/>
                          <a:cs typeface="IBM Plex Sans Arabic"/>
                        </a:rPr>
                        <a:t>‎26‎</a:t>
                      </a:r>
                      <a:r>
                        <a:rPr lang="ar-SA" altLang="en-US" sz="1350" dirty="0">
                          <a:solidFill>
                            <a:srgbClr val="3D4C5A"/>
                          </a:solidFill>
                          <a:latin typeface="IBM Plex Sans Arabic" pitchFamily="34" charset="0"/>
                          <a:cs typeface="IBM Plex Sans Arabic"/>
                        </a:rPr>
                        <a:t> نقطة، بانحياز صفر</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en-US" altLang="en-US" sz="1350" dirty="0">
                          <a:solidFill>
                            <a:srgbClr val="3D4C5A"/>
                          </a:solidFill>
                          <a:latin typeface="IBM Plex Sans Arabic" pitchFamily="34" charset="0"/>
                          <a:cs typeface="IBM Plex Sans Arabic"/>
                        </a:rPr>
                        <a:t>‎26.18‎</a:t>
                      </a:r>
                      <a:r>
                        <a:rPr lang="ar-SA" altLang="en-US" sz="1350" dirty="0">
                          <a:solidFill>
                            <a:srgbClr val="3D4C5A"/>
                          </a:solidFill>
                          <a:latin typeface="IBM Plex Sans Arabic" pitchFamily="34" charset="0"/>
                          <a:cs typeface="IBM Plex Sans Arabic"/>
                        </a:rPr>
                        <a:t> — والخط لم يكن يُستعمل أصلاً</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إزاحة الشرارة</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r h="548640">
                <a:tc>
                  <a:txBody>
                    <a:bodyPr/>
                    <a:lstStyle/>
                    <a:p>
                      <a:pPr algn="r" indent="0" marL="0" rtl="1">
                        <a:buNone/>
                      </a:pPr>
                      <a:r>
                        <a:rPr lang="en-US" altLang="en-US" sz="1350" dirty="0">
                          <a:solidFill>
                            <a:srgbClr val="3D4C5A"/>
                          </a:solidFill>
                          <a:latin typeface="IBM Plex Sans Arabic" pitchFamily="34" charset="0"/>
                          <a:cs typeface="IBM Plex Sans Arabic"/>
                        </a:rPr>
                        <a:t>‎1.5‎</a:t>
                      </a:r>
                      <a:r>
                        <a:rPr lang="ar-SA" altLang="en-US" sz="1350" dirty="0">
                          <a:solidFill>
                            <a:srgbClr val="3D4C5A"/>
                          </a:solidFill>
                          <a:latin typeface="IBM Plex Sans Arabic" pitchFamily="34" charset="0"/>
                          <a:cs typeface="IBM Plex Sans Arabic"/>
                        </a:rPr>
                        <a:t> و </a:t>
                      </a:r>
                      <a:r>
                        <a:rPr lang="en-US" altLang="en-US" sz="1350" dirty="0">
                          <a:solidFill>
                            <a:srgbClr val="3D4C5A"/>
                          </a:solidFill>
                          <a:latin typeface="IBM Plex Sans Arabic" pitchFamily="34" charset="0"/>
                          <a:cs typeface="IBM Plex Sans Arabic"/>
                        </a:rPr>
                        <a:t>‎3.0‎</a:t>
                      </a:r>
                      <a:r>
                        <a:rPr lang="ar-SA" altLang="en-US" sz="1350" dirty="0">
                          <a:solidFill>
                            <a:srgbClr val="3D4C5A"/>
                          </a:solidFill>
                          <a:latin typeface="IBM Plex Sans Arabic" pitchFamily="34" charset="0"/>
                          <a:cs typeface="IBM Plex Sans Arabic"/>
                        </a:rPr>
                        <a:t> ثانية من الطوابع الزمنية · </a:t>
                      </a:r>
                      <a:r>
                        <a:rPr lang="en-US" altLang="en-US" sz="1350" dirty="0">
                          <a:solidFill>
                            <a:srgbClr val="3D4C5A"/>
                          </a:solidFill>
                          <a:latin typeface="IBM Plex Sans Arabic" pitchFamily="34" charset="0"/>
                          <a:cs typeface="IBM Plex Sans Arabic"/>
                        </a:rPr>
                        <a:t>‎8‎</a:t>
                      </a:r>
                      <a:r>
                        <a:rPr lang="ar-SA" altLang="en-US" sz="1350" dirty="0">
                          <a:solidFill>
                            <a:srgbClr val="3D4C5A"/>
                          </a:solidFill>
                          <a:latin typeface="IBM Plex Sans Arabic" pitchFamily="34" charset="0"/>
                          <a:cs typeface="IBM Plex Sans Arabic"/>
                        </a:rPr>
                        <a:t> من </a:t>
                      </a:r>
                      <a:r>
                        <a:rPr lang="en-US" altLang="en-US" sz="1350" dirty="0">
                          <a:solidFill>
                            <a:srgbClr val="3D4C5A"/>
                          </a:solidFill>
                          <a:latin typeface="IBM Plex Sans Arabic" pitchFamily="34" charset="0"/>
                          <a:cs typeface="IBM Plex Sans Arabic"/>
                        </a:rPr>
                        <a:t>‎9‎</a:t>
                      </a:r>
                      <a:r>
                        <a:rPr lang="ar-SA" altLang="en-US" sz="1350" dirty="0">
                          <a:solidFill>
                            <a:srgbClr val="3D4C5A"/>
                          </a:solidFill>
                          <a:latin typeface="IBM Plex Sans Arabic" pitchFamily="34" charset="0"/>
                          <a:cs typeface="IBM Plex Sans Arabic"/>
                        </a:rPr>
                        <a:t> خلايا ضمن </a:t>
                      </a:r>
                      <a:r>
                        <a:rPr lang="en-US" altLang="en-US" sz="1350" dirty="0">
                          <a:solidFill>
                            <a:srgbClr val="3D4C5A"/>
                          </a:solidFill>
                          <a:latin typeface="IBM Plex Sans Arabic" pitchFamily="34" charset="0"/>
                          <a:cs typeface="IBM Plex Sans Arabic"/>
                        </a:rPr>
                        <a:t>‎0.02‎</a:t>
                      </a:r>
                      <a:r>
                        <a:rPr lang="ar-SA" altLang="en-US" sz="1350" dirty="0">
                          <a:solidFill>
                            <a:srgbClr val="3D4C5A"/>
                          </a:solidFill>
                          <a:latin typeface="IBM Plex Sans Arabic" pitchFamily="34" charset="0"/>
                          <a:cs typeface="IBM Plex Sans Arabic"/>
                        </a:rPr>
                        <a:t> من السيارة</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en-US" altLang="en-US" sz="1350" dirty="0">
                          <a:solidFill>
                            <a:srgbClr val="3D4C5A"/>
                          </a:solidFill>
                          <a:latin typeface="IBM Plex Sans Arabic" pitchFamily="34" charset="0"/>
                          <a:cs typeface="IBM Plex Sans Arabic"/>
                        </a:rPr>
                        <a:t>‎2‎</a:t>
                      </a:r>
                      <a:r>
                        <a:rPr lang="ar-SA" altLang="en-US" sz="1350" dirty="0">
                          <a:solidFill>
                            <a:srgbClr val="3D4C5A"/>
                          </a:solidFill>
                          <a:latin typeface="IBM Plex Sans Arabic" pitchFamily="34" charset="0"/>
                          <a:cs typeface="IBM Plex Sans Arabic"/>
                        </a:rPr>
                        <a:t> و </a:t>
                      </a:r>
                      <a:r>
                        <a:rPr lang="en-US" altLang="en-US" sz="1350" dirty="0">
                          <a:solidFill>
                            <a:srgbClr val="3D4C5A"/>
                          </a:solidFill>
                          <a:latin typeface="IBM Plex Sans Arabic" pitchFamily="34" charset="0"/>
                          <a:cs typeface="IBM Plex Sans Arabic"/>
                        </a:rPr>
                        <a:t>‎9‎</a:t>
                      </a:r>
                      <a:r>
                        <a:rPr lang="ar-SA" altLang="en-US" sz="1350" dirty="0">
                          <a:solidFill>
                            <a:srgbClr val="3D4C5A"/>
                          </a:solidFill>
                          <a:latin typeface="IBM Plex Sans Arabic" pitchFamily="34" charset="0"/>
                          <a:cs typeface="IBM Plex Sans Arabic"/>
                        </a:rPr>
                        <a:t> ثوانٍ، على محور زمن خاطئ</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توقيت الإغناء</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r>
              <a:tr h="548640">
                <a:tc>
                  <a:txBody>
                    <a:bodyPr/>
                    <a:lstStyle/>
                    <a:p>
                      <a:pPr algn="r" indent="0" marL="0" rtl="1">
                        <a:buNone/>
                      </a:pPr>
                      <a:r>
                        <a:rPr lang="ar-SA" altLang="en-US" sz="1350" dirty="0">
                          <a:solidFill>
                            <a:srgbClr val="3D4C5A"/>
                          </a:solidFill>
                          <a:latin typeface="IBM Plex Sans Arabic" pitchFamily="34" charset="0"/>
                          <a:cs typeface="IBM Plex Sans Arabic"/>
                        </a:rPr>
                        <a:t>يُقاس من المحاكاة نفسها بعد كل تغيير</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dirty="0">
                          <a:solidFill>
                            <a:srgbClr val="3D4C5A"/>
                          </a:solidFill>
                          <a:latin typeface="IBM Plex Sans Arabic" pitchFamily="34" charset="0"/>
                          <a:cs typeface="IBM Plex Sans Arabic"/>
                        </a:rPr>
                        <a:t>مكتوب باليد</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جدول نزول الغيار</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3816" y="4983480"/>
            <a:ext cx="10561320" cy="54864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5D6E7D"/>
                </a:solidFill>
                <a:latin typeface="IBM Plex Sans Arabic" pitchFamily="34" charset="0"/>
                <a:cs typeface="IBM Plex Sans Arabic"/>
              </a:rPr>
              <a:t>سكربت واحد يعيد حسابها كلها مع كل رحلة جديدة. وما لا يمكن اشتقاقه من هذه السيارة مكتوب مع سببه: حرارة غلاف التوربين، وضغط العادم، وتقسيم المُشعّ.</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2F6FA8"/>
                </a:solidFill>
                <a:latin typeface="IBM Plex Sans Arabic" pitchFamily="34" charset="0"/>
                <a:cs typeface="IBM Plex Sans Arabic"/>
              </a:rPr>
              <a:t>الزيت</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خطأ نموذج الزيت كان في شكل المعادلة، لا في أرقامها</a:t>
            </a:r>
            <a:endParaRPr lang="en-US" sz="3000" dirty="0"/>
          </a:p>
        </p:txBody>
      </p:sp>
      <p:sp>
        <p:nvSpPr>
          <p:cNvPr id="4" name="Shape 2"/>
          <p:cNvSpPr/>
          <p:nvPr/>
        </p:nvSpPr>
        <p:spPr>
          <a:xfrm>
            <a:off x="6309360" y="1691640"/>
            <a:ext cx="5065776" cy="1051560"/>
          </a:xfrm>
          <a:prstGeom prst="roundRect">
            <a:avLst>
              <a:gd name="adj" fmla="val 6957"/>
            </a:avLst>
          </a:prstGeom>
          <a:solidFill>
            <a:srgbClr val="FFFFFF"/>
          </a:solidFill>
          <a:ln w="9525">
            <a:solidFill>
              <a:srgbClr val="D4DCE3"/>
            </a:solidFill>
            <a:prstDash val="solid"/>
          </a:ln>
        </p:spPr>
      </p:sp>
      <p:sp>
        <p:nvSpPr>
          <p:cNvPr id="5" name="Text 3"/>
          <p:cNvSpPr txBox="1"/>
          <p:nvPr/>
        </p:nvSpPr>
        <p:spPr>
          <a:xfrm>
            <a:off x="6537960" y="1828800"/>
            <a:ext cx="4608576" cy="329184"/>
          </a:xfrm>
          <a:prstGeom prst="rect">
            <a:avLst/>
          </a:prstGeom>
          <a:noFill/>
          <a:ln/>
        </p:spPr>
        <p:txBody>
          <a:bodyPr wrap="square" lIns="0" tIns="0" rIns="0" bIns="0" rtlCol="0" anchor="t"/>
          <a:lstStyle/>
          <a:p>
            <a:pPr algn="r" indent="0" marL="0" rtl="1">
              <a:lnSpc>
                <a:spcPct val="120000"/>
              </a:lnSpc>
              <a:buNone/>
            </a:pPr>
            <a:r>
              <a:rPr lang="en-US" altLang="en-US" sz="1800" b="1" dirty="0">
                <a:solidFill>
                  <a:srgbClr val="BD3F2C"/>
                </a:solidFill>
                <a:latin typeface="IBM Plex Sans Arabic" pitchFamily="34" charset="0"/>
                <a:cs typeface="IBM Plex Sans Arabic"/>
              </a:rPr>
              <a:t>‎11–15‎</a:t>
            </a:r>
            <a:r>
              <a:rPr lang="ar-SA" altLang="en-US" sz="1800" b="1" dirty="0">
                <a:solidFill>
                  <a:srgbClr val="BD3F2C"/>
                </a:solidFill>
                <a:latin typeface="IBM Plex Sans Arabic" pitchFamily="34" charset="0"/>
                <a:cs typeface="IBM Plex Sans Arabic"/>
              </a:rPr>
              <a:t> درجة فوق حرارة الماء</a:t>
            </a:r>
            <a:endParaRPr lang="en-US" sz="1800" dirty="0"/>
          </a:p>
        </p:txBody>
      </p:sp>
      <p:sp>
        <p:nvSpPr>
          <p:cNvPr id="6" name="Text 4"/>
          <p:cNvSpPr txBox="1"/>
          <p:nvPr/>
        </p:nvSpPr>
        <p:spPr>
          <a:xfrm>
            <a:off x="6537960" y="2212848"/>
            <a:ext cx="4608576" cy="36576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5D6E7D"/>
                </a:solidFill>
                <a:latin typeface="IBM Plex Sans Arabic" pitchFamily="34" charset="0"/>
                <a:cs typeface="IBM Plex Sans Arabic"/>
              </a:rPr>
              <a:t>على دوران </a:t>
            </a:r>
            <a:r>
              <a:rPr lang="en-US" altLang="en-US" sz="1350" dirty="0">
                <a:solidFill>
                  <a:srgbClr val="5D6E7D"/>
                </a:solidFill>
                <a:latin typeface="IBM Plex Sans Arabic" pitchFamily="34" charset="0"/>
                <a:cs typeface="IBM Plex Sans Arabic"/>
              </a:rPr>
              <a:t>‎3700–4800‎</a:t>
            </a:r>
            <a:r>
              <a:rPr lang="ar-SA" altLang="en-US" sz="1350" dirty="0">
                <a:solidFill>
                  <a:srgbClr val="5D6E7D"/>
                </a:solidFill>
                <a:latin typeface="IBM Plex Sans Arabic" pitchFamily="34" charset="0"/>
                <a:cs typeface="IBM Plex Sans Arabic"/>
              </a:rPr>
              <a:t> وسرعة </a:t>
            </a:r>
            <a:r>
              <a:rPr lang="en-US" altLang="en-US" sz="1350" dirty="0">
                <a:solidFill>
                  <a:srgbClr val="5D6E7D"/>
                </a:solidFill>
                <a:latin typeface="IBM Plex Sans Arabic" pitchFamily="34" charset="0"/>
                <a:cs typeface="IBM Plex Sans Arabic"/>
              </a:rPr>
              <a:t>‎70–100‎</a:t>
            </a:r>
            <a:r>
              <a:rPr lang="ar-SA" altLang="en-US" sz="1350" dirty="0">
                <a:solidFill>
                  <a:srgbClr val="5D6E7D"/>
                </a:solidFill>
                <a:latin typeface="IBM Plex Sans Arabic" pitchFamily="34" charset="0"/>
                <a:cs typeface="IBM Plex Sans Arabic"/>
              </a:rPr>
              <a:t> كم/س — رحلة الطائف</a:t>
            </a:r>
            <a:endParaRPr lang="en-US" sz="1350" dirty="0"/>
          </a:p>
        </p:txBody>
      </p:sp>
      <p:sp>
        <p:nvSpPr>
          <p:cNvPr id="7" name="Shape 5"/>
          <p:cNvSpPr/>
          <p:nvPr/>
        </p:nvSpPr>
        <p:spPr>
          <a:xfrm>
            <a:off x="6309360" y="2880360"/>
            <a:ext cx="5065776" cy="1051560"/>
          </a:xfrm>
          <a:prstGeom prst="roundRect">
            <a:avLst>
              <a:gd name="adj" fmla="val 6957"/>
            </a:avLst>
          </a:prstGeom>
          <a:solidFill>
            <a:srgbClr val="FFFFFF"/>
          </a:solidFill>
          <a:ln w="9525">
            <a:solidFill>
              <a:srgbClr val="D4DCE3"/>
            </a:solidFill>
            <a:prstDash val="solid"/>
          </a:ln>
        </p:spPr>
      </p:sp>
      <p:sp>
        <p:nvSpPr>
          <p:cNvPr id="8" name="Text 6"/>
          <p:cNvSpPr txBox="1"/>
          <p:nvPr/>
        </p:nvSpPr>
        <p:spPr>
          <a:xfrm>
            <a:off x="6537960" y="3017520"/>
            <a:ext cx="4608576" cy="329184"/>
          </a:xfrm>
          <a:prstGeom prst="rect">
            <a:avLst/>
          </a:prstGeom>
          <a:noFill/>
          <a:ln/>
        </p:spPr>
        <p:txBody>
          <a:bodyPr wrap="square" lIns="0" tIns="0" rIns="0" bIns="0" rtlCol="0" anchor="t"/>
          <a:lstStyle/>
          <a:p>
            <a:pPr algn="r" indent="0" marL="0" rtl="1">
              <a:lnSpc>
                <a:spcPct val="120000"/>
              </a:lnSpc>
              <a:buNone/>
            </a:pPr>
            <a:r>
              <a:rPr lang="en-US" altLang="en-US" sz="1800" b="1" dirty="0">
                <a:solidFill>
                  <a:srgbClr val="2F6FA8"/>
                </a:solidFill>
                <a:latin typeface="IBM Plex Sans Arabic" pitchFamily="34" charset="0"/>
                <a:cs typeface="IBM Plex Sans Arabic"/>
              </a:rPr>
              <a:t>‎2–3‎</a:t>
            </a:r>
            <a:r>
              <a:rPr lang="ar-SA" altLang="en-US" sz="1800" b="1" dirty="0">
                <a:solidFill>
                  <a:srgbClr val="2F6FA8"/>
                </a:solidFill>
                <a:latin typeface="IBM Plex Sans Arabic" pitchFamily="34" charset="0"/>
                <a:cs typeface="IBM Plex Sans Arabic"/>
              </a:rPr>
              <a:t> درجات تحت حرارة الماء</a:t>
            </a:r>
            <a:endParaRPr lang="en-US" sz="1800" dirty="0"/>
          </a:p>
        </p:txBody>
      </p:sp>
      <p:sp>
        <p:nvSpPr>
          <p:cNvPr id="9" name="Text 7"/>
          <p:cNvSpPr txBox="1"/>
          <p:nvPr/>
        </p:nvSpPr>
        <p:spPr>
          <a:xfrm>
            <a:off x="6537960" y="3401568"/>
            <a:ext cx="4608576" cy="36576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5D6E7D"/>
                </a:solidFill>
                <a:latin typeface="IBM Plex Sans Arabic" pitchFamily="34" charset="0"/>
                <a:cs typeface="IBM Plex Sans Arabic"/>
              </a:rPr>
              <a:t>على دوران </a:t>
            </a:r>
            <a:r>
              <a:rPr lang="en-US" altLang="en-US" sz="1350" dirty="0">
                <a:solidFill>
                  <a:srgbClr val="5D6E7D"/>
                </a:solidFill>
                <a:latin typeface="IBM Plex Sans Arabic" pitchFamily="34" charset="0"/>
                <a:cs typeface="IBM Plex Sans Arabic"/>
              </a:rPr>
              <a:t>‎2600‎</a:t>
            </a:r>
            <a:r>
              <a:rPr lang="ar-SA" altLang="en-US" sz="1350" dirty="0">
                <a:solidFill>
                  <a:srgbClr val="5D6E7D"/>
                </a:solidFill>
                <a:latin typeface="IBM Plex Sans Arabic" pitchFamily="34" charset="0"/>
                <a:cs typeface="IBM Plex Sans Arabic"/>
              </a:rPr>
              <a:t> وسرعة </a:t>
            </a:r>
            <a:r>
              <a:rPr lang="en-US" altLang="en-US" sz="1350" dirty="0">
                <a:solidFill>
                  <a:srgbClr val="5D6E7D"/>
                </a:solidFill>
                <a:latin typeface="IBM Plex Sans Arabic" pitchFamily="34" charset="0"/>
                <a:cs typeface="IBM Plex Sans Arabic"/>
              </a:rPr>
              <a:t>‎130–140‎</a:t>
            </a:r>
            <a:r>
              <a:rPr lang="ar-SA" altLang="en-US" sz="1350" dirty="0">
                <a:solidFill>
                  <a:srgbClr val="5D6E7D"/>
                </a:solidFill>
                <a:latin typeface="IBM Plex Sans Arabic" pitchFamily="34" charset="0"/>
                <a:cs typeface="IBM Plex Sans Arabic"/>
              </a:rPr>
              <a:t> كم/س — سير سريع على طريق مستوٍ</a:t>
            </a:r>
            <a:endParaRPr lang="en-US" sz="1350" dirty="0"/>
          </a:p>
        </p:txBody>
      </p:sp>
      <p:sp>
        <p:nvSpPr>
          <p:cNvPr id="10" name="Text 8"/>
          <p:cNvSpPr txBox="1"/>
          <p:nvPr/>
        </p:nvSpPr>
        <p:spPr>
          <a:xfrm>
            <a:off x="6309360" y="4069080"/>
            <a:ext cx="5065776" cy="731520"/>
          </a:xfrm>
          <a:prstGeom prst="rect">
            <a:avLst/>
          </a:prstGeom>
          <a:noFill/>
          <a:ln/>
        </p:spPr>
        <p:txBody>
          <a:bodyPr wrap="square" lIns="0" tIns="0" rIns="0" bIns="0" rtlCol="0" anchor="t"/>
          <a:lstStyle/>
          <a:p>
            <a:pPr algn="r" indent="0" marL="0" rtl="1">
              <a:lnSpc>
                <a:spcPct val="120000"/>
              </a:lnSpc>
              <a:buNone/>
            </a:pPr>
            <a:r>
              <a:rPr lang="ar-SA" altLang="en-US" sz="1400" b="1" dirty="0">
                <a:solidFill>
                  <a:srgbClr val="16202B"/>
                </a:solidFill>
                <a:latin typeface="IBM Plex Sans Arabic" pitchFamily="34" charset="0"/>
                <a:cs typeface="IBM Plex Sans Arabic"/>
              </a:rPr>
              <a:t>حرارة الزيت تتبع سرعة المحرك، والهواء تحت السيارة يبرّده كلما زادت السرعة. النموذج القديم كان يسخّنه بنسبة ثابتة من الوقود.</a:t>
            </a:r>
            <a:endParaRPr lang="en-US" sz="1400" dirty="0"/>
          </a:p>
        </p:txBody>
      </p:sp>
      <p:sp>
        <p:nvSpPr>
          <p:cNvPr id="11" name="Text 9"/>
          <p:cNvSpPr txBox="1"/>
          <p:nvPr/>
        </p:nvSpPr>
        <p:spPr>
          <a:xfrm>
            <a:off x="813816" y="1691640"/>
            <a:ext cx="5212080" cy="292608"/>
          </a:xfrm>
          <a:prstGeom prst="rect">
            <a:avLst/>
          </a:prstGeom>
          <a:noFill/>
          <a:ln/>
        </p:spPr>
        <p:txBody>
          <a:bodyPr wrap="square" lIns="0" tIns="0" rIns="0" bIns="0" rtlCol="0" anchor="t"/>
          <a:lstStyle/>
          <a:p>
            <a:pPr algn="r" indent="0" marL="0" rtl="1">
              <a:lnSpc>
                <a:spcPct val="120000"/>
              </a:lnSpc>
              <a:buNone/>
            </a:pPr>
            <a:r>
              <a:rPr lang="ar-SA" altLang="en-US" sz="1400" b="1" dirty="0">
                <a:solidFill>
                  <a:srgbClr val="16202B"/>
                </a:solidFill>
                <a:latin typeface="IBM Plex Sans Arabic" pitchFamily="34" charset="0"/>
                <a:cs typeface="IBM Plex Sans Arabic"/>
              </a:rPr>
              <a:t>خطأ النموذج على رحلة الطائف، بالدرجات</a:t>
            </a:r>
            <a:endParaRPr lang="en-US" sz="1400" dirty="0"/>
          </a:p>
        </p:txBody>
      </p:sp>
      <p:graphicFrame>
        <p:nvGraphicFramePr>
          <p:cNvPr id="12" name="Chart 0" descr=""/>
          <p:cNvGraphicFramePr/>
          <p:nvPr/>
        </p:nvGraphicFramePr>
        <p:xfrm>
          <a:off x="813816" y="2011680"/>
          <a:ext cx="5212080" cy="274320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813816" y="4983480"/>
            <a:ext cx="10561320" cy="868680"/>
          </a:xfrm>
          <a:prstGeom prst="roundRect">
            <a:avLst>
              <a:gd name="adj" fmla="val 8421"/>
            </a:avLst>
          </a:prstGeom>
          <a:solidFill>
            <a:srgbClr val="EAF1F7"/>
          </a:solidFill>
          <a:ln w="9525">
            <a:solidFill>
              <a:srgbClr val="C3D6E6"/>
            </a:solidFill>
            <a:prstDash val="solid"/>
          </a:ln>
        </p:spPr>
      </p:sp>
      <p:sp>
        <p:nvSpPr>
          <p:cNvPr id="14" name="Text 11"/>
          <p:cNvSpPr txBox="1"/>
          <p:nvPr/>
        </p:nvSpPr>
        <p:spPr>
          <a:xfrm>
            <a:off x="1088136" y="5120640"/>
            <a:ext cx="10012680" cy="594360"/>
          </a:xfrm>
          <a:prstGeom prst="rect">
            <a:avLst/>
          </a:prstGeom>
          <a:noFill/>
          <a:ln/>
        </p:spPr>
        <p:txBody>
          <a:bodyPr wrap="square" lIns="0" tIns="0" rIns="0" bIns="0" rtlCol="0" anchor="t"/>
          <a:lstStyle/>
          <a:p>
            <a:pPr algn="r" indent="0" marL="0" rtl="1">
              <a:lnSpc>
                <a:spcPct val="120000"/>
              </a:lnSpc>
              <a:buNone/>
            </a:pPr>
            <a:r>
              <a:rPr lang="ar-SA" altLang="en-US" sz="1400" dirty="0">
                <a:solidFill>
                  <a:srgbClr val="16202B"/>
                </a:solidFill>
                <a:latin typeface="IBM Plex Sans Arabic" pitchFamily="34" charset="0"/>
                <a:cs typeface="IBM Plex Sans Arabic"/>
              </a:rPr>
              <a:t>وما زال ناقصاً: تحت حمل مستمر يقرأ </a:t>
            </a:r>
            <a:r>
              <a:rPr lang="en-US" altLang="en-US" sz="1400" dirty="0">
                <a:solidFill>
                  <a:srgbClr val="16202B"/>
                </a:solidFill>
                <a:latin typeface="IBM Plex Sans Arabic" pitchFamily="34" charset="0"/>
                <a:cs typeface="IBM Plex Sans Arabic"/>
              </a:rPr>
              <a:t>‎97.0 °C‎</a:t>
            </a:r>
            <a:r>
              <a:rPr lang="ar-SA" altLang="en-US" sz="1400" dirty="0">
                <a:solidFill>
                  <a:srgbClr val="16202B"/>
                </a:solidFill>
                <a:latin typeface="IBM Plex Sans Arabic" pitchFamily="34" charset="0"/>
                <a:cs typeface="IBM Plex Sans Arabic"/>
              </a:rPr>
              <a:t> والسيارة بين </a:t>
            </a:r>
            <a:r>
              <a:rPr lang="en-US" altLang="en-US" sz="1400" dirty="0">
                <a:solidFill>
                  <a:srgbClr val="16202B"/>
                </a:solidFill>
                <a:latin typeface="IBM Plex Sans Arabic" pitchFamily="34" charset="0"/>
                <a:cs typeface="IBM Plex Sans Arabic"/>
              </a:rPr>
              <a:t>‎103‎</a:t>
            </a:r>
            <a:r>
              <a:rPr lang="ar-SA" altLang="en-US" sz="1400" dirty="0">
                <a:solidFill>
                  <a:srgbClr val="16202B"/>
                </a:solidFill>
                <a:latin typeface="IBM Plex Sans Arabic" pitchFamily="34" charset="0"/>
                <a:cs typeface="IBM Plex Sans Arabic"/>
              </a:rPr>
              <a:t> و </a:t>
            </a:r>
            <a:r>
              <a:rPr lang="en-US" altLang="en-US" sz="1400" dirty="0">
                <a:solidFill>
                  <a:srgbClr val="16202B"/>
                </a:solidFill>
                <a:latin typeface="IBM Plex Sans Arabic" pitchFamily="34" charset="0"/>
                <a:cs typeface="IBM Plex Sans Arabic"/>
              </a:rPr>
              <a:t>‎111‎</a:t>
            </a:r>
            <a:r>
              <a:rPr lang="ar-SA" altLang="en-US" sz="1400" dirty="0">
                <a:solidFill>
                  <a:srgbClr val="16202B"/>
                </a:solidFill>
                <a:latin typeface="IBM Plex Sans Arabic" pitchFamily="34" charset="0"/>
                <a:cs typeface="IBM Plex Sans Arabic"/>
              </a:rPr>
              <a:t>، وتبيّن في المراجعة أن الوقود أيضاً يسخّن الزيت. رحلة </a:t>
            </a:r>
            <a:r>
              <a:rPr lang="en-US" altLang="en-US" sz="1400" dirty="0">
                <a:solidFill>
                  <a:srgbClr val="16202B"/>
                </a:solidFill>
                <a:latin typeface="IBM Plex Sans Arabic" pitchFamily="34" charset="0"/>
                <a:cs typeface="IBM Plex Sans Arabic"/>
              </a:rPr>
              <a:t>‎A‎</a:t>
            </a:r>
            <a:r>
              <a:rPr lang="ar-SA" altLang="en-US" sz="1400" dirty="0">
                <a:solidFill>
                  <a:srgbClr val="16202B"/>
                </a:solidFill>
                <a:latin typeface="IBM Plex Sans Arabic" pitchFamily="34" charset="0"/>
                <a:cs typeface="IBM Plex Sans Arabic"/>
              </a:rPr>
              <a:t> هي البيانات التي تحسمه.</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6"/>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BD3F2C"/>
                </a:solidFill>
                <a:latin typeface="IBM Plex Sans Arabic" pitchFamily="34" charset="0"/>
                <a:cs typeface="IBM Plex Sans Arabic"/>
              </a:rPr>
              <a:t>ثلاثة تصحيحات فيزيائية</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ثلاثة أخطاء في المعادلات، واثنان منها يلغي أحدهما الآخر</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10561320" cy="914400"/>
        </p:xfrm>
        <a:graphic>
          <a:graphicData uri="http://schemas.openxmlformats.org/drawingml/2006/table">
            <a:tbl>
              <a:tblPr/>
              <a:tblGrid>
                <a:gridCol w="2057400"/>
                <a:gridCol w="3154680"/>
                <a:gridCol w="2240280"/>
                <a:gridCol w="3108960"/>
              </a:tblGrid>
              <a:tr h="420624">
                <a:tc>
                  <a:txBody>
                    <a:bodyPr/>
                    <a:lstStyle/>
                    <a:p>
                      <a:pPr algn="r" indent="0" marL="0" rtl="1">
                        <a:buNone/>
                      </a:pPr>
                      <a:r>
                        <a:rPr lang="ar-SA" altLang="en-US" sz="1300" b="1" dirty="0">
                          <a:solidFill>
                            <a:srgbClr val="FFFFFF"/>
                          </a:solidFill>
                          <a:latin typeface="IBM Plex Sans Arabic" pitchFamily="34" charset="0"/>
                          <a:cs typeface="IBM Plex Sans Arabic"/>
                        </a:rPr>
                        <a:t>أثره على أعلى حرارة</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صار</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كان</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ما هو</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r>
              <a:tr h="566928">
                <a:tc>
                  <a:txBody>
                    <a:bodyPr/>
                    <a:lstStyle/>
                    <a:p>
                      <a:pPr algn="r" indent="0" marL="0" rtl="1">
                        <a:buNone/>
                      </a:pPr>
                      <a:r>
                        <a:rPr lang="ar-SA" altLang="en-US" sz="1400" b="1" dirty="0">
                          <a:solidFill>
                            <a:srgbClr val="BD3F2C"/>
                          </a:solidFill>
                          <a:latin typeface="IBM Plex Sans Arabic" pitchFamily="34" charset="0"/>
                          <a:cs typeface="IBM Plex Sans Arabic"/>
                        </a:rPr>
                        <a:t>يرفعها </a:t>
                      </a:r>
                      <a:r>
                        <a:rPr lang="en-US" altLang="en-US" sz="1400" b="1" dirty="0">
                          <a:solidFill>
                            <a:srgbClr val="BD3F2C"/>
                          </a:solidFill>
                          <a:latin typeface="IBM Plex Sans Arabic" pitchFamily="34" charset="0"/>
                          <a:cs typeface="IBM Plex Sans Arabic"/>
                        </a:rPr>
                        <a:t>‎5.5‎</a:t>
                      </a:r>
                      <a:r>
                        <a:rPr lang="ar-SA" altLang="en-US" sz="1400" b="1" dirty="0">
                          <a:solidFill>
                            <a:srgbClr val="BD3F2C"/>
                          </a:solidFill>
                          <a:latin typeface="IBM Plex Sans Arabic" pitchFamily="34" charset="0"/>
                          <a:cs typeface="IBM Plex Sans Arabic"/>
                        </a:rPr>
                        <a:t> درجة</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400" dirty="0">
                          <a:solidFill>
                            <a:srgbClr val="3D4C5A"/>
                          </a:solidFill>
                          <a:latin typeface="IBM Plex Sans Arabic" pitchFamily="34" charset="0"/>
                          <a:cs typeface="IBM Plex Sans Arabic"/>
                        </a:rPr>
                        <a:t>الهواء + الوقود (حفظ الكتلة)</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400" dirty="0">
                          <a:solidFill>
                            <a:srgbClr val="3D4C5A"/>
                          </a:solidFill>
                          <a:latin typeface="IBM Plex Sans Arabic" pitchFamily="34" charset="0"/>
                          <a:cs typeface="IBM Plex Sans Arabic"/>
                        </a:rPr>
                        <a:t>الوقود </a:t>
                      </a:r>
                      <a:r>
                        <a:rPr lang="en-US" altLang="en-US" sz="1400" dirty="0">
                          <a:solidFill>
                            <a:srgbClr val="3D4C5A"/>
                          </a:solidFill>
                          <a:latin typeface="IBM Plex Sans Arabic" pitchFamily="34" charset="0"/>
                          <a:cs typeface="IBM Plex Sans Arabic"/>
                        </a:rPr>
                        <a:t>‎× 15‎</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400" b="1" dirty="0">
                          <a:solidFill>
                            <a:srgbClr val="16202B"/>
                          </a:solidFill>
                          <a:latin typeface="IBM Plex Sans Arabic" pitchFamily="34" charset="0"/>
                          <a:cs typeface="IBM Plex Sans Arabic"/>
                        </a:rPr>
                        <a:t>تدفّق العادم إلى التوربين</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r h="566928">
                <a:tc>
                  <a:txBody>
                    <a:bodyPr/>
                    <a:lstStyle/>
                    <a:p>
                      <a:pPr algn="r" indent="0" marL="0" rtl="1">
                        <a:buNone/>
                      </a:pPr>
                      <a:r>
                        <a:rPr lang="ar-SA" altLang="en-US" sz="1400" b="1" dirty="0">
                          <a:solidFill>
                            <a:srgbClr val="2F6FA8"/>
                          </a:solidFill>
                          <a:latin typeface="IBM Plex Sans Arabic" pitchFamily="34" charset="0"/>
                          <a:cs typeface="IBM Plex Sans Arabic"/>
                        </a:rPr>
                        <a:t>يخفضها </a:t>
                      </a:r>
                      <a:r>
                        <a:rPr lang="en-US" altLang="en-US" sz="1400" b="1" dirty="0">
                          <a:solidFill>
                            <a:srgbClr val="2F6FA8"/>
                          </a:solidFill>
                          <a:latin typeface="IBM Plex Sans Arabic" pitchFamily="34" charset="0"/>
                          <a:cs typeface="IBM Plex Sans Arabic"/>
                        </a:rPr>
                        <a:t>‎6.2‎</a:t>
                      </a:r>
                      <a:r>
                        <a:rPr lang="ar-SA" altLang="en-US" sz="1400" b="1" dirty="0">
                          <a:solidFill>
                            <a:srgbClr val="2F6FA8"/>
                          </a:solidFill>
                          <a:latin typeface="IBM Plex Sans Arabic" pitchFamily="34" charset="0"/>
                          <a:cs typeface="IBM Plex Sans Arabic"/>
                        </a:rPr>
                        <a:t> درجة</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400" dirty="0">
                          <a:solidFill>
                            <a:srgbClr val="3D4C5A"/>
                          </a:solidFill>
                          <a:latin typeface="IBM Plex Sans Arabic" pitchFamily="34" charset="0"/>
                          <a:cs typeface="IBM Plex Sans Arabic"/>
                        </a:rPr>
                        <a:t>من حرارة الجو: </a:t>
                      </a:r>
                      <a:r>
                        <a:rPr lang="en-US" altLang="en-US" sz="1400" dirty="0">
                          <a:solidFill>
                            <a:srgbClr val="3D4C5A"/>
                          </a:solidFill>
                          <a:latin typeface="IBM Plex Sans Arabic" pitchFamily="34" charset="0"/>
                          <a:cs typeface="IBM Plex Sans Arabic"/>
                        </a:rPr>
                        <a:t>‎1.12‎</a:t>
                      </a:r>
                      <a:r>
                        <a:rPr lang="ar-SA" altLang="en-US" sz="1400" dirty="0">
                          <a:solidFill>
                            <a:srgbClr val="3D4C5A"/>
                          </a:solidFill>
                          <a:latin typeface="IBM Plex Sans Arabic" pitchFamily="34" charset="0"/>
                          <a:cs typeface="IBM Plex Sans Arabic"/>
                        </a:rPr>
                        <a:t> عند </a:t>
                      </a:r>
                      <a:r>
                        <a:rPr lang="en-US" altLang="en-US" sz="1400" dirty="0">
                          <a:solidFill>
                            <a:srgbClr val="3D4C5A"/>
                          </a:solidFill>
                          <a:latin typeface="IBM Plex Sans Arabic" pitchFamily="34" charset="0"/>
                          <a:cs typeface="IBM Plex Sans Arabic"/>
                        </a:rPr>
                        <a:t>‎42 °C‎</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400" dirty="0">
                          <a:solidFill>
                            <a:srgbClr val="3D4C5A"/>
                          </a:solidFill>
                          <a:latin typeface="IBM Plex Sans Arabic" pitchFamily="34" charset="0"/>
                          <a:cs typeface="IBM Plex Sans Arabic"/>
                        </a:rPr>
                        <a:t>رقم ثابت: </a:t>
                      </a:r>
                      <a:r>
                        <a:rPr lang="en-US" altLang="en-US" sz="1400" dirty="0">
                          <a:solidFill>
                            <a:srgbClr val="3D4C5A"/>
                          </a:solidFill>
                          <a:latin typeface="IBM Plex Sans Arabic" pitchFamily="34" charset="0"/>
                          <a:cs typeface="IBM Plex Sans Arabic"/>
                        </a:rPr>
                        <a:t>‎1.2‎</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400" b="1" dirty="0">
                          <a:solidFill>
                            <a:srgbClr val="16202B"/>
                          </a:solidFill>
                          <a:latin typeface="IBM Plex Sans Arabic" pitchFamily="34" charset="0"/>
                          <a:cs typeface="IBM Plex Sans Arabic"/>
                        </a:rPr>
                        <a:t>كثافة الهواء في مقاومة الهواء</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r>
              <a:tr h="566928">
                <a:tc>
                  <a:txBody>
                    <a:bodyPr/>
                    <a:lstStyle/>
                    <a:p>
                      <a:pPr algn="r" indent="0" marL="0">
                        <a:buNone/>
                      </a:pPr>
                      <a:r>
                        <a:rPr lang="ar-SA" altLang="en-US" sz="1400" dirty="0">
                          <a:solidFill>
                            <a:srgbClr val="3D4C5A"/>
                          </a:solidFill>
                          <a:latin typeface="IBM Plex Sans Arabic" pitchFamily="34" charset="0"/>
                          <a:cs typeface="IBM Plex Sans Arabic"/>
                        </a:rPr>
                        <a:t>—</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400" dirty="0">
                          <a:solidFill>
                            <a:srgbClr val="3D4C5A"/>
                          </a:solidFill>
                          <a:latin typeface="IBM Plex Sans Arabic" pitchFamily="34" charset="0"/>
                          <a:cs typeface="IBM Plex Sans Arabic"/>
                        </a:rPr>
                        <a:t>حرارة الجو، كما يقول تعريف السقف نفسه</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400" dirty="0">
                          <a:solidFill>
                            <a:srgbClr val="3D4C5A"/>
                          </a:solidFill>
                          <a:latin typeface="IBM Plex Sans Arabic" pitchFamily="34" charset="0"/>
                          <a:cs typeface="IBM Plex Sans Arabic"/>
                        </a:rPr>
                        <a:t>حرارة الشحنة بعد الشاحن</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400" b="1" dirty="0">
                          <a:solidFill>
                            <a:srgbClr val="16202B"/>
                          </a:solidFill>
                          <a:latin typeface="IBM Plex Sans Arabic" pitchFamily="34" charset="0"/>
                          <a:cs typeface="IBM Plex Sans Arabic"/>
                        </a:rPr>
                        <a:t>حرارة مدخل الشاحن عند حساب السقف</a:t>
                      </a:r>
                      <a:endParaRPr lang="en-US" sz="14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bl>
          </a:graphicData>
        </a:graphic>
      </p:graphicFrame>
      <p:sp>
        <p:nvSpPr>
          <p:cNvPr id="5" name="Shape 2"/>
          <p:cNvSpPr/>
          <p:nvPr/>
        </p:nvSpPr>
        <p:spPr>
          <a:xfrm>
            <a:off x="813816" y="4069080"/>
            <a:ext cx="10561320" cy="1325880"/>
          </a:xfrm>
          <a:prstGeom prst="roundRect">
            <a:avLst>
              <a:gd name="adj" fmla="val 5517"/>
            </a:avLst>
          </a:prstGeom>
          <a:solidFill>
            <a:srgbClr val="EAF1F7"/>
          </a:solidFill>
          <a:ln w="9525">
            <a:solidFill>
              <a:srgbClr val="C3D6E6"/>
            </a:solidFill>
            <a:prstDash val="solid"/>
          </a:ln>
        </p:spPr>
      </p:sp>
      <p:sp>
        <p:nvSpPr>
          <p:cNvPr id="6" name="Text 3"/>
          <p:cNvSpPr txBox="1"/>
          <p:nvPr/>
        </p:nvSpPr>
        <p:spPr>
          <a:xfrm>
            <a:off x="1088136" y="4279392"/>
            <a:ext cx="10012680" cy="914400"/>
          </a:xfrm>
          <a:prstGeom prst="rect">
            <a:avLst/>
          </a:prstGeom>
          <a:noFill/>
          <a:ln/>
        </p:spPr>
        <p:txBody>
          <a:bodyPr wrap="square" lIns="0" tIns="0" rIns="0" bIns="0" rtlCol="0" anchor="t"/>
          <a:lstStyle/>
          <a:p>
            <a:pPr algn="r" indent="0" marL="0" rtl="1">
              <a:lnSpc>
                <a:spcPct val="120000"/>
              </a:lnSpc>
              <a:buNone/>
            </a:pPr>
            <a:r>
              <a:rPr lang="ar-SA" altLang="en-US" sz="1550" b="1" dirty="0">
                <a:solidFill>
                  <a:srgbClr val="16202B"/>
                </a:solidFill>
                <a:latin typeface="IBM Plex Sans Arabic" pitchFamily="34" charset="0"/>
                <a:cs typeface="IBM Plex Sans Arabic"/>
              </a:rPr>
              <a:t>لهذا بقيت أعلى حرارة على صعود الاختبار تقريباً كما هي: </a:t>
            </a:r>
            <a:r>
              <a:rPr lang="en-US" altLang="en-US" sz="1550" b="1" dirty="0">
                <a:solidFill>
                  <a:srgbClr val="16202B"/>
                </a:solidFill>
                <a:latin typeface="IBM Plex Sans Arabic" pitchFamily="34" charset="0"/>
                <a:cs typeface="IBM Plex Sans Arabic"/>
              </a:rPr>
              <a:t>‎884‎</a:t>
            </a:r>
            <a:r>
              <a:rPr lang="ar-SA" altLang="en-US" sz="1550" b="1" dirty="0">
                <a:solidFill>
                  <a:srgbClr val="16202B"/>
                </a:solidFill>
                <a:latin typeface="IBM Plex Sans Arabic" pitchFamily="34" charset="0"/>
                <a:cs typeface="IBM Plex Sans Arabic"/>
              </a:rPr>
              <a:t> ثم </a:t>
            </a:r>
            <a:r>
              <a:rPr lang="en-US" altLang="en-US" sz="1550" b="1" dirty="0">
                <a:solidFill>
                  <a:srgbClr val="16202B"/>
                </a:solidFill>
                <a:latin typeface="IBM Plex Sans Arabic" pitchFamily="34" charset="0"/>
                <a:cs typeface="IBM Plex Sans Arabic"/>
              </a:rPr>
              <a:t>‎883 °C‎</a:t>
            </a:r>
            <a:r>
              <a:rPr lang="ar-SA" altLang="en-US" sz="1550" b="1" dirty="0">
                <a:solidFill>
                  <a:srgbClr val="16202B"/>
                </a:solidFill>
                <a:latin typeface="IBM Plex Sans Arabic" pitchFamily="34" charset="0"/>
                <a:cs typeface="IBM Plex Sans Arabic"/>
              </a:rPr>
              <a:t>. </a:t>
            </a:r>
            <a:r>
              <a:rPr lang="ar-SA" altLang="en-US" sz="1550" dirty="0">
                <a:solidFill>
                  <a:srgbClr val="16202B"/>
                </a:solidFill>
                <a:latin typeface="IBM Plex Sans Arabic" pitchFamily="34" charset="0"/>
                <a:cs typeface="IBM Plex Sans Arabic"/>
              </a:rPr>
              <a:t>ليس لأن شيئاً لم يتغيّر، بل لأن تصحيحين متعاكسين بنفس الحجم تقريباً. أمّا الضرر المحسوب فتغيّر بين </a:t>
            </a:r>
            <a:r>
              <a:rPr lang="en-US" altLang="en-US" sz="1550" dirty="0">
                <a:solidFill>
                  <a:srgbClr val="16202B"/>
                </a:solidFill>
                <a:latin typeface="IBM Plex Sans Arabic" pitchFamily="34" charset="0"/>
                <a:cs typeface="IBM Plex Sans Arabic"/>
              </a:rPr>
              <a:t>‎12‎</a:t>
            </a:r>
            <a:r>
              <a:rPr lang="ar-SA" altLang="en-US" sz="1550" dirty="0">
                <a:solidFill>
                  <a:srgbClr val="16202B"/>
                </a:solidFill>
                <a:latin typeface="IBM Plex Sans Arabic" pitchFamily="34" charset="0"/>
                <a:cs typeface="IBM Plex Sans Arabic"/>
              </a:rPr>
              <a:t> و </a:t>
            </a:r>
            <a:r>
              <a:rPr lang="en-US" altLang="en-US" sz="1550" dirty="0">
                <a:solidFill>
                  <a:srgbClr val="16202B"/>
                </a:solidFill>
                <a:latin typeface="IBM Plex Sans Arabic" pitchFamily="34" charset="0"/>
                <a:cs typeface="IBM Plex Sans Arabic"/>
              </a:rPr>
              <a:t>‎13%‎</a:t>
            </a:r>
            <a:r>
              <a:rPr lang="ar-SA" altLang="en-US" sz="1550" dirty="0">
                <a:solidFill>
                  <a:srgbClr val="16202B"/>
                </a:solidFill>
                <a:latin typeface="IBM Plex Sans Arabic" pitchFamily="34" charset="0"/>
                <a:cs typeface="IBM Plex Sans Arabic"/>
              </a:rPr>
              <a: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2F6FA8"/>
                </a:solidFill>
                <a:latin typeface="IBM Plex Sans Arabic" pitchFamily="34" charset="0"/>
                <a:cs typeface="IBM Plex Sans Arabic"/>
              </a:rPr>
              <a:t>ناقل الحركة ووحدة التحكّم</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عيبان كانا يغيّران سلوك السيارة في المحاكاة</a:t>
            </a:r>
            <a:endParaRPr lang="en-US" sz="3000" dirty="0"/>
          </a:p>
        </p:txBody>
      </p:sp>
      <p:sp>
        <p:nvSpPr>
          <p:cNvPr id="4" name="Shape 2"/>
          <p:cNvSpPr/>
          <p:nvPr/>
        </p:nvSpPr>
        <p:spPr>
          <a:xfrm>
            <a:off x="6199632" y="1691640"/>
            <a:ext cx="5175504" cy="2971800"/>
          </a:xfrm>
          <a:prstGeom prst="roundRect">
            <a:avLst>
              <a:gd name="adj" fmla="val 2462"/>
            </a:avLst>
          </a:prstGeom>
          <a:solidFill>
            <a:srgbClr val="FFFFFF"/>
          </a:solidFill>
          <a:ln w="9525">
            <a:solidFill>
              <a:srgbClr val="D4DCE3"/>
            </a:solidFill>
            <a:prstDash val="solid"/>
          </a:ln>
        </p:spPr>
      </p:sp>
      <p:sp>
        <p:nvSpPr>
          <p:cNvPr id="5" name="Text 3"/>
          <p:cNvSpPr txBox="1"/>
          <p:nvPr/>
        </p:nvSpPr>
        <p:spPr>
          <a:xfrm>
            <a:off x="6455664" y="1920240"/>
            <a:ext cx="4663440" cy="347472"/>
          </a:xfrm>
          <a:prstGeom prst="rect">
            <a:avLst/>
          </a:prstGeom>
          <a:noFill/>
          <a:ln/>
        </p:spPr>
        <p:txBody>
          <a:bodyPr wrap="square" lIns="0" tIns="0" rIns="0" bIns="0" rtlCol="0" anchor="t"/>
          <a:lstStyle/>
          <a:p>
            <a:pPr algn="r" indent="0" marL="0" rtl="1">
              <a:lnSpc>
                <a:spcPct val="120000"/>
              </a:lnSpc>
              <a:buNone/>
            </a:pPr>
            <a:r>
              <a:rPr lang="ar-SA" altLang="en-US" sz="1800" b="1" dirty="0">
                <a:solidFill>
                  <a:srgbClr val="16202B"/>
                </a:solidFill>
                <a:latin typeface="IBM Plex Sans Arabic" pitchFamily="34" charset="0"/>
                <a:cs typeface="IBM Plex Sans Arabic"/>
              </a:rPr>
              <a:t>ناقل الحركة لم يكن ينزّل الغيار</a:t>
            </a:r>
            <a:endParaRPr lang="en-US" sz="1800" dirty="0"/>
          </a:p>
        </p:txBody>
      </p:sp>
      <p:sp>
        <p:nvSpPr>
          <p:cNvPr id="6" name="Text 4"/>
          <p:cNvSpPr txBox="1"/>
          <p:nvPr/>
        </p:nvSpPr>
        <p:spPr>
          <a:xfrm>
            <a:off x="6455664" y="2350008"/>
            <a:ext cx="4663440" cy="1097280"/>
          </a:xfrm>
          <a:prstGeom prst="rect">
            <a:avLst/>
          </a:prstGeom>
          <a:noFill/>
          <a:ln/>
        </p:spPr>
        <p:txBody>
          <a:bodyPr wrap="square" lIns="0" tIns="0" rIns="0" bIns="0" rtlCol="0" anchor="t"/>
          <a:lstStyle/>
          <a:p>
            <a:pPr algn="r" indent="0" marL="0" rtl="1">
              <a:lnSpc>
                <a:spcPct val="120000"/>
              </a:lnSpc>
              <a:buNone/>
            </a:pPr>
            <a:r>
              <a:rPr lang="ar-SA" altLang="en-US" sz="1400" dirty="0">
                <a:solidFill>
                  <a:srgbClr val="5D6E7D"/>
                </a:solidFill>
                <a:latin typeface="IBM Plex Sans Arabic" pitchFamily="34" charset="0"/>
                <a:cs typeface="IBM Plex Sans Arabic"/>
              </a:rPr>
              <a:t>بالغيار الثامن عند </a:t>
            </a:r>
            <a:r>
              <a:rPr lang="en-US" altLang="en-US" sz="1400" dirty="0">
                <a:solidFill>
                  <a:srgbClr val="5D6E7D"/>
                </a:solidFill>
                <a:latin typeface="IBM Plex Sans Arabic" pitchFamily="34" charset="0"/>
                <a:cs typeface="IBM Plex Sans Arabic"/>
              </a:rPr>
              <a:t>‎130‎</a:t>
            </a:r>
            <a:r>
              <a:rPr lang="ar-SA" altLang="en-US" sz="1400" dirty="0">
                <a:solidFill>
                  <a:srgbClr val="5D6E7D"/>
                </a:solidFill>
                <a:latin typeface="IBM Plex Sans Arabic" pitchFamily="34" charset="0"/>
                <a:cs typeface="IBM Plex Sans Arabic"/>
              </a:rPr>
              <a:t> كم/س يعطي المحرك في المحاكاة </a:t>
            </a:r>
            <a:r>
              <a:rPr lang="en-US" altLang="en-US" sz="1400" dirty="0">
                <a:solidFill>
                  <a:srgbClr val="5D6E7D"/>
                </a:solidFill>
                <a:latin typeface="IBM Plex Sans Arabic" pitchFamily="34" charset="0"/>
                <a:cs typeface="IBM Plex Sans Arabic"/>
              </a:rPr>
              <a:t>‎333‎</a:t>
            </a:r>
            <a:r>
              <a:rPr lang="ar-SA" altLang="en-US" sz="1400" dirty="0">
                <a:solidFill>
                  <a:srgbClr val="5D6E7D"/>
                </a:solidFill>
                <a:latin typeface="IBM Plex Sans Arabic" pitchFamily="34" charset="0"/>
                <a:cs typeface="IBM Plex Sans Arabic"/>
              </a:rPr>
              <a:t> نيوتن·متر، والناقل لا ينزّل غياراً إلا فوق </a:t>
            </a:r>
            <a:r>
              <a:rPr lang="en-US" altLang="en-US" sz="1400" dirty="0">
                <a:solidFill>
                  <a:srgbClr val="5D6E7D"/>
                </a:solidFill>
                <a:latin typeface="IBM Plex Sans Arabic" pitchFamily="34" charset="0"/>
                <a:cs typeface="IBM Plex Sans Arabic"/>
              </a:rPr>
              <a:t>‎375‎</a:t>
            </a:r>
            <a:r>
              <a:rPr lang="ar-SA" altLang="en-US" sz="1400" dirty="0">
                <a:solidFill>
                  <a:srgbClr val="5D6E7D"/>
                </a:solidFill>
                <a:latin typeface="IBM Plex Sans Arabic" pitchFamily="34" charset="0"/>
                <a:cs typeface="IBM Plex Sans Arabic"/>
              </a:rPr>
              <a:t>. فعلى ميل قرابة </a:t>
            </a:r>
            <a:r>
              <a:rPr lang="en-US" altLang="en-US" sz="1400" dirty="0">
                <a:solidFill>
                  <a:srgbClr val="5D6E7D"/>
                </a:solidFill>
                <a:latin typeface="IBM Plex Sans Arabic" pitchFamily="34" charset="0"/>
                <a:cs typeface="IBM Plex Sans Arabic"/>
              </a:rPr>
              <a:t>‎9%‎</a:t>
            </a:r>
            <a:r>
              <a:rPr lang="ar-SA" altLang="en-US" sz="1400" dirty="0">
                <a:solidFill>
                  <a:srgbClr val="5D6E7D"/>
                </a:solidFill>
                <a:latin typeface="IBM Plex Sans Arabic" pitchFamily="34" charset="0"/>
                <a:cs typeface="IBM Plex Sans Arabic"/>
              </a:rPr>
              <a:t> لم تكن السيارة تستطيع حفظ سرعتها.</a:t>
            </a:r>
            <a:endParaRPr lang="en-US" sz="1400" dirty="0"/>
          </a:p>
        </p:txBody>
      </p:sp>
      <p:sp>
        <p:nvSpPr>
          <p:cNvPr id="7" name="Text 5"/>
          <p:cNvSpPr txBox="1"/>
          <p:nvPr/>
        </p:nvSpPr>
        <p:spPr>
          <a:xfrm>
            <a:off x="6455664" y="3429000"/>
            <a:ext cx="4663440" cy="457200"/>
          </a:xfrm>
          <a:prstGeom prst="rect">
            <a:avLst/>
          </a:prstGeom>
          <a:noFill/>
          <a:ln/>
        </p:spPr>
        <p:txBody>
          <a:bodyPr wrap="square" lIns="0" tIns="0" rIns="0" bIns="0" rtlCol="0" anchor="t"/>
          <a:lstStyle/>
          <a:p>
            <a:pPr algn="r" indent="0" marL="0" rtl="1">
              <a:lnSpc>
                <a:spcPct val="120000"/>
              </a:lnSpc>
              <a:buNone/>
            </a:pPr>
            <a:r>
              <a:rPr lang="ar-SA" altLang="en-US" sz="1400" b="1" dirty="0">
                <a:solidFill>
                  <a:srgbClr val="2F6FA8"/>
                </a:solidFill>
                <a:latin typeface="IBM Plex Sans Arabic" pitchFamily="34" charset="0"/>
                <a:cs typeface="IBM Plex Sans Arabic"/>
              </a:rPr>
              <a:t>الآن ينزّل غياراً حين لا يكفي المحرك، كما يفعل الأوتوماتيك الحقيقي.</a:t>
            </a:r>
            <a:endParaRPr lang="en-US" sz="1400" dirty="0"/>
          </a:p>
        </p:txBody>
      </p:sp>
      <p:sp>
        <p:nvSpPr>
          <p:cNvPr id="8" name="Text 6"/>
          <p:cNvSpPr txBox="1"/>
          <p:nvPr/>
        </p:nvSpPr>
        <p:spPr>
          <a:xfrm>
            <a:off x="6455664" y="4087368"/>
            <a:ext cx="4663440" cy="50292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B5741A"/>
                </a:solidFill>
                <a:latin typeface="IBM Plex Sans Arabic" pitchFamily="34" charset="0"/>
                <a:cs typeface="IBM Plex Sans Arabic"/>
              </a:rPr>
              <a:t>الثمن، ونكتبه: في هذا المدى يدور المحرك أسرع من السيارة الحقيقية بنحو </a:t>
            </a:r>
            <a:r>
              <a:rPr lang="en-US" altLang="en-US" sz="1300" dirty="0">
                <a:solidFill>
                  <a:srgbClr val="B5741A"/>
                </a:solidFill>
                <a:latin typeface="IBM Plex Sans Arabic" pitchFamily="34" charset="0"/>
                <a:cs typeface="IBM Plex Sans Arabic"/>
              </a:rPr>
              <a:t>‎600‎</a:t>
            </a:r>
            <a:r>
              <a:rPr lang="ar-SA" altLang="en-US" sz="1300" dirty="0">
                <a:solidFill>
                  <a:srgbClr val="B5741A"/>
                </a:solidFill>
                <a:latin typeface="IBM Plex Sans Arabic" pitchFamily="34" charset="0"/>
                <a:cs typeface="IBM Plex Sans Arabic"/>
              </a:rPr>
              <a:t> دورة.</a:t>
            </a:r>
            <a:endParaRPr lang="en-US" sz="1300" dirty="0"/>
          </a:p>
        </p:txBody>
      </p:sp>
      <p:sp>
        <p:nvSpPr>
          <p:cNvPr id="9" name="Shape 7"/>
          <p:cNvSpPr/>
          <p:nvPr/>
        </p:nvSpPr>
        <p:spPr>
          <a:xfrm>
            <a:off x="813816" y="1691640"/>
            <a:ext cx="5175504" cy="2971800"/>
          </a:xfrm>
          <a:prstGeom prst="roundRect">
            <a:avLst>
              <a:gd name="adj" fmla="val 2462"/>
            </a:avLst>
          </a:prstGeom>
          <a:solidFill>
            <a:srgbClr val="FFFFFF"/>
          </a:solidFill>
          <a:ln w="9525">
            <a:solidFill>
              <a:srgbClr val="D4DCE3"/>
            </a:solidFill>
            <a:prstDash val="solid"/>
          </a:ln>
        </p:spPr>
      </p:sp>
      <p:sp>
        <p:nvSpPr>
          <p:cNvPr id="10" name="Text 8"/>
          <p:cNvSpPr txBox="1"/>
          <p:nvPr/>
        </p:nvSpPr>
        <p:spPr>
          <a:xfrm>
            <a:off x="1069848" y="1920240"/>
            <a:ext cx="4663440" cy="347472"/>
          </a:xfrm>
          <a:prstGeom prst="rect">
            <a:avLst/>
          </a:prstGeom>
          <a:noFill/>
          <a:ln/>
        </p:spPr>
        <p:txBody>
          <a:bodyPr wrap="square" lIns="0" tIns="0" rIns="0" bIns="0" rtlCol="0" anchor="t"/>
          <a:lstStyle/>
          <a:p>
            <a:pPr algn="r" indent="0" marL="0" rtl="1">
              <a:lnSpc>
                <a:spcPct val="120000"/>
              </a:lnSpc>
              <a:buNone/>
            </a:pPr>
            <a:r>
              <a:rPr lang="ar-SA" altLang="en-US" sz="1800" b="1" dirty="0">
                <a:solidFill>
                  <a:srgbClr val="16202B"/>
                </a:solidFill>
                <a:latin typeface="IBM Plex Sans Arabic" pitchFamily="34" charset="0"/>
                <a:cs typeface="IBM Plex Sans Arabic"/>
              </a:rPr>
              <a:t>خط الشرارة المُلاءَم لم يكن يُستعمل</a:t>
            </a:r>
            <a:endParaRPr lang="en-US" sz="1800" dirty="0"/>
          </a:p>
        </p:txBody>
      </p:sp>
      <p:sp>
        <p:nvSpPr>
          <p:cNvPr id="11" name="Text 9"/>
          <p:cNvSpPr txBox="1"/>
          <p:nvPr/>
        </p:nvSpPr>
        <p:spPr>
          <a:xfrm>
            <a:off x="1069848" y="2350008"/>
            <a:ext cx="4663440" cy="1097280"/>
          </a:xfrm>
          <a:prstGeom prst="rect">
            <a:avLst/>
          </a:prstGeom>
          <a:noFill/>
          <a:ln/>
        </p:spPr>
        <p:txBody>
          <a:bodyPr wrap="square" lIns="0" tIns="0" rIns="0" bIns="0" rtlCol="0" anchor="t"/>
          <a:lstStyle/>
          <a:p>
            <a:pPr algn="r" indent="0" marL="0" rtl="1">
              <a:lnSpc>
                <a:spcPct val="120000"/>
              </a:lnSpc>
              <a:buNone/>
            </a:pPr>
            <a:r>
              <a:rPr lang="ar-SA" altLang="en-US" sz="1400" dirty="0">
                <a:solidFill>
                  <a:srgbClr val="5D6E7D"/>
                </a:solidFill>
                <a:latin typeface="IBM Plex Sans Arabic" pitchFamily="34" charset="0"/>
                <a:cs typeface="IBM Plex Sans Arabic"/>
              </a:rPr>
              <a:t>كان فوق حدّ الطَّرق بـ </a:t>
            </a:r>
            <a:r>
              <a:rPr lang="en-US" altLang="en-US" sz="1400" dirty="0">
                <a:solidFill>
                  <a:srgbClr val="5D6E7D"/>
                </a:solidFill>
                <a:latin typeface="IBM Plex Sans Arabic" pitchFamily="34" charset="0"/>
                <a:cs typeface="IBM Plex Sans Arabic"/>
              </a:rPr>
              <a:t>‎9.6‎</a:t>
            </a:r>
            <a:r>
              <a:rPr lang="ar-SA" altLang="en-US" sz="1400" dirty="0">
                <a:solidFill>
                  <a:srgbClr val="5D6E7D"/>
                </a:solidFill>
                <a:latin typeface="IBM Plex Sans Arabic" pitchFamily="34" charset="0"/>
                <a:cs typeface="IBM Plex Sans Arabic"/>
              </a:rPr>
              <a:t> درجة في كل النقاط الـ </a:t>
            </a:r>
            <a:r>
              <a:rPr lang="en-US" altLang="en-US" sz="1400" dirty="0">
                <a:solidFill>
                  <a:srgbClr val="5D6E7D"/>
                </a:solidFill>
                <a:latin typeface="IBM Plex Sans Arabic" pitchFamily="34" charset="0"/>
                <a:cs typeface="IBM Plex Sans Arabic"/>
              </a:rPr>
              <a:t>‎26‎</a:t>
            </a:r>
            <a:r>
              <a:rPr lang="ar-SA" altLang="en-US" sz="1400" dirty="0">
                <a:solidFill>
                  <a:srgbClr val="5D6E7D"/>
                </a:solidFill>
                <a:latin typeface="IBM Plex Sans Arabic" pitchFamily="34" charset="0"/>
                <a:cs typeface="IBM Plex Sans Arabic"/>
              </a:rPr>
              <a:t>، فكانت الشرارة كلها تأتي من نموذج الطَّرق غير المُتحقَّق منه.</a:t>
            </a:r>
            <a:endParaRPr lang="en-US" sz="1400" dirty="0"/>
          </a:p>
        </p:txBody>
      </p:sp>
      <p:sp>
        <p:nvSpPr>
          <p:cNvPr id="12" name="Text 10"/>
          <p:cNvSpPr txBox="1"/>
          <p:nvPr/>
        </p:nvSpPr>
        <p:spPr>
          <a:xfrm>
            <a:off x="1069848" y="3429000"/>
            <a:ext cx="4663440" cy="594360"/>
          </a:xfrm>
          <a:prstGeom prst="rect">
            <a:avLst/>
          </a:prstGeom>
          <a:noFill/>
          <a:ln/>
        </p:spPr>
        <p:txBody>
          <a:bodyPr wrap="square" lIns="0" tIns="0" rIns="0" bIns="0" rtlCol="0" anchor="t"/>
          <a:lstStyle/>
          <a:p>
            <a:pPr algn="r" indent="0" marL="0" rtl="1">
              <a:lnSpc>
                <a:spcPct val="120000"/>
              </a:lnSpc>
              <a:buNone/>
            </a:pPr>
            <a:r>
              <a:rPr lang="ar-SA" altLang="en-US" sz="1400" b="1" dirty="0">
                <a:solidFill>
                  <a:srgbClr val="2F6FA8"/>
                </a:solidFill>
                <a:latin typeface="IBM Plex Sans Arabic" pitchFamily="34" charset="0"/>
                <a:cs typeface="IBM Plex Sans Arabic"/>
              </a:rPr>
              <a:t>إزاحة جديدة تُحسب من شرارة السيارة نفسها: الخط يحدّد الشرارة الآن في </a:t>
            </a:r>
            <a:r>
              <a:rPr lang="en-US" altLang="en-US" sz="1400" b="1" dirty="0">
                <a:solidFill>
                  <a:srgbClr val="2F6FA8"/>
                </a:solidFill>
                <a:latin typeface="IBM Plex Sans Arabic" pitchFamily="34" charset="0"/>
                <a:cs typeface="IBM Plex Sans Arabic"/>
              </a:rPr>
              <a:t>‎25‎</a:t>
            </a:r>
            <a:r>
              <a:rPr lang="ar-SA" altLang="en-US" sz="1400" b="1" dirty="0">
                <a:solidFill>
                  <a:srgbClr val="2F6FA8"/>
                </a:solidFill>
                <a:latin typeface="IBM Plex Sans Arabic" pitchFamily="34" charset="0"/>
                <a:cs typeface="IBM Plex Sans Arabic"/>
              </a:rPr>
              <a:t> من </a:t>
            </a:r>
            <a:r>
              <a:rPr lang="en-US" altLang="en-US" sz="1400" b="1" dirty="0">
                <a:solidFill>
                  <a:srgbClr val="2F6FA8"/>
                </a:solidFill>
                <a:latin typeface="IBM Plex Sans Arabic" pitchFamily="34" charset="0"/>
                <a:cs typeface="IBM Plex Sans Arabic"/>
              </a:rPr>
              <a:t>‎26‎</a:t>
            </a:r>
            <a:r>
              <a:rPr lang="ar-SA" altLang="en-US" sz="1400" b="1" dirty="0">
                <a:solidFill>
                  <a:srgbClr val="2F6FA8"/>
                </a:solidFill>
                <a:latin typeface="IBM Plex Sans Arabic" pitchFamily="34" charset="0"/>
                <a:cs typeface="IBM Plex Sans Arabic"/>
              </a:rPr>
              <a:t> نقطة.</a:t>
            </a:r>
            <a:endParaRPr lang="en-US" sz="1400" dirty="0"/>
          </a:p>
        </p:txBody>
      </p:sp>
      <p:sp>
        <p:nvSpPr>
          <p:cNvPr id="13" name="Text 11"/>
          <p:cNvSpPr txBox="1"/>
          <p:nvPr/>
        </p:nvSpPr>
        <p:spPr>
          <a:xfrm>
            <a:off x="1069848" y="4087368"/>
            <a:ext cx="4663440" cy="54864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الانحياز صفر، ومتوسط الخطأ </a:t>
            </a:r>
            <a:r>
              <a:rPr lang="en-US" altLang="en-US" sz="1300" dirty="0">
                <a:solidFill>
                  <a:srgbClr val="5D6E7D"/>
                </a:solidFill>
                <a:latin typeface="IBM Plex Sans Arabic" pitchFamily="34" charset="0"/>
                <a:cs typeface="IBM Plex Sans Arabic"/>
              </a:rPr>
              <a:t>‎2.5‎</a:t>
            </a:r>
            <a:r>
              <a:rPr lang="ar-SA" altLang="en-US" sz="1300" dirty="0">
                <a:solidFill>
                  <a:srgbClr val="5D6E7D"/>
                </a:solidFill>
                <a:latin typeface="IBM Plex Sans Arabic" pitchFamily="34" charset="0"/>
                <a:cs typeface="IBM Plex Sans Arabic"/>
              </a:rPr>
              <a:t> درجة.</a:t>
            </a:r>
            <a:endParaRPr lang="en-US" sz="1300" dirty="0"/>
          </a:p>
        </p:txBody>
      </p:sp>
      <p:sp>
        <p:nvSpPr>
          <p:cNvPr id="14" name="Shape 12"/>
          <p:cNvSpPr/>
          <p:nvPr/>
        </p:nvSpPr>
        <p:spPr>
          <a:xfrm>
            <a:off x="813816" y="4846320"/>
            <a:ext cx="10561320" cy="777240"/>
          </a:xfrm>
          <a:prstGeom prst="roundRect">
            <a:avLst>
              <a:gd name="adj" fmla="val 9412"/>
            </a:avLst>
          </a:prstGeom>
          <a:solidFill>
            <a:srgbClr val="EAF1F7"/>
          </a:solidFill>
          <a:ln w="9525">
            <a:solidFill>
              <a:srgbClr val="C3D6E6"/>
            </a:solidFill>
            <a:prstDash val="solid"/>
          </a:ln>
        </p:spPr>
      </p:sp>
      <p:sp>
        <p:nvSpPr>
          <p:cNvPr id="15" name="Text 13"/>
          <p:cNvSpPr txBox="1"/>
          <p:nvPr/>
        </p:nvSpPr>
        <p:spPr>
          <a:xfrm>
            <a:off x="1088136" y="5029200"/>
            <a:ext cx="10012680" cy="457200"/>
          </a:xfrm>
          <a:prstGeom prst="rect">
            <a:avLst/>
          </a:prstGeom>
          <a:noFill/>
          <a:ln/>
        </p:spPr>
        <p:txBody>
          <a:bodyPr wrap="square" lIns="0" tIns="0" rIns="0" bIns="0" rtlCol="0" anchor="t"/>
          <a:lstStyle/>
          <a:p>
            <a:pPr algn="r" indent="0" marL="0" rtl="1">
              <a:lnSpc>
                <a:spcPct val="120000"/>
              </a:lnSpc>
              <a:buNone/>
            </a:pPr>
            <a:r>
              <a:rPr lang="ar-SA" altLang="en-US" sz="1450" b="1" dirty="0">
                <a:solidFill>
                  <a:srgbClr val="16202B"/>
                </a:solidFill>
                <a:latin typeface="IBM Plex Sans Arabic" pitchFamily="34" charset="0"/>
                <a:cs typeface="IBM Plex Sans Arabic"/>
              </a:rPr>
              <a:t>فحص جديد: </a:t>
            </a:r>
            <a:r>
              <a:rPr lang="en-US" altLang="en-US" sz="1450" b="1" dirty="0">
                <a:solidFill>
                  <a:srgbClr val="16202B"/>
                </a:solidFill>
                <a:latin typeface="IBM Plex Sans Arabic" pitchFamily="34" charset="0"/>
                <a:cs typeface="IBM Plex Sans Arabic"/>
              </a:rPr>
              <a:t>‎40‎</a:t>
            </a:r>
            <a:r>
              <a:rPr lang="ar-SA" altLang="en-US" sz="1450" b="1" dirty="0">
                <a:solidFill>
                  <a:srgbClr val="16202B"/>
                </a:solidFill>
                <a:latin typeface="IBM Plex Sans Arabic" pitchFamily="34" charset="0"/>
                <a:cs typeface="IBM Plex Sans Arabic"/>
              </a:rPr>
              <a:t> طريقاً متنوعاً. </a:t>
            </a:r>
            <a:r>
              <a:rPr lang="ar-SA" altLang="en-US" sz="1450" dirty="0">
                <a:solidFill>
                  <a:srgbClr val="16202B"/>
                </a:solidFill>
                <a:latin typeface="IBM Plex Sans Arabic" pitchFamily="34" charset="0"/>
                <a:cs typeface="IBM Plex Sans Arabic"/>
              </a:rPr>
              <a:t>وحدة التحكّم الأصلية تقود كلها دون عجز في العزم، و</a:t>
            </a:r>
            <a:r>
              <a:rPr lang="en-US" altLang="en-US" sz="1450" dirty="0">
                <a:solidFill>
                  <a:srgbClr val="16202B"/>
                </a:solidFill>
                <a:latin typeface="IBM Plex Sans Arabic" pitchFamily="34" charset="0"/>
                <a:cs typeface="IBM Plex Sans Arabic"/>
              </a:rPr>
              <a:t>‎14‎</a:t>
            </a:r>
            <a:r>
              <a:rPr lang="ar-SA" altLang="en-US" sz="1450" dirty="0">
                <a:solidFill>
                  <a:srgbClr val="16202B"/>
                </a:solidFill>
                <a:latin typeface="IBM Plex Sans Arabic" pitchFamily="34" charset="0"/>
                <a:cs typeface="IBM Plex Sans Arabic"/>
              </a:rPr>
              <a:t> منها تتجاوز حدّ الحماية </a:t>
            </a:r>
            <a:r>
              <a:rPr lang="en-US" altLang="en-US" sz="1450" dirty="0">
                <a:solidFill>
                  <a:srgbClr val="16202B"/>
                </a:solidFill>
                <a:latin typeface="IBM Plex Sans Arabic" pitchFamily="34" charset="0"/>
                <a:cs typeface="IBM Plex Sans Arabic"/>
              </a:rPr>
              <a:t>‎850 °C‎</a:t>
            </a:r>
            <a:r>
              <a:rPr lang="ar-SA" altLang="en-US" sz="1450" dirty="0">
                <a:solidFill>
                  <a:srgbClr val="16202B"/>
                </a:solidFill>
                <a:latin typeface="IBM Plex Sans Arabic" pitchFamily="34" charset="0"/>
                <a:cs typeface="IBM Plex Sans Arabic"/>
              </a:rPr>
              <a: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6"/>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2F6FA8"/>
                </a:solidFill>
                <a:latin typeface="IBM Plex Sans Arabic" pitchFamily="34" charset="0"/>
                <a:cs typeface="IBM Plex Sans Arabic"/>
              </a:rPr>
              <a:t>التحقّق</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قارنّا الزيت والماء بسيارتنا نفسها، لا بنطاقات من الكتب</a:t>
            </a:r>
            <a:endParaRPr lang="en-US" sz="3000" dirty="0"/>
          </a:p>
        </p:txBody>
      </p:sp>
      <p:sp>
        <p:nvSpPr>
          <p:cNvPr id="4" name="Shape 2"/>
          <p:cNvSpPr/>
          <p:nvPr/>
        </p:nvSpPr>
        <p:spPr>
          <a:xfrm>
            <a:off x="8083296" y="1691640"/>
            <a:ext cx="3291840" cy="2514600"/>
          </a:xfrm>
          <a:prstGeom prst="roundRect">
            <a:avLst>
              <a:gd name="adj" fmla="val 2909"/>
            </a:avLst>
          </a:prstGeom>
          <a:solidFill>
            <a:srgbClr val="16202B"/>
          </a:solidFill>
          <a:ln/>
        </p:spPr>
      </p:sp>
      <p:sp>
        <p:nvSpPr>
          <p:cNvPr id="5" name="Text 3"/>
          <p:cNvSpPr txBox="1"/>
          <p:nvPr/>
        </p:nvSpPr>
        <p:spPr>
          <a:xfrm>
            <a:off x="8311896" y="2103120"/>
            <a:ext cx="2834640" cy="731520"/>
          </a:xfrm>
          <a:prstGeom prst="rect">
            <a:avLst/>
          </a:prstGeom>
          <a:noFill/>
          <a:ln/>
        </p:spPr>
        <p:txBody>
          <a:bodyPr wrap="square" lIns="0" tIns="0" rIns="0" bIns="0" rtlCol="0" anchor="t"/>
          <a:lstStyle/>
          <a:p>
            <a:pPr algn="r" indent="0" marL="0" rtl="1">
              <a:lnSpc>
                <a:spcPct val="100000"/>
              </a:lnSpc>
              <a:buNone/>
            </a:pPr>
            <a:r>
              <a:rPr lang="en-US" altLang="en-US" sz="4400" b="1" dirty="0">
                <a:solidFill>
                  <a:srgbClr val="F2F4F6"/>
                </a:solidFill>
                <a:latin typeface="IBM Plex Sans Arabic" pitchFamily="34" charset="0"/>
                <a:cs typeface="IBM Plex Sans Arabic"/>
              </a:rPr>
              <a:t>‎8‎</a:t>
            </a:r>
            <a:r>
              <a:rPr lang="ar-SA" altLang="en-US" sz="4400" b="1" dirty="0">
                <a:solidFill>
                  <a:srgbClr val="F2F4F6"/>
                </a:solidFill>
                <a:latin typeface="IBM Plex Sans Arabic" pitchFamily="34" charset="0"/>
                <a:cs typeface="IBM Plex Sans Arabic"/>
              </a:rPr>
              <a:t> من </a:t>
            </a:r>
            <a:r>
              <a:rPr lang="en-US" altLang="en-US" sz="4400" b="1" dirty="0">
                <a:solidFill>
                  <a:srgbClr val="F2F4F6"/>
                </a:solidFill>
                <a:latin typeface="IBM Plex Sans Arabic" pitchFamily="34" charset="0"/>
                <a:cs typeface="IBM Plex Sans Arabic"/>
              </a:rPr>
              <a:t>‎11‎</a:t>
            </a:r>
            <a:endParaRPr lang="en-US" sz="4400" dirty="0"/>
          </a:p>
        </p:txBody>
      </p:sp>
      <p:sp>
        <p:nvSpPr>
          <p:cNvPr id="6" name="Text 4"/>
          <p:cNvSpPr txBox="1"/>
          <p:nvPr/>
        </p:nvSpPr>
        <p:spPr>
          <a:xfrm>
            <a:off x="8311896" y="2834640"/>
            <a:ext cx="2834640" cy="320040"/>
          </a:xfrm>
          <a:prstGeom prst="rect">
            <a:avLst/>
          </a:prstGeom>
          <a:noFill/>
          <a:ln/>
        </p:spPr>
        <p:txBody>
          <a:bodyPr wrap="square" lIns="0" tIns="0" rIns="0" bIns="0" rtlCol="0" anchor="t"/>
          <a:lstStyle/>
          <a:p>
            <a:pPr algn="r" indent="0" marL="0" rtl="1">
              <a:lnSpc>
                <a:spcPct val="120000"/>
              </a:lnSpc>
              <a:buNone/>
            </a:pPr>
            <a:r>
              <a:rPr lang="ar-SA" altLang="en-US" sz="1500" b="1" dirty="0">
                <a:solidFill>
                  <a:srgbClr val="7FB2DC"/>
                </a:solidFill>
                <a:latin typeface="IBM Plex Sans Arabic" pitchFamily="34" charset="0"/>
                <a:cs typeface="IBM Plex Sans Arabic"/>
              </a:rPr>
              <a:t>كمية داخل نطاقها</a:t>
            </a:r>
            <a:endParaRPr lang="en-US" sz="1500" dirty="0"/>
          </a:p>
        </p:txBody>
      </p:sp>
      <p:sp>
        <p:nvSpPr>
          <p:cNvPr id="7" name="Text 5"/>
          <p:cNvSpPr txBox="1"/>
          <p:nvPr/>
        </p:nvSpPr>
        <p:spPr>
          <a:xfrm>
            <a:off x="8311896" y="3200400"/>
            <a:ext cx="2834640" cy="731520"/>
          </a:xfrm>
          <a:prstGeom prst="rect">
            <a:avLst/>
          </a:prstGeom>
          <a:noFill/>
          <a:ln/>
        </p:spPr>
        <p:txBody>
          <a:bodyPr wrap="square" lIns="0" tIns="0" rIns="0" bIns="0" rtlCol="0" anchor="t"/>
          <a:lstStyle/>
          <a:p>
            <a:pPr algn="r" indent="0" marL="0" rtl="1">
              <a:lnSpc>
                <a:spcPct val="120000"/>
              </a:lnSpc>
              <a:buNone/>
            </a:pPr>
            <a:r>
              <a:rPr lang="en-US" altLang="en-US" sz="1350" dirty="0">
                <a:solidFill>
                  <a:srgbClr val="8FA3B5"/>
                </a:solidFill>
                <a:latin typeface="IBM Plex Sans Arabic" pitchFamily="34" charset="0"/>
                <a:cs typeface="IBM Plex Sans Arabic"/>
              </a:rPr>
              <a:t>‎6‎</a:t>
            </a:r>
            <a:r>
              <a:rPr lang="ar-SA" altLang="en-US" sz="1350" dirty="0">
                <a:solidFill>
                  <a:srgbClr val="8FA3B5"/>
                </a:solidFill>
                <a:latin typeface="IBM Plex Sans Arabic" pitchFamily="34" charset="0"/>
                <a:cs typeface="IBM Plex Sans Arabic"/>
              </a:rPr>
              <a:t> من </a:t>
            </a:r>
            <a:r>
              <a:rPr lang="en-US" altLang="en-US" sz="1350" dirty="0">
                <a:solidFill>
                  <a:srgbClr val="8FA3B5"/>
                </a:solidFill>
                <a:latin typeface="IBM Plex Sans Arabic" pitchFamily="34" charset="0"/>
                <a:cs typeface="IBM Plex Sans Arabic"/>
              </a:rPr>
              <a:t>‎7‎</a:t>
            </a:r>
            <a:r>
              <a:rPr lang="ar-SA" altLang="en-US" sz="1350" dirty="0">
                <a:solidFill>
                  <a:srgbClr val="8FA3B5"/>
                </a:solidFill>
                <a:latin typeface="IBM Plex Sans Arabic" pitchFamily="34" charset="0"/>
                <a:cs typeface="IBM Plex Sans Arabic"/>
              </a:rPr>
              <a:t> ضد المراجع، و </a:t>
            </a:r>
            <a:r>
              <a:rPr lang="en-US" altLang="en-US" sz="1350" dirty="0">
                <a:solidFill>
                  <a:srgbClr val="8FA3B5"/>
                </a:solidFill>
                <a:latin typeface="IBM Plex Sans Arabic" pitchFamily="34" charset="0"/>
                <a:cs typeface="IBM Plex Sans Arabic"/>
              </a:rPr>
              <a:t>‎2‎</a:t>
            </a:r>
            <a:r>
              <a:rPr lang="ar-SA" altLang="en-US" sz="1350" dirty="0">
                <a:solidFill>
                  <a:srgbClr val="8FA3B5"/>
                </a:solidFill>
                <a:latin typeface="IBM Plex Sans Arabic" pitchFamily="34" charset="0"/>
                <a:cs typeface="IBM Plex Sans Arabic"/>
              </a:rPr>
              <a:t> من </a:t>
            </a:r>
            <a:r>
              <a:rPr lang="en-US" altLang="en-US" sz="1350" dirty="0">
                <a:solidFill>
                  <a:srgbClr val="8FA3B5"/>
                </a:solidFill>
                <a:latin typeface="IBM Plex Sans Arabic" pitchFamily="34" charset="0"/>
                <a:cs typeface="IBM Plex Sans Arabic"/>
              </a:rPr>
              <a:t>‎4‎</a:t>
            </a:r>
            <a:r>
              <a:rPr lang="ar-SA" altLang="en-US" sz="1350" dirty="0">
                <a:solidFill>
                  <a:srgbClr val="8FA3B5"/>
                </a:solidFill>
                <a:latin typeface="IBM Plex Sans Arabic" pitchFamily="34" charset="0"/>
                <a:cs typeface="IBM Plex Sans Arabic"/>
              </a:rPr>
              <a:t> ضد سيارتنا</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6812280" cy="914400"/>
        </p:xfrm>
        <a:graphic>
          <a:graphicData uri="http://schemas.openxmlformats.org/drawingml/2006/table">
            <a:tbl>
              <a:tblPr/>
              <a:tblGrid>
                <a:gridCol w="868680"/>
                <a:gridCol w="1280160"/>
                <a:gridCol w="1051560"/>
                <a:gridCol w="3611880"/>
              </a:tblGrid>
              <a:tr h="411480">
                <a:tc>
                  <a:txBody>
                    <a:bodyPr/>
                    <a:lstStyle/>
                    <a:p>
                      <a:pPr algn="r" indent="0" marL="0" rtl="1">
                        <a:buNone/>
                      </a:pPr>
                      <a:r>
                        <a:rPr lang="ar-SA" altLang="en-US" sz="1300" b="1" dirty="0">
                          <a:solidFill>
                            <a:srgbClr val="FFFFFF"/>
                          </a:solidFill>
                          <a:latin typeface="IBM Plex Sans Arabic" pitchFamily="34" charset="0"/>
                          <a:cs typeface="IBM Plex Sans Arabic"/>
                        </a:rPr>
                        <a:t>الحالة</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نطاق سيارتنا</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النموذج</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الكمية</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r>
              <a:tr h="566928">
                <a:tc>
                  <a:txBody>
                    <a:bodyPr/>
                    <a:lstStyle/>
                    <a:p>
                      <a:pPr algn="r" indent="0" marL="0" rtl="1">
                        <a:buNone/>
                      </a:pPr>
                      <a:r>
                        <a:rPr lang="ar-SA" altLang="en-US" sz="1300" b="1" dirty="0">
                          <a:solidFill>
                            <a:srgbClr val="BD3F2C"/>
                          </a:solidFill>
                          <a:latin typeface="IBM Plex Sans Arabic" pitchFamily="34" charset="0"/>
                          <a:cs typeface="IBM Plex Sans Arabic"/>
                        </a:rPr>
                        <a:t>خارج</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a:buNone/>
                      </a:pPr>
                      <a:r>
                        <a:rPr lang="en-US" altLang="en-US" sz="1300" dirty="0">
                          <a:solidFill>
                            <a:srgbClr val="3D4C5A"/>
                          </a:solidFill>
                          <a:latin typeface="IBM Plex Sans Arabic" pitchFamily="34" charset="0"/>
                          <a:cs typeface="IBM Plex Sans Arabic"/>
                        </a:rPr>
                        <a:t>‎103–111‎</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a:buNone/>
                      </a:pPr>
                      <a:r>
                        <a:rPr lang="en-US" altLang="en-US" sz="1300" dirty="0">
                          <a:solidFill>
                            <a:srgbClr val="3D4C5A"/>
                          </a:solidFill>
                          <a:latin typeface="IBM Plex Sans Arabic" pitchFamily="34" charset="0"/>
                          <a:cs typeface="IBM Plex Sans Arabic"/>
                        </a:rPr>
                        <a:t>‎97.0 °C‎</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00" dirty="0">
                          <a:solidFill>
                            <a:srgbClr val="3D4C5A"/>
                          </a:solidFill>
                          <a:latin typeface="IBM Plex Sans Arabic" pitchFamily="34" charset="0"/>
                          <a:cs typeface="IBM Plex Sans Arabic"/>
                        </a:rPr>
                        <a:t>زيت تحت حمل مستمر (أسخن </a:t>
                      </a:r>
                      <a:r>
                        <a:rPr lang="en-US" altLang="en-US" sz="1300" dirty="0">
                          <a:solidFill>
                            <a:srgbClr val="3D4C5A"/>
                          </a:solidFill>
                          <a:latin typeface="IBM Plex Sans Arabic" pitchFamily="34" charset="0"/>
                          <a:cs typeface="IBM Plex Sans Arabic"/>
                        </a:rPr>
                        <a:t>‎10‎</a:t>
                      </a:r>
                      <a:r>
                        <a:rPr lang="ar-SA" altLang="en-US" sz="1300" dirty="0">
                          <a:solidFill>
                            <a:srgbClr val="3D4C5A"/>
                          </a:solidFill>
                          <a:latin typeface="IBM Plex Sans Arabic" pitchFamily="34" charset="0"/>
                          <a:cs typeface="IBM Plex Sans Arabic"/>
                        </a:rPr>
                        <a:t> دقائق في رحلة الطائف)</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r h="457200">
                <a:tc>
                  <a:txBody>
                    <a:bodyPr/>
                    <a:lstStyle/>
                    <a:p>
                      <a:pPr algn="r" indent="0" marL="0" rtl="1">
                        <a:buNone/>
                      </a:pPr>
                      <a:r>
                        <a:rPr lang="ar-SA" altLang="en-US" sz="1300" b="1" dirty="0">
                          <a:solidFill>
                            <a:srgbClr val="BD3F2C"/>
                          </a:solidFill>
                          <a:latin typeface="IBM Plex Sans Arabic" pitchFamily="34" charset="0"/>
                          <a:cs typeface="IBM Plex Sans Arabic"/>
                        </a:rPr>
                        <a:t>خارج</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en-US" altLang="en-US" sz="1300" dirty="0">
                          <a:solidFill>
                            <a:srgbClr val="3D4C5A"/>
                          </a:solidFill>
                          <a:latin typeface="IBM Plex Sans Arabic" pitchFamily="34" charset="0"/>
                          <a:cs typeface="IBM Plex Sans Arabic"/>
                        </a:rPr>
                        <a:t>‎70–100‎</a:t>
                      </a:r>
                      <a:r>
                        <a:rPr lang="ar-SA" altLang="en-US" sz="1300" dirty="0">
                          <a:solidFill>
                            <a:srgbClr val="3D4C5A"/>
                          </a:solidFill>
                          <a:latin typeface="IBM Plex Sans Arabic" pitchFamily="34" charset="0"/>
                          <a:cs typeface="IBM Plex Sans Arabic"/>
                        </a:rPr>
                        <a:t> ث</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en-US" altLang="en-US" sz="1300" dirty="0">
                          <a:solidFill>
                            <a:srgbClr val="3D4C5A"/>
                          </a:solidFill>
                          <a:latin typeface="IBM Plex Sans Arabic" pitchFamily="34" charset="0"/>
                          <a:cs typeface="IBM Plex Sans Arabic"/>
                        </a:rPr>
                        <a:t>‎60‎</a:t>
                      </a:r>
                      <a:r>
                        <a:rPr lang="ar-SA" altLang="en-US" sz="1300" dirty="0">
                          <a:solidFill>
                            <a:srgbClr val="3D4C5A"/>
                          </a:solidFill>
                          <a:latin typeface="IBM Plex Sans Arabic" pitchFamily="34" charset="0"/>
                          <a:cs typeface="IBM Plex Sans Arabic"/>
                        </a:rPr>
                        <a:t> ث</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300" dirty="0">
                          <a:solidFill>
                            <a:srgbClr val="3D4C5A"/>
                          </a:solidFill>
                          <a:latin typeface="IBM Plex Sans Arabic" pitchFamily="34" charset="0"/>
                          <a:cs typeface="IBM Plex Sans Arabic"/>
                        </a:rPr>
                        <a:t>ثابت زمن الزيت</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r>
              <a:tr h="457200">
                <a:tc>
                  <a:txBody>
                    <a:bodyPr/>
                    <a:lstStyle/>
                    <a:p>
                      <a:pPr algn="r" indent="0" marL="0" rtl="1">
                        <a:buNone/>
                      </a:pPr>
                      <a:r>
                        <a:rPr lang="ar-SA" altLang="en-US" sz="1300" b="1" dirty="0">
                          <a:solidFill>
                            <a:srgbClr val="2F6FA8"/>
                          </a:solidFill>
                          <a:latin typeface="IBM Plex Sans Arabic" pitchFamily="34" charset="0"/>
                          <a:cs typeface="IBM Plex Sans Arabic"/>
                        </a:rPr>
                        <a:t>داخل</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a:buNone/>
                      </a:pPr>
                      <a:r>
                        <a:rPr lang="en-US" altLang="en-US" sz="1300" dirty="0">
                          <a:solidFill>
                            <a:srgbClr val="3D4C5A"/>
                          </a:solidFill>
                          <a:latin typeface="IBM Plex Sans Arabic" pitchFamily="34" charset="0"/>
                          <a:cs typeface="IBM Plex Sans Arabic"/>
                        </a:rPr>
                        <a:t>‎83.6–95.5‎</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a:buNone/>
                      </a:pPr>
                      <a:r>
                        <a:rPr lang="en-US" altLang="en-US" sz="1300" dirty="0">
                          <a:solidFill>
                            <a:srgbClr val="3D4C5A"/>
                          </a:solidFill>
                          <a:latin typeface="IBM Plex Sans Arabic" pitchFamily="34" charset="0"/>
                          <a:cs typeface="IBM Plex Sans Arabic"/>
                        </a:rPr>
                        <a:t>‎93.0 °C‎</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00" dirty="0">
                          <a:solidFill>
                            <a:srgbClr val="3D4C5A"/>
                          </a:solidFill>
                          <a:latin typeface="IBM Plex Sans Arabic" pitchFamily="34" charset="0"/>
                          <a:cs typeface="IBM Plex Sans Arabic"/>
                        </a:rPr>
                        <a:t>ماء التبريد على صعود الاختبار</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r h="457200">
                <a:tc>
                  <a:txBody>
                    <a:bodyPr/>
                    <a:lstStyle/>
                    <a:p>
                      <a:pPr algn="r" indent="0" marL="0" rtl="1">
                        <a:buNone/>
                      </a:pPr>
                      <a:r>
                        <a:rPr lang="ar-SA" altLang="en-US" sz="1300" b="1" dirty="0">
                          <a:solidFill>
                            <a:srgbClr val="2F6FA8"/>
                          </a:solidFill>
                          <a:latin typeface="IBM Plex Sans Arabic" pitchFamily="34" charset="0"/>
                          <a:cs typeface="IBM Plex Sans Arabic"/>
                        </a:rPr>
                        <a:t>داخل</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a:buNone/>
                      </a:pPr>
                      <a:r>
                        <a:rPr lang="en-US" altLang="en-US" sz="1300" dirty="0">
                          <a:solidFill>
                            <a:srgbClr val="3D4C5A"/>
                          </a:solidFill>
                          <a:latin typeface="IBM Plex Sans Arabic" pitchFamily="34" charset="0"/>
                          <a:cs typeface="IBM Plex Sans Arabic"/>
                        </a:rPr>
                        <a:t>‎91.8–94‎</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a:buNone/>
                      </a:pPr>
                      <a:r>
                        <a:rPr lang="en-US" altLang="en-US" sz="1300" dirty="0">
                          <a:solidFill>
                            <a:srgbClr val="3D4C5A"/>
                          </a:solidFill>
                          <a:latin typeface="IBM Plex Sans Arabic" pitchFamily="34" charset="0"/>
                          <a:cs typeface="IBM Plex Sans Arabic"/>
                        </a:rPr>
                        <a:t>‎92.2 °C‎</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300" dirty="0">
                          <a:solidFill>
                            <a:srgbClr val="3D4C5A"/>
                          </a:solidFill>
                          <a:latin typeface="IBM Plex Sans Arabic" pitchFamily="34" charset="0"/>
                          <a:cs typeface="IBM Plex Sans Arabic"/>
                        </a:rPr>
                        <a:t>ماء التبريد طوال رحلة الطائف</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r>
            </a:tbl>
          </a:graphicData>
        </a:graphic>
      </p:graphicFrame>
      <p:sp>
        <p:nvSpPr>
          <p:cNvPr id="9" name="Shape 6"/>
          <p:cNvSpPr/>
          <p:nvPr/>
        </p:nvSpPr>
        <p:spPr>
          <a:xfrm>
            <a:off x="813816" y="4407408"/>
            <a:ext cx="10561320" cy="1371600"/>
          </a:xfrm>
          <a:prstGeom prst="roundRect">
            <a:avLst>
              <a:gd name="adj" fmla="val 5333"/>
            </a:avLst>
          </a:prstGeom>
          <a:solidFill>
            <a:srgbClr val="FFFFFF"/>
          </a:solidFill>
          <a:ln w="9525">
            <a:solidFill>
              <a:srgbClr val="D4DCE3"/>
            </a:solidFill>
            <a:prstDash val="solid"/>
          </a:ln>
        </p:spPr>
      </p:sp>
      <p:sp>
        <p:nvSpPr>
          <p:cNvPr id="10" name="Text 7"/>
          <p:cNvSpPr txBox="1"/>
          <p:nvPr/>
        </p:nvSpPr>
        <p:spPr>
          <a:xfrm>
            <a:off x="1088136" y="4572000"/>
            <a:ext cx="10012680" cy="685800"/>
          </a:xfrm>
          <a:prstGeom prst="rect">
            <a:avLst/>
          </a:prstGeom>
          <a:noFill/>
          <a:ln/>
        </p:spPr>
        <p:txBody>
          <a:bodyPr wrap="square" lIns="0" tIns="0" rIns="0" bIns="0" rtlCol="0" anchor="t"/>
          <a:lstStyle/>
          <a:p>
            <a:pPr algn="r" indent="0" marL="0" rtl="1">
              <a:lnSpc>
                <a:spcPct val="120000"/>
              </a:lnSpc>
              <a:buNone/>
            </a:pPr>
            <a:r>
              <a:rPr lang="ar-SA" altLang="en-US" sz="1450" b="1" dirty="0">
                <a:solidFill>
                  <a:srgbClr val="16202B"/>
                </a:solidFill>
                <a:latin typeface="IBM Plex Sans Arabic" pitchFamily="34" charset="0"/>
                <a:cs typeface="IBM Plex Sans Arabic"/>
              </a:rPr>
              <a:t>ثلاثة من النطاقات الأربعة كانت بلا مصدر؛ الآن تُحسب من رحلاتنا بقاعدة ثابتة قبل المقارنة. الصفّان الخارجان كلاهما الزيت، ورحلة </a:t>
            </a:r>
            <a:r>
              <a:rPr lang="en-US" altLang="en-US" sz="1450" b="1" dirty="0">
                <a:solidFill>
                  <a:srgbClr val="16202B"/>
                </a:solidFill>
                <a:latin typeface="IBM Plex Sans Arabic" pitchFamily="34" charset="0"/>
                <a:cs typeface="IBM Plex Sans Arabic"/>
              </a:rPr>
              <a:t>‎A‎</a:t>
            </a:r>
            <a:r>
              <a:rPr lang="ar-SA" altLang="en-US" sz="1450" b="1" dirty="0">
                <a:solidFill>
                  <a:srgbClr val="16202B"/>
                </a:solidFill>
                <a:latin typeface="IBM Plex Sans Arabic" pitchFamily="34" charset="0"/>
                <a:cs typeface="IBM Plex Sans Arabic"/>
              </a:rPr>
              <a:t> هي البيانات التي تنقصهما.</a:t>
            </a:r>
            <a:endParaRPr lang="en-US" sz="1450" dirty="0"/>
          </a:p>
        </p:txBody>
      </p:sp>
      <p:sp>
        <p:nvSpPr>
          <p:cNvPr id="11" name="Text 8"/>
          <p:cNvSpPr txBox="1"/>
          <p:nvPr/>
        </p:nvSpPr>
        <p:spPr>
          <a:xfrm>
            <a:off x="1088136" y="5303520"/>
            <a:ext cx="10012680" cy="36576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وفحصنا مواصفات الخليج: لا مصدر يثبت تبريداً أقوى، وحتى مشعّ ومروحة أقوى بـ </a:t>
            </a:r>
            <a:r>
              <a:rPr lang="en-US" altLang="en-US" sz="1300" dirty="0">
                <a:solidFill>
                  <a:srgbClr val="5D6E7D"/>
                </a:solidFill>
                <a:latin typeface="IBM Plex Sans Arabic" pitchFamily="34" charset="0"/>
                <a:cs typeface="IBM Plex Sans Arabic"/>
              </a:rPr>
              <a:t>‎50%‎</a:t>
            </a:r>
            <a:r>
              <a:rPr lang="ar-SA" altLang="en-US" sz="1300" dirty="0">
                <a:solidFill>
                  <a:srgbClr val="5D6E7D"/>
                </a:solidFill>
                <a:latin typeface="IBM Plex Sans Arabic" pitchFamily="34" charset="0"/>
                <a:cs typeface="IBM Plex Sans Arabic"/>
              </a:rPr>
              <a:t> يغيّران حرارة التوربين نصف درجة. والوقود </a:t>
            </a:r>
            <a:r>
              <a:rPr lang="en-US" altLang="en-US" sz="1300" dirty="0">
                <a:solidFill>
                  <a:srgbClr val="5D6E7D"/>
                </a:solidFill>
                <a:latin typeface="IBM Plex Sans Arabic" pitchFamily="34" charset="0"/>
                <a:cs typeface="IBM Plex Sans Arabic"/>
              </a:rPr>
              <a:t>‎95‎</a:t>
            </a:r>
            <a:r>
              <a:rPr lang="ar-SA" altLang="en-US" sz="1300" dirty="0">
                <a:solidFill>
                  <a:srgbClr val="5D6E7D"/>
                </a:solidFill>
                <a:latin typeface="IBM Plex Sans Arabic" pitchFamily="34" charset="0"/>
                <a:cs typeface="IBM Plex Sans Arabic"/>
              </a:rPr>
              <a:t> أوكتان، كما يفترض النموذج.</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B5741A"/>
                </a:solidFill>
                <a:latin typeface="IBM Plex Sans Arabic" pitchFamily="34" charset="0"/>
                <a:cs typeface="IBM Plex Sans Arabic"/>
              </a:rPr>
              <a:t>نموذج الطَّرق</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نموذج الطَّرق لم يُختبَر بعد — لا أنه فشل</a:t>
            </a:r>
            <a:endParaRPr lang="en-US" sz="3000" dirty="0"/>
          </a:p>
        </p:txBody>
      </p:sp>
      <p:sp>
        <p:nvSpPr>
          <p:cNvPr id="4" name="Text 2"/>
          <p:cNvSpPr txBox="1"/>
          <p:nvPr/>
        </p:nvSpPr>
        <p:spPr>
          <a:xfrm>
            <a:off x="813816" y="1645920"/>
            <a:ext cx="10561320" cy="640080"/>
          </a:xfrm>
          <a:prstGeom prst="rect">
            <a:avLst/>
          </a:prstGeom>
          <a:noFill/>
          <a:ln/>
        </p:spPr>
        <p:txBody>
          <a:bodyPr wrap="square" lIns="0" tIns="0" rIns="0" bIns="0" rtlCol="0" anchor="t"/>
          <a:lstStyle/>
          <a:p>
            <a:pPr algn="r" indent="0" marL="0" rtl="1">
              <a:lnSpc>
                <a:spcPct val="120000"/>
              </a:lnSpc>
              <a:buNone/>
            </a:pPr>
            <a:r>
              <a:rPr lang="ar-SA" altLang="en-US" sz="1500" dirty="0">
                <a:solidFill>
                  <a:srgbClr val="5D6E7D"/>
                </a:solidFill>
                <a:latin typeface="IBM Plex Sans Arabic" pitchFamily="34" charset="0"/>
                <a:cs typeface="IBM Plex Sans Arabic"/>
              </a:rPr>
              <a:t>قلنا في العرض السابق: لا علاقة بين نموذج الطَّرق وتأخير الشرارة في السيارة. لكن الرحلة التي قارنّا بها سُجّلت بـ </a:t>
            </a:r>
            <a:r>
              <a:rPr lang="en-US" altLang="en-US" sz="1500" dirty="0">
                <a:solidFill>
                  <a:srgbClr val="5D6E7D"/>
                </a:solidFill>
                <a:latin typeface="IBM Plex Sans Arabic" pitchFamily="34" charset="0"/>
                <a:cs typeface="IBM Plex Sans Arabic"/>
              </a:rPr>
              <a:t>‎26‎</a:t>
            </a:r>
            <a:r>
              <a:rPr lang="ar-SA" altLang="en-US" sz="1500" dirty="0">
                <a:solidFill>
                  <a:srgbClr val="5D6E7D"/>
                </a:solidFill>
                <a:latin typeface="IBM Plex Sans Arabic" pitchFamily="34" charset="0"/>
                <a:cs typeface="IBM Plex Sans Arabic"/>
              </a:rPr>
              <a:t> قناة، والطَّرق يستمر ثانية أو ثانيتين فقط.</a:t>
            </a:r>
            <a:endParaRPr lang="en-US" sz="1500" dirty="0"/>
          </a:p>
        </p:txBody>
      </p:sp>
      <p:sp>
        <p:nvSpPr>
          <p:cNvPr id="5" name="Shape 3"/>
          <p:cNvSpPr/>
          <p:nvPr/>
        </p:nvSpPr>
        <p:spPr>
          <a:xfrm>
            <a:off x="7964424" y="2423160"/>
            <a:ext cx="3410712" cy="1783080"/>
          </a:xfrm>
          <a:prstGeom prst="roundRect">
            <a:avLst>
              <a:gd name="adj" fmla="val 4103"/>
            </a:avLst>
          </a:prstGeom>
          <a:solidFill>
            <a:srgbClr val="FFFFFF"/>
          </a:solidFill>
          <a:ln w="9525">
            <a:solidFill>
              <a:srgbClr val="D4DCE3"/>
            </a:solidFill>
            <a:prstDash val="solid"/>
          </a:ln>
        </p:spPr>
      </p:sp>
      <p:sp>
        <p:nvSpPr>
          <p:cNvPr id="6" name="Text 4"/>
          <p:cNvSpPr txBox="1"/>
          <p:nvPr/>
        </p:nvSpPr>
        <p:spPr>
          <a:xfrm>
            <a:off x="8147304" y="2606040"/>
            <a:ext cx="3044952" cy="502920"/>
          </a:xfrm>
          <a:prstGeom prst="rect">
            <a:avLst/>
          </a:prstGeom>
          <a:noFill/>
          <a:ln/>
        </p:spPr>
        <p:txBody>
          <a:bodyPr wrap="square" lIns="0" tIns="0" rIns="0" bIns="0" rtlCol="0" anchor="t"/>
          <a:lstStyle/>
          <a:p>
            <a:pPr algn="r" indent="0" marL="0" rtl="1">
              <a:lnSpc>
                <a:spcPct val="100000"/>
              </a:lnSpc>
              <a:buNone/>
            </a:pPr>
            <a:r>
              <a:rPr lang="en-US" altLang="en-US" sz="2600" b="1" dirty="0">
                <a:solidFill>
                  <a:srgbClr val="16202B"/>
                </a:solidFill>
                <a:latin typeface="IBM Plex Sans Arabic" pitchFamily="34" charset="0"/>
                <a:cs typeface="IBM Plex Sans Arabic"/>
              </a:rPr>
              <a:t>‎404‎</a:t>
            </a:r>
            <a:r>
              <a:rPr lang="ar-SA" altLang="en-US" sz="2600" b="1" dirty="0">
                <a:solidFill>
                  <a:srgbClr val="16202B"/>
                </a:solidFill>
                <a:latin typeface="IBM Plex Sans Arabic" pitchFamily="34" charset="0"/>
                <a:cs typeface="IBM Plex Sans Arabic"/>
              </a:rPr>
              <a:t> و </a:t>
            </a:r>
            <a:r>
              <a:rPr lang="en-US" altLang="en-US" sz="2600" b="1" dirty="0">
                <a:solidFill>
                  <a:srgbClr val="16202B"/>
                </a:solidFill>
                <a:latin typeface="IBM Plex Sans Arabic" pitchFamily="34" charset="0"/>
                <a:cs typeface="IBM Plex Sans Arabic"/>
              </a:rPr>
              <a:t>‎410‎</a:t>
            </a:r>
            <a:endParaRPr lang="en-US" sz="2600" dirty="0"/>
          </a:p>
        </p:txBody>
      </p:sp>
      <p:sp>
        <p:nvSpPr>
          <p:cNvPr id="7" name="Text 5"/>
          <p:cNvSpPr txBox="1"/>
          <p:nvPr/>
        </p:nvSpPr>
        <p:spPr>
          <a:xfrm>
            <a:off x="8147304" y="3154680"/>
            <a:ext cx="3044952" cy="292608"/>
          </a:xfrm>
          <a:prstGeom prst="rect">
            <a:avLst/>
          </a:prstGeom>
          <a:noFill/>
          <a:ln/>
        </p:spPr>
        <p:txBody>
          <a:bodyPr wrap="square" lIns="0" tIns="0" rIns="0" bIns="0" rtlCol="0" anchor="t"/>
          <a:lstStyle/>
          <a:p>
            <a:pPr algn="r" indent="0" marL="0" rtl="1">
              <a:lnSpc>
                <a:spcPct val="120000"/>
              </a:lnSpc>
              <a:buNone/>
            </a:pPr>
            <a:r>
              <a:rPr lang="ar-SA" altLang="en-US" sz="1500" b="1" dirty="0">
                <a:solidFill>
                  <a:srgbClr val="16202B"/>
                </a:solidFill>
                <a:latin typeface="IBM Plex Sans Arabic" pitchFamily="34" charset="0"/>
                <a:cs typeface="IBM Plex Sans Arabic"/>
              </a:rPr>
              <a:t>قراءة لزاويتي الشرارة</a:t>
            </a:r>
            <a:endParaRPr lang="en-US" sz="1500" dirty="0"/>
          </a:p>
        </p:txBody>
      </p:sp>
      <p:sp>
        <p:nvSpPr>
          <p:cNvPr id="8" name="Text 6"/>
          <p:cNvSpPr txBox="1"/>
          <p:nvPr/>
        </p:nvSpPr>
        <p:spPr>
          <a:xfrm>
            <a:off x="8147304" y="3474720"/>
            <a:ext cx="3044952" cy="64008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في </a:t>
            </a:r>
            <a:r>
              <a:rPr lang="en-US" altLang="en-US" sz="1300" dirty="0">
                <a:solidFill>
                  <a:srgbClr val="5D6E7D"/>
                </a:solidFill>
                <a:latin typeface="IBM Plex Sans Arabic" pitchFamily="34" charset="0"/>
                <a:cs typeface="IBM Plex Sans Arabic"/>
              </a:rPr>
              <a:t>‎55‎</a:t>
            </a:r>
            <a:r>
              <a:rPr lang="ar-SA" altLang="en-US" sz="1300" dirty="0">
                <a:solidFill>
                  <a:srgbClr val="5D6E7D"/>
                </a:solidFill>
                <a:latin typeface="IBM Plex Sans Arabic" pitchFamily="34" charset="0"/>
                <a:cs typeface="IBM Plex Sans Arabic"/>
              </a:rPr>
              <a:t> دقيقة — قراءة كل </a:t>
            </a:r>
            <a:r>
              <a:rPr lang="en-US" altLang="en-US" sz="1300" dirty="0">
                <a:solidFill>
                  <a:srgbClr val="5D6E7D"/>
                </a:solidFill>
                <a:latin typeface="IBM Plex Sans Arabic" pitchFamily="34" charset="0"/>
                <a:cs typeface="IBM Plex Sans Arabic"/>
              </a:rPr>
              <a:t>‎8‎</a:t>
            </a:r>
            <a:r>
              <a:rPr lang="ar-SA" altLang="en-US" sz="1300" dirty="0">
                <a:solidFill>
                  <a:srgbClr val="5D6E7D"/>
                </a:solidFill>
                <a:latin typeface="IBM Plex Sans Arabic" pitchFamily="34" charset="0"/>
                <a:cs typeface="IBM Plex Sans Arabic"/>
              </a:rPr>
              <a:t> ثوانٍ تقريباً</a:t>
            </a:r>
            <a:endParaRPr lang="en-US" sz="1300" dirty="0"/>
          </a:p>
        </p:txBody>
      </p:sp>
      <p:sp>
        <p:nvSpPr>
          <p:cNvPr id="9" name="Shape 7"/>
          <p:cNvSpPr/>
          <p:nvPr/>
        </p:nvSpPr>
        <p:spPr>
          <a:xfrm>
            <a:off x="4389120" y="2423160"/>
            <a:ext cx="3410712" cy="1783080"/>
          </a:xfrm>
          <a:prstGeom prst="roundRect">
            <a:avLst>
              <a:gd name="adj" fmla="val 4103"/>
            </a:avLst>
          </a:prstGeom>
          <a:solidFill>
            <a:srgbClr val="FFFFFF"/>
          </a:solidFill>
          <a:ln w="9525">
            <a:solidFill>
              <a:srgbClr val="D4DCE3"/>
            </a:solidFill>
            <a:prstDash val="solid"/>
          </a:ln>
        </p:spPr>
      </p:sp>
      <p:sp>
        <p:nvSpPr>
          <p:cNvPr id="10" name="Text 8"/>
          <p:cNvSpPr txBox="1"/>
          <p:nvPr/>
        </p:nvSpPr>
        <p:spPr>
          <a:xfrm>
            <a:off x="4572000" y="2606040"/>
            <a:ext cx="3044952" cy="502920"/>
          </a:xfrm>
          <a:prstGeom prst="rect">
            <a:avLst/>
          </a:prstGeom>
          <a:noFill/>
          <a:ln/>
        </p:spPr>
        <p:txBody>
          <a:bodyPr wrap="square" lIns="0" tIns="0" rIns="0" bIns="0" rtlCol="0" anchor="t"/>
          <a:lstStyle/>
          <a:p>
            <a:pPr algn="r" indent="0" marL="0" rtl="1">
              <a:lnSpc>
                <a:spcPct val="100000"/>
              </a:lnSpc>
              <a:buNone/>
            </a:pPr>
            <a:r>
              <a:rPr lang="ar-SA" altLang="en-US" sz="2600" b="1" dirty="0">
                <a:solidFill>
                  <a:srgbClr val="16202B"/>
                </a:solidFill>
                <a:latin typeface="IBM Plex Sans Arabic" pitchFamily="34" charset="0"/>
                <a:cs typeface="IBM Plex Sans Arabic"/>
              </a:rPr>
              <a:t>الثلث</a:t>
            </a:r>
            <a:endParaRPr lang="en-US" sz="2600" dirty="0"/>
          </a:p>
        </p:txBody>
      </p:sp>
      <p:sp>
        <p:nvSpPr>
          <p:cNvPr id="11" name="Text 9"/>
          <p:cNvSpPr txBox="1"/>
          <p:nvPr/>
        </p:nvSpPr>
        <p:spPr>
          <a:xfrm>
            <a:off x="4572000" y="3154680"/>
            <a:ext cx="3044952" cy="292608"/>
          </a:xfrm>
          <a:prstGeom prst="rect">
            <a:avLst/>
          </a:prstGeom>
          <a:noFill/>
          <a:ln/>
        </p:spPr>
        <p:txBody>
          <a:bodyPr wrap="square" lIns="0" tIns="0" rIns="0" bIns="0" rtlCol="0" anchor="t"/>
          <a:lstStyle/>
          <a:p>
            <a:pPr algn="r" indent="0" marL="0" rtl="1">
              <a:lnSpc>
                <a:spcPct val="120000"/>
              </a:lnSpc>
              <a:buNone/>
            </a:pPr>
            <a:r>
              <a:rPr lang="ar-SA" altLang="en-US" sz="1500" b="1" dirty="0">
                <a:solidFill>
                  <a:srgbClr val="16202B"/>
                </a:solidFill>
                <a:latin typeface="IBM Plex Sans Arabic" pitchFamily="34" charset="0"/>
                <a:cs typeface="IBM Plex Sans Arabic"/>
              </a:rPr>
              <a:t>من أزواج القراءات</a:t>
            </a:r>
            <a:endParaRPr lang="en-US" sz="1500" dirty="0"/>
          </a:p>
        </p:txBody>
      </p:sp>
      <p:sp>
        <p:nvSpPr>
          <p:cNvPr id="12" name="Text 10"/>
          <p:cNvSpPr txBox="1"/>
          <p:nvPr/>
        </p:nvSpPr>
        <p:spPr>
          <a:xfrm>
            <a:off x="4572000" y="3474720"/>
            <a:ext cx="3044952" cy="64008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قُرئ طرفاه بفارق أكثر من ثانية</a:t>
            </a:r>
            <a:endParaRPr lang="en-US" sz="1300" dirty="0"/>
          </a:p>
        </p:txBody>
      </p:sp>
      <p:sp>
        <p:nvSpPr>
          <p:cNvPr id="13" name="Shape 11"/>
          <p:cNvSpPr/>
          <p:nvPr/>
        </p:nvSpPr>
        <p:spPr>
          <a:xfrm>
            <a:off x="813816" y="2423160"/>
            <a:ext cx="3410712" cy="1783080"/>
          </a:xfrm>
          <a:prstGeom prst="roundRect">
            <a:avLst>
              <a:gd name="adj" fmla="val 4103"/>
            </a:avLst>
          </a:prstGeom>
          <a:solidFill>
            <a:srgbClr val="FFFFFF"/>
          </a:solidFill>
          <a:ln w="9525">
            <a:solidFill>
              <a:srgbClr val="D4DCE3"/>
            </a:solidFill>
            <a:prstDash val="solid"/>
          </a:ln>
        </p:spPr>
      </p:sp>
      <p:sp>
        <p:nvSpPr>
          <p:cNvPr id="14" name="Text 12"/>
          <p:cNvSpPr txBox="1"/>
          <p:nvPr/>
        </p:nvSpPr>
        <p:spPr>
          <a:xfrm>
            <a:off x="996696" y="2606040"/>
            <a:ext cx="3044952" cy="502920"/>
          </a:xfrm>
          <a:prstGeom prst="rect">
            <a:avLst/>
          </a:prstGeom>
          <a:noFill/>
          <a:ln/>
        </p:spPr>
        <p:txBody>
          <a:bodyPr wrap="square" lIns="0" tIns="0" rIns="0" bIns="0" rtlCol="0" anchor="t"/>
          <a:lstStyle/>
          <a:p>
            <a:pPr algn="r" indent="0" marL="0" rtl="1">
              <a:lnSpc>
                <a:spcPct val="100000"/>
              </a:lnSpc>
              <a:buNone/>
            </a:pPr>
            <a:r>
              <a:rPr lang="en-US" altLang="en-US" sz="2600" b="1" dirty="0">
                <a:solidFill>
                  <a:srgbClr val="BD3F2C"/>
                </a:solidFill>
                <a:latin typeface="IBM Plex Sans Arabic" pitchFamily="34" charset="0"/>
                <a:cs typeface="IBM Plex Sans Arabic"/>
              </a:rPr>
              <a:t>‎3–8‎</a:t>
            </a:r>
            <a:r>
              <a:rPr lang="ar-SA" altLang="en-US" sz="2600" b="1" dirty="0">
                <a:solidFill>
                  <a:srgbClr val="BD3F2C"/>
                </a:solidFill>
                <a:latin typeface="IBM Plex Sans Arabic" pitchFamily="34" charset="0"/>
                <a:cs typeface="IBM Plex Sans Arabic"/>
              </a:rPr>
              <a:t> درجات</a:t>
            </a:r>
            <a:endParaRPr lang="en-US" sz="2600" dirty="0"/>
          </a:p>
        </p:txBody>
      </p:sp>
      <p:sp>
        <p:nvSpPr>
          <p:cNvPr id="15" name="Text 13"/>
          <p:cNvSpPr txBox="1"/>
          <p:nvPr/>
        </p:nvSpPr>
        <p:spPr>
          <a:xfrm>
            <a:off x="996696" y="3154680"/>
            <a:ext cx="3044952" cy="292608"/>
          </a:xfrm>
          <a:prstGeom prst="rect">
            <a:avLst/>
          </a:prstGeom>
          <a:noFill/>
          <a:ln/>
        </p:spPr>
        <p:txBody>
          <a:bodyPr wrap="square" lIns="0" tIns="0" rIns="0" bIns="0" rtlCol="0" anchor="t"/>
          <a:lstStyle/>
          <a:p>
            <a:pPr algn="r" indent="0" marL="0" rtl="1">
              <a:lnSpc>
                <a:spcPct val="120000"/>
              </a:lnSpc>
              <a:buNone/>
            </a:pPr>
            <a:r>
              <a:rPr lang="ar-SA" altLang="en-US" sz="1500" b="1" dirty="0">
                <a:solidFill>
                  <a:srgbClr val="16202B"/>
                </a:solidFill>
                <a:latin typeface="IBM Plex Sans Arabic" pitchFamily="34" charset="0"/>
                <a:cs typeface="IBM Plex Sans Arabic"/>
              </a:rPr>
              <a:t>أقلّ تقديماً في السيارة</a:t>
            </a:r>
            <a:endParaRPr lang="en-US" sz="1500" dirty="0"/>
          </a:p>
        </p:txBody>
      </p:sp>
      <p:sp>
        <p:nvSpPr>
          <p:cNvPr id="16" name="Text 14"/>
          <p:cNvSpPr txBox="1"/>
          <p:nvPr/>
        </p:nvSpPr>
        <p:spPr>
          <a:xfrm>
            <a:off x="996696" y="3474720"/>
            <a:ext cx="3044952" cy="64008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شرارة السيارة تحت الضغط العالي أقلّ من نموذجنا — </a:t>
            </a:r>
            <a:r>
              <a:rPr lang="en-US" altLang="en-US" sz="1300" dirty="0">
                <a:solidFill>
                  <a:srgbClr val="5D6E7D"/>
                </a:solidFill>
                <a:latin typeface="IBM Plex Sans Arabic" pitchFamily="34" charset="0"/>
                <a:cs typeface="IBM Plex Sans Arabic"/>
              </a:rPr>
              <a:t>‎31‎</a:t>
            </a:r>
            <a:r>
              <a:rPr lang="ar-SA" altLang="en-US" sz="1300" dirty="0">
                <a:solidFill>
                  <a:srgbClr val="5D6E7D"/>
                </a:solidFill>
                <a:latin typeface="IBM Plex Sans Arabic" pitchFamily="34" charset="0"/>
                <a:cs typeface="IBM Plex Sans Arabic"/>
              </a:rPr>
              <a:t> قراءة فقط، لا تكفي للمعايرة</a:t>
            </a:r>
            <a:endParaRPr lang="en-US" sz="1300" dirty="0"/>
          </a:p>
        </p:txBody>
      </p:sp>
      <p:sp>
        <p:nvSpPr>
          <p:cNvPr id="17" name="Shape 15"/>
          <p:cNvSpPr/>
          <p:nvPr/>
        </p:nvSpPr>
        <p:spPr>
          <a:xfrm>
            <a:off x="813816" y="4434840"/>
            <a:ext cx="10561320" cy="1188720"/>
          </a:xfrm>
          <a:prstGeom prst="roundRect">
            <a:avLst>
              <a:gd name="adj" fmla="val 6154"/>
            </a:avLst>
          </a:prstGeom>
          <a:solidFill>
            <a:srgbClr val="16202B"/>
          </a:solidFill>
          <a:ln/>
        </p:spPr>
      </p:sp>
      <p:sp>
        <p:nvSpPr>
          <p:cNvPr id="18" name="Text 16"/>
          <p:cNvSpPr txBox="1"/>
          <p:nvPr/>
        </p:nvSpPr>
        <p:spPr>
          <a:xfrm>
            <a:off x="1088136" y="4590288"/>
            <a:ext cx="10012680" cy="310896"/>
          </a:xfrm>
          <a:prstGeom prst="rect">
            <a:avLst/>
          </a:prstGeom>
          <a:noFill/>
          <a:ln/>
        </p:spPr>
        <p:txBody>
          <a:bodyPr wrap="square" lIns="0" tIns="0" rIns="0" bIns="0" rtlCol="0" anchor="t"/>
          <a:lstStyle/>
          <a:p>
            <a:pPr algn="r" indent="0" marL="0" rtl="1">
              <a:lnSpc>
                <a:spcPct val="120000"/>
              </a:lnSpc>
              <a:buNone/>
            </a:pPr>
            <a:r>
              <a:rPr lang="ar-SA" altLang="en-US" sz="1600" b="1" dirty="0">
                <a:solidFill>
                  <a:srgbClr val="7FB2DC"/>
                </a:solidFill>
                <a:latin typeface="IBM Plex Sans Arabic" pitchFamily="34" charset="0"/>
                <a:cs typeface="IBM Plex Sans Arabic"/>
              </a:rPr>
              <a:t>العلاج: رحلة </a:t>
            </a:r>
            <a:r>
              <a:rPr lang="en-US" altLang="en-US" sz="1600" b="1" dirty="0">
                <a:solidFill>
                  <a:srgbClr val="7FB2DC"/>
                </a:solidFill>
                <a:latin typeface="IBM Plex Sans Arabic" pitchFamily="34" charset="0"/>
                <a:cs typeface="IBM Plex Sans Arabic"/>
              </a:rPr>
              <a:t>‎C‎</a:t>
            </a:r>
            <a:endParaRPr lang="en-US" sz="1600" dirty="0"/>
          </a:p>
        </p:txBody>
      </p:sp>
      <p:sp>
        <p:nvSpPr>
          <p:cNvPr id="19" name="Text 17"/>
          <p:cNvSpPr txBox="1"/>
          <p:nvPr/>
        </p:nvSpPr>
        <p:spPr>
          <a:xfrm>
            <a:off x="1088136" y="4956048"/>
            <a:ext cx="10012680" cy="548640"/>
          </a:xfrm>
          <a:prstGeom prst="rect">
            <a:avLst/>
          </a:prstGeom>
          <a:noFill/>
          <a:ln/>
        </p:spPr>
        <p:txBody>
          <a:bodyPr wrap="square" lIns="0" tIns="0" rIns="0" bIns="0" rtlCol="0" anchor="t"/>
          <a:lstStyle/>
          <a:p>
            <a:pPr algn="r" indent="0" marL="0" rtl="1">
              <a:lnSpc>
                <a:spcPct val="120000"/>
              </a:lnSpc>
              <a:buNone/>
            </a:pPr>
            <a:r>
              <a:rPr lang="en-US" altLang="en-US" sz="1450" dirty="0">
                <a:solidFill>
                  <a:srgbClr val="F2F4F6"/>
                </a:solidFill>
                <a:latin typeface="IBM Plex Sans Arabic" pitchFamily="34" charset="0"/>
                <a:cs typeface="IBM Plex Sans Arabic"/>
              </a:rPr>
              <a:t>‎6‎</a:t>
            </a:r>
            <a:r>
              <a:rPr lang="ar-SA" altLang="en-US" sz="1450" dirty="0">
                <a:solidFill>
                  <a:srgbClr val="F2F4F6"/>
                </a:solidFill>
                <a:latin typeface="IBM Plex Sans Arabic" pitchFamily="34" charset="0"/>
                <a:cs typeface="IBM Plex Sans Arabic"/>
              </a:rPr>
              <a:t> قنوات فقط، فتُقرأ الزاويتان كل </a:t>
            </a:r>
            <a:r>
              <a:rPr lang="en-US" altLang="en-US" sz="1450" dirty="0">
                <a:solidFill>
                  <a:srgbClr val="F2F4F6"/>
                </a:solidFill>
                <a:latin typeface="IBM Plex Sans Arabic" pitchFamily="34" charset="0"/>
                <a:cs typeface="IBM Plex Sans Arabic"/>
              </a:rPr>
              <a:t>‎1.25‎</a:t>
            </a:r>
            <a:r>
              <a:rPr lang="ar-SA" altLang="en-US" sz="1450" dirty="0">
                <a:solidFill>
                  <a:srgbClr val="F2F4F6"/>
                </a:solidFill>
                <a:latin typeface="IBM Plex Sans Arabic" pitchFamily="34" charset="0"/>
                <a:cs typeface="IBM Plex Sans Arabic"/>
              </a:rPr>
              <a:t> ثانية تقريباً · غيار ثابت على </a:t>
            </a:r>
            <a:r>
              <a:rPr lang="en-US" altLang="en-US" sz="1450" dirty="0">
                <a:solidFill>
                  <a:srgbClr val="F2F4F6"/>
                </a:solidFill>
                <a:latin typeface="IBM Plex Sans Arabic" pitchFamily="34" charset="0"/>
                <a:cs typeface="IBM Plex Sans Arabic"/>
              </a:rPr>
              <a:t>‎2000–3500‎</a:t>
            </a:r>
            <a:r>
              <a:rPr lang="ar-SA" altLang="en-US" sz="1450" dirty="0">
                <a:solidFill>
                  <a:srgbClr val="F2F4F6"/>
                </a:solidFill>
                <a:latin typeface="IBM Plex Sans Arabic" pitchFamily="34" charset="0"/>
                <a:cs typeface="IBM Plex Sans Arabic"/>
              </a:rPr>
              <a:t> دورة · في حرّ العصر · وقاعدة الحكم تُكتب قبل الرحلة.</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E08A78"/>
                </a:solidFill>
                <a:latin typeface="IBM Plex Sans Arabic" pitchFamily="34" charset="0"/>
                <a:cs typeface="IBM Plex Sans Arabic"/>
              </a:rPr>
              <a:t>تراجُع مُعلَن</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F2F4F6"/>
                </a:solidFill>
                <a:latin typeface="IBM Plex Sans Arabic" pitchFamily="34" charset="0"/>
                <a:cs typeface="IBM Plex Sans Arabic"/>
              </a:rPr>
              <a:t>عيبان في المحاكاة وجدناهما أثناء مراجعة الدمج</a:t>
            </a:r>
            <a:endParaRPr lang="en-US" sz="3000" dirty="0"/>
          </a:p>
        </p:txBody>
      </p:sp>
      <p:sp>
        <p:nvSpPr>
          <p:cNvPr id="4" name="Shape 2"/>
          <p:cNvSpPr/>
          <p:nvPr/>
        </p:nvSpPr>
        <p:spPr>
          <a:xfrm>
            <a:off x="6199632" y="1737360"/>
            <a:ext cx="5175504" cy="2606040"/>
          </a:xfrm>
          <a:prstGeom prst="roundRect">
            <a:avLst>
              <a:gd name="adj" fmla="val 2807"/>
            </a:avLst>
          </a:prstGeom>
          <a:solidFill>
            <a:srgbClr val="1C2A36"/>
          </a:solidFill>
          <a:ln w="9525">
            <a:solidFill>
              <a:srgbClr val="2F6FA8"/>
            </a:solidFill>
            <a:prstDash val="solid"/>
          </a:ln>
        </p:spPr>
      </p:sp>
      <p:sp>
        <p:nvSpPr>
          <p:cNvPr id="5" name="Text 3"/>
          <p:cNvSpPr txBox="1"/>
          <p:nvPr/>
        </p:nvSpPr>
        <p:spPr>
          <a:xfrm>
            <a:off x="6455664" y="1956816"/>
            <a:ext cx="4663440" cy="329184"/>
          </a:xfrm>
          <a:prstGeom prst="rect">
            <a:avLst/>
          </a:prstGeom>
          <a:noFill/>
          <a:ln/>
        </p:spPr>
        <p:txBody>
          <a:bodyPr wrap="square" lIns="0" tIns="0" rIns="0" bIns="0" rtlCol="0" anchor="t"/>
          <a:lstStyle/>
          <a:p>
            <a:pPr algn="r" indent="0" marL="0" rtl="1">
              <a:lnSpc>
                <a:spcPct val="120000"/>
              </a:lnSpc>
              <a:buNone/>
            </a:pPr>
            <a:r>
              <a:rPr lang="ar-SA" altLang="en-US" sz="1700" b="1" dirty="0">
                <a:solidFill>
                  <a:srgbClr val="F2F4F6"/>
                </a:solidFill>
                <a:latin typeface="IBM Plex Sans Arabic" pitchFamily="34" charset="0"/>
                <a:cs typeface="IBM Plex Sans Arabic"/>
              </a:rPr>
              <a:t>العيب الأول: حساب حرارة الماء يتذبذب</a:t>
            </a:r>
            <a:endParaRPr lang="en-US" sz="1700" dirty="0"/>
          </a:p>
        </p:txBody>
      </p:sp>
      <p:sp>
        <p:nvSpPr>
          <p:cNvPr id="6" name="Text 4"/>
          <p:cNvSpPr txBox="1"/>
          <p:nvPr/>
        </p:nvSpPr>
        <p:spPr>
          <a:xfrm>
            <a:off x="6455664" y="2359152"/>
            <a:ext cx="4663440" cy="128016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B8C6D4"/>
                </a:solidFill>
                <a:latin typeface="IBM Plex Sans Arabic" pitchFamily="34" charset="0"/>
                <a:cs typeface="IBM Plex Sans Arabic"/>
              </a:rPr>
              <a:t>المحاكاة تحسب الحرارة مرة كل ثانية، ومنظّم حرارة الماء في النموذج أسرع من خطوة الحساب. فتقفز الحرارة نحو درجتين في كل خطوة، وعند خطوة ثانيتين تتأرجح بين </a:t>
            </a:r>
            <a:r>
              <a:rPr lang="en-US" altLang="en-US" sz="1350" dirty="0">
                <a:solidFill>
                  <a:srgbClr val="B8C6D4"/>
                </a:solidFill>
                <a:latin typeface="IBM Plex Sans Arabic" pitchFamily="34" charset="0"/>
                <a:cs typeface="IBM Plex Sans Arabic"/>
              </a:rPr>
              <a:t>‎85‎</a:t>
            </a:r>
            <a:r>
              <a:rPr lang="ar-SA" altLang="en-US" sz="1350" dirty="0">
                <a:solidFill>
                  <a:srgbClr val="B8C6D4"/>
                </a:solidFill>
                <a:latin typeface="IBM Plex Sans Arabic" pitchFamily="34" charset="0"/>
                <a:cs typeface="IBM Plex Sans Arabic"/>
              </a:rPr>
              <a:t> و </a:t>
            </a:r>
            <a:r>
              <a:rPr lang="en-US" altLang="en-US" sz="1350" dirty="0">
                <a:solidFill>
                  <a:srgbClr val="B8C6D4"/>
                </a:solidFill>
                <a:latin typeface="IBM Plex Sans Arabic" pitchFamily="34" charset="0"/>
                <a:cs typeface="IBM Plex Sans Arabic"/>
              </a:rPr>
              <a:t>‎95 °C‎</a:t>
            </a:r>
            <a:r>
              <a:rPr lang="ar-SA" altLang="en-US" sz="1350" dirty="0">
                <a:solidFill>
                  <a:srgbClr val="B8C6D4"/>
                </a:solidFill>
                <a:latin typeface="IBM Plex Sans Arabic" pitchFamily="34" charset="0"/>
                <a:cs typeface="IBM Plex Sans Arabic"/>
              </a:rPr>
              <a:t> ولا تستقر.</a:t>
            </a:r>
            <a:endParaRPr lang="en-US" sz="1350" dirty="0"/>
          </a:p>
        </p:txBody>
      </p:sp>
      <p:sp>
        <p:nvSpPr>
          <p:cNvPr id="7" name="Text 5"/>
          <p:cNvSpPr txBox="1"/>
          <p:nvPr/>
        </p:nvSpPr>
        <p:spPr>
          <a:xfrm>
            <a:off x="6455664" y="3749040"/>
            <a:ext cx="4663440" cy="365760"/>
          </a:xfrm>
          <a:prstGeom prst="rect">
            <a:avLst/>
          </a:prstGeom>
          <a:noFill/>
          <a:ln/>
        </p:spPr>
        <p:txBody>
          <a:bodyPr wrap="square" lIns="0" tIns="0" rIns="0" bIns="0" rtlCol="0" anchor="t"/>
          <a:lstStyle/>
          <a:p>
            <a:pPr algn="r" indent="0" marL="0" rtl="1">
              <a:lnSpc>
                <a:spcPct val="120000"/>
              </a:lnSpc>
              <a:buNone/>
            </a:pPr>
            <a:r>
              <a:rPr lang="ar-SA" altLang="en-US" sz="1450" b="1" dirty="0">
                <a:solidFill>
                  <a:srgbClr val="7FB2DC"/>
                </a:solidFill>
                <a:latin typeface="IBM Plex Sans Arabic" pitchFamily="34" charset="0"/>
                <a:cs typeface="IBM Plex Sans Arabic"/>
              </a:rPr>
              <a:t>العلاج: نقسم كل ثانية إلى </a:t>
            </a:r>
            <a:r>
              <a:rPr lang="en-US" altLang="en-US" sz="1450" b="1" dirty="0">
                <a:solidFill>
                  <a:srgbClr val="7FB2DC"/>
                </a:solidFill>
                <a:latin typeface="IBM Plex Sans Arabic" pitchFamily="34" charset="0"/>
                <a:cs typeface="IBM Plex Sans Arabic"/>
              </a:rPr>
              <a:t>‎10‎</a:t>
            </a:r>
            <a:r>
              <a:rPr lang="ar-SA" altLang="en-US" sz="1450" b="1" dirty="0">
                <a:solidFill>
                  <a:srgbClr val="7FB2DC"/>
                </a:solidFill>
                <a:latin typeface="IBM Plex Sans Arabic" pitchFamily="34" charset="0"/>
                <a:cs typeface="IBM Plex Sans Arabic"/>
              </a:rPr>
              <a:t> خطوات صغيرة.</a:t>
            </a:r>
            <a:endParaRPr lang="en-US" sz="1450" dirty="0"/>
          </a:p>
        </p:txBody>
      </p:sp>
      <p:sp>
        <p:nvSpPr>
          <p:cNvPr id="8" name="Shape 6"/>
          <p:cNvSpPr/>
          <p:nvPr/>
        </p:nvSpPr>
        <p:spPr>
          <a:xfrm>
            <a:off x="813816" y="1737360"/>
            <a:ext cx="5175504" cy="2606040"/>
          </a:xfrm>
          <a:prstGeom prst="roundRect">
            <a:avLst>
              <a:gd name="adj" fmla="val 2807"/>
            </a:avLst>
          </a:prstGeom>
          <a:solidFill>
            <a:srgbClr val="2E1F1C"/>
          </a:solidFill>
          <a:ln w="9525">
            <a:solidFill>
              <a:srgbClr val="6B3A30"/>
            </a:solidFill>
            <a:prstDash val="solid"/>
          </a:ln>
        </p:spPr>
      </p:sp>
      <p:sp>
        <p:nvSpPr>
          <p:cNvPr id="9" name="Text 7"/>
          <p:cNvSpPr txBox="1"/>
          <p:nvPr/>
        </p:nvSpPr>
        <p:spPr>
          <a:xfrm>
            <a:off x="1069848" y="1956816"/>
            <a:ext cx="4663440" cy="329184"/>
          </a:xfrm>
          <a:prstGeom prst="rect">
            <a:avLst/>
          </a:prstGeom>
          <a:noFill/>
          <a:ln/>
        </p:spPr>
        <p:txBody>
          <a:bodyPr wrap="square" lIns="0" tIns="0" rIns="0" bIns="0" rtlCol="0" anchor="t"/>
          <a:lstStyle/>
          <a:p>
            <a:pPr algn="r" indent="0" marL="0" rtl="1">
              <a:lnSpc>
                <a:spcPct val="120000"/>
              </a:lnSpc>
              <a:buNone/>
            </a:pPr>
            <a:r>
              <a:rPr lang="ar-SA" altLang="en-US" sz="1700" b="1" dirty="0">
                <a:solidFill>
                  <a:srgbClr val="F2F4F6"/>
                </a:solidFill>
                <a:latin typeface="IBM Plex Sans Arabic" pitchFamily="34" charset="0"/>
                <a:cs typeface="IBM Plex Sans Arabic"/>
              </a:rPr>
              <a:t>العيب الثاني: ثانية «طَرق» مصطنعة عند بداية كل طلعة</a:t>
            </a:r>
            <a:endParaRPr lang="en-US" sz="1700" dirty="0"/>
          </a:p>
        </p:txBody>
      </p:sp>
      <p:sp>
        <p:nvSpPr>
          <p:cNvPr id="10" name="Text 8"/>
          <p:cNvSpPr txBox="1"/>
          <p:nvPr/>
        </p:nvSpPr>
        <p:spPr>
          <a:xfrm>
            <a:off x="1069848" y="2359152"/>
            <a:ext cx="4663440" cy="128016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B8C6D4"/>
                </a:solidFill>
                <a:latin typeface="IBM Plex Sans Arabic" pitchFamily="34" charset="0"/>
                <a:cs typeface="IBM Plex Sans Arabic"/>
              </a:rPr>
              <a:t>عند بداية الطلعة المفاجئة تختار وحدة التحكّم الشرارة على ضغط الثانية السابقة، والحمل يقفز في نفس الثانية. ثانية واحدة فيها </a:t>
            </a:r>
            <a:r>
              <a:rPr lang="en-US" altLang="en-US" sz="1350" dirty="0">
                <a:solidFill>
                  <a:srgbClr val="B8C6D4"/>
                </a:solidFill>
                <a:latin typeface="IBM Plex Sans Arabic" pitchFamily="34" charset="0"/>
                <a:cs typeface="IBM Plex Sans Arabic"/>
              </a:rPr>
              <a:t>‎58.6‎</a:t>
            </a:r>
            <a:r>
              <a:rPr lang="ar-SA" altLang="en-US" sz="1350" dirty="0">
                <a:solidFill>
                  <a:srgbClr val="B8C6D4"/>
                </a:solidFill>
                <a:latin typeface="IBM Plex Sans Arabic" pitchFamily="34" charset="0"/>
                <a:cs typeface="IBM Plex Sans Arabic"/>
              </a:rPr>
              <a:t> من أصل </a:t>
            </a:r>
            <a:r>
              <a:rPr lang="en-US" altLang="en-US" sz="1350" dirty="0">
                <a:solidFill>
                  <a:srgbClr val="B8C6D4"/>
                </a:solidFill>
                <a:latin typeface="IBM Plex Sans Arabic" pitchFamily="34" charset="0"/>
                <a:cs typeface="IBM Plex Sans Arabic"/>
              </a:rPr>
              <a:t>‎60.6‎</a:t>
            </a:r>
            <a:r>
              <a:rPr lang="ar-SA" altLang="en-US" sz="1350" dirty="0">
                <a:solidFill>
                  <a:srgbClr val="B8C6D4"/>
                </a:solidFill>
                <a:latin typeface="IBM Plex Sans Arabic" pitchFamily="34" charset="0"/>
                <a:cs typeface="IBM Plex Sans Arabic"/>
              </a:rPr>
              <a:t> وحدة ضرر طَرق في الرحلة كلها.</a:t>
            </a:r>
            <a:endParaRPr lang="en-US" sz="1350" dirty="0"/>
          </a:p>
        </p:txBody>
      </p:sp>
      <p:sp>
        <p:nvSpPr>
          <p:cNvPr id="11" name="Text 9"/>
          <p:cNvSpPr txBox="1"/>
          <p:nvPr/>
        </p:nvSpPr>
        <p:spPr>
          <a:xfrm>
            <a:off x="1069848" y="3749040"/>
            <a:ext cx="4663440" cy="365760"/>
          </a:xfrm>
          <a:prstGeom prst="rect">
            <a:avLst/>
          </a:prstGeom>
          <a:noFill/>
          <a:ln/>
        </p:spPr>
        <p:txBody>
          <a:bodyPr wrap="square" lIns="0" tIns="0" rIns="0" bIns="0" rtlCol="0" anchor="t"/>
          <a:lstStyle/>
          <a:p>
            <a:pPr algn="r" indent="0" marL="0" rtl="1">
              <a:lnSpc>
                <a:spcPct val="120000"/>
              </a:lnSpc>
              <a:buNone/>
            </a:pPr>
            <a:r>
              <a:rPr lang="ar-SA" altLang="en-US" sz="1450" b="1" dirty="0">
                <a:solidFill>
                  <a:srgbClr val="E08A78"/>
                </a:solidFill>
                <a:latin typeface="IBM Plex Sans Arabic" pitchFamily="34" charset="0"/>
                <a:cs typeface="IBM Plex Sans Arabic"/>
              </a:rPr>
              <a:t>العلاج: طلعة تتدرّج خلال </a:t>
            </a:r>
            <a:r>
              <a:rPr lang="en-US" altLang="en-US" sz="1450" b="1" dirty="0">
                <a:solidFill>
                  <a:srgbClr val="E08A78"/>
                </a:solidFill>
                <a:latin typeface="IBM Plex Sans Arabic" pitchFamily="34" charset="0"/>
                <a:cs typeface="IBM Plex Sans Arabic"/>
              </a:rPr>
              <a:t>‎8‎</a:t>
            </a:r>
            <a:r>
              <a:rPr lang="ar-SA" altLang="en-US" sz="1450" b="1" dirty="0">
                <a:solidFill>
                  <a:srgbClr val="E08A78"/>
                </a:solidFill>
                <a:latin typeface="IBM Plex Sans Arabic" pitchFamily="34" charset="0"/>
                <a:cs typeface="IBM Plex Sans Arabic"/>
              </a:rPr>
              <a:t> ثوانٍ تخفضه إلى </a:t>
            </a:r>
            <a:r>
              <a:rPr lang="en-US" altLang="en-US" sz="1450" b="1" dirty="0">
                <a:solidFill>
                  <a:srgbClr val="E08A78"/>
                </a:solidFill>
                <a:latin typeface="IBM Plex Sans Arabic" pitchFamily="34" charset="0"/>
                <a:cs typeface="IBM Plex Sans Arabic"/>
              </a:rPr>
              <a:t>‎2.4‎</a:t>
            </a:r>
            <a:r>
              <a:rPr lang="ar-SA" altLang="en-US" sz="1450" b="1" dirty="0">
                <a:solidFill>
                  <a:srgbClr val="E08A78"/>
                </a:solidFill>
                <a:latin typeface="IBM Plex Sans Arabic" pitchFamily="34" charset="0"/>
                <a:cs typeface="IBM Plex Sans Arabic"/>
              </a:rPr>
              <a:t>.</a:t>
            </a:r>
            <a:endParaRPr lang="en-US" sz="1450" dirty="0"/>
          </a:p>
        </p:txBody>
      </p:sp>
      <p:sp>
        <p:nvSpPr>
          <p:cNvPr id="12" name="Shape 10"/>
          <p:cNvSpPr/>
          <p:nvPr/>
        </p:nvSpPr>
        <p:spPr>
          <a:xfrm>
            <a:off x="813816" y="4572000"/>
            <a:ext cx="10561320" cy="1097280"/>
          </a:xfrm>
          <a:prstGeom prst="roundRect">
            <a:avLst>
              <a:gd name="adj" fmla="val 6667"/>
            </a:avLst>
          </a:prstGeom>
          <a:solidFill>
            <a:srgbClr val="22303F"/>
          </a:solidFill>
          <a:ln w="9525">
            <a:solidFill>
              <a:srgbClr val="3A4C5C"/>
            </a:solidFill>
            <a:prstDash val="solid"/>
          </a:ln>
        </p:spPr>
      </p:sp>
      <p:sp>
        <p:nvSpPr>
          <p:cNvPr id="13" name="Text 11"/>
          <p:cNvSpPr txBox="1"/>
          <p:nvPr/>
        </p:nvSpPr>
        <p:spPr>
          <a:xfrm>
            <a:off x="1088136" y="4709160"/>
            <a:ext cx="10012680" cy="27432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E08A78"/>
                </a:solidFill>
                <a:latin typeface="IBM Plex Sans Arabic" pitchFamily="34" charset="0"/>
                <a:cs typeface="IBM Plex Sans Arabic"/>
              </a:rPr>
              <a:t>ما بطَل معه</a:t>
            </a:r>
            <a:endParaRPr lang="en-US" sz="1350" dirty="0"/>
          </a:p>
        </p:txBody>
      </p:sp>
      <p:sp>
        <p:nvSpPr>
          <p:cNvPr id="14" name="Text 12"/>
          <p:cNvSpPr txBox="1"/>
          <p:nvPr/>
        </p:nvSpPr>
        <p:spPr>
          <a:xfrm>
            <a:off x="1088136" y="5010912"/>
            <a:ext cx="10012680" cy="594360"/>
          </a:xfrm>
          <a:prstGeom prst="rect">
            <a:avLst/>
          </a:prstGeom>
          <a:noFill/>
          <a:ln/>
        </p:spPr>
        <p:txBody>
          <a:bodyPr wrap="square" lIns="0" tIns="0" rIns="0" bIns="0" rtlCol="0" anchor="t"/>
          <a:lstStyle/>
          <a:p>
            <a:pPr algn="r" indent="0" marL="0" rtl="1">
              <a:lnSpc>
                <a:spcPct val="120000"/>
              </a:lnSpc>
              <a:buNone/>
            </a:pPr>
            <a:r>
              <a:rPr lang="ar-SA" altLang="en-US" sz="1450" dirty="0">
                <a:solidFill>
                  <a:srgbClr val="F2F4F6"/>
                </a:solidFill>
                <a:latin typeface="IBM Plex Sans Arabic" pitchFamily="34" charset="0"/>
                <a:cs typeface="IBM Plex Sans Arabic"/>
              </a:rPr>
              <a:t>«الاستشراف اليدوي يخسر </a:t>
            </a:r>
            <a:r>
              <a:rPr lang="en-US" altLang="en-US" sz="1450" dirty="0">
                <a:solidFill>
                  <a:srgbClr val="F2F4F6"/>
                </a:solidFill>
                <a:latin typeface="IBM Plex Sans Arabic" pitchFamily="34" charset="0"/>
                <a:cs typeface="IBM Plex Sans Arabic"/>
              </a:rPr>
              <a:t>‎0.3‎</a:t>
            </a:r>
            <a:r>
              <a:rPr lang="ar-SA" altLang="en-US" sz="1450" dirty="0">
                <a:solidFill>
                  <a:srgbClr val="F2F4F6"/>
                </a:solidFill>
                <a:latin typeface="IBM Plex Sans Arabic" pitchFamily="34" charset="0"/>
                <a:cs typeface="IBM Plex Sans Arabic"/>
              </a:rPr>
              <a:t> نقطة» — الفرق كله هذه الثانية؛ على ضرر التوربين والزيت وحده السياستان متعادلتان. ولا نقتبس منحنى </a:t>
            </a:r>
            <a:r>
              <a:rPr lang="en-US" altLang="en-US" sz="1450" dirty="0">
                <a:solidFill>
                  <a:srgbClr val="F2F4F6"/>
                </a:solidFill>
                <a:latin typeface="IBM Plex Sans Arabic" pitchFamily="34" charset="0"/>
                <a:cs typeface="IBM Plex Sans Arabic"/>
              </a:rPr>
              <a:t>‎H/τ‎</a:t>
            </a:r>
            <a:r>
              <a:rPr lang="ar-SA" altLang="en-US" sz="1450" dirty="0">
                <a:solidFill>
                  <a:srgbClr val="F2F4F6"/>
                </a:solidFill>
                <a:latin typeface="IBM Plex Sans Arabic" pitchFamily="34" charset="0"/>
                <a:cs typeface="IBM Plex Sans Arabic"/>
              </a:rPr>
              <a:t> حتى نصلح العيب الأول.</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2F6FA8"/>
                </a:solidFill>
                <a:latin typeface="IBM Plex Sans Arabic" pitchFamily="34" charset="0"/>
                <a:cs typeface="IBM Plex Sans Arabic"/>
              </a:rPr>
              <a:t>أرقام تغيّرت منذ </a:t>
            </a:r>
            <a:r>
              <a:rPr lang="en-US" altLang="en-US" sz="1300" b="1" dirty="0">
                <a:solidFill>
                  <a:srgbClr val="2F6FA8"/>
                </a:solidFill>
                <a:latin typeface="IBM Plex Sans Arabic" pitchFamily="34" charset="0"/>
                <a:cs typeface="IBM Plex Sans Arabic"/>
              </a:rPr>
              <a:t>‎20‎</a:t>
            </a:r>
            <a:r>
              <a:rPr lang="ar-SA" altLang="en-US" sz="1300" b="1" dirty="0">
                <a:solidFill>
                  <a:srgbClr val="2F6FA8"/>
                </a:solidFill>
                <a:latin typeface="IBM Plex Sans Arabic" pitchFamily="34" charset="0"/>
                <a:cs typeface="IBM Plex Sans Arabic"/>
              </a:rPr>
              <a:t> سبتمبر</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ما قلناه في العرض السابق، وما صار عليه</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10561320" cy="914400"/>
        </p:xfrm>
        <a:graphic>
          <a:graphicData uri="http://schemas.openxmlformats.org/drawingml/2006/table">
            <a:tbl>
              <a:tblPr/>
              <a:tblGrid>
                <a:gridCol w="2651760"/>
                <a:gridCol w="2240280"/>
                <a:gridCol w="2240280"/>
                <a:gridCol w="3429000"/>
              </a:tblGrid>
              <a:tr h="411480">
                <a:tc>
                  <a:txBody>
                    <a:bodyPr/>
                    <a:lstStyle/>
                    <a:p>
                      <a:pPr algn="r" indent="0" marL="0" rtl="1">
                        <a:buNone/>
                      </a:pPr>
                      <a:r>
                        <a:rPr lang="ar-SA" altLang="en-US" sz="1300" b="1" dirty="0">
                          <a:solidFill>
                            <a:srgbClr val="FFFFFF"/>
                          </a:solidFill>
                          <a:latin typeface="IBM Plex Sans Arabic" pitchFamily="34" charset="0"/>
                          <a:cs typeface="IBM Plex Sans Arabic"/>
                        </a:rPr>
                        <a:t>لماذا</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الآن</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في </a:t>
                      </a:r>
                      <a:r>
                        <a:rPr lang="en-US" altLang="en-US" sz="1300" b="1" dirty="0">
                          <a:solidFill>
                            <a:srgbClr val="FFFFFF"/>
                          </a:solidFill>
                          <a:latin typeface="IBM Plex Sans Arabic" pitchFamily="34" charset="0"/>
                          <a:cs typeface="IBM Plex Sans Arabic"/>
                        </a:rPr>
                        <a:t>‎20‎</a:t>
                      </a:r>
                      <a:r>
                        <a:rPr lang="ar-SA" altLang="en-US" sz="1300" b="1" dirty="0">
                          <a:solidFill>
                            <a:srgbClr val="FFFFFF"/>
                          </a:solidFill>
                          <a:latin typeface="IBM Plex Sans Arabic" pitchFamily="34" charset="0"/>
                          <a:cs typeface="IBM Plex Sans Arabic"/>
                        </a:rPr>
                        <a:t> سبتمبر</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c>
                  <a:txBody>
                    <a:bodyPr/>
                    <a:lstStyle/>
                    <a:p>
                      <a:pPr algn="r" indent="0" marL="0" rtl="1">
                        <a:buNone/>
                      </a:pPr>
                      <a:r>
                        <a:rPr lang="ar-SA" altLang="en-US" sz="1300" b="1" dirty="0">
                          <a:solidFill>
                            <a:srgbClr val="FFFFFF"/>
                          </a:solidFill>
                          <a:latin typeface="IBM Plex Sans Arabic" pitchFamily="34" charset="0"/>
                          <a:cs typeface="IBM Plex Sans Arabic"/>
                        </a:rPr>
                        <a:t>الرقم</a:t>
                      </a:r>
                      <a:endParaRPr lang="en-US" sz="130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16202B"/>
                    </a:solidFill>
                  </a:tcPr>
                </a:tc>
              </a:tr>
              <a:tr h="457200">
                <a:tc>
                  <a:txBody>
                    <a:bodyPr/>
                    <a:lstStyle/>
                    <a:p>
                      <a:pPr algn="r" indent="0" marL="0" rtl="1">
                        <a:buNone/>
                      </a:pPr>
                      <a:r>
                        <a:rPr lang="ar-SA" altLang="en-US" sz="1350" dirty="0">
                          <a:solidFill>
                            <a:srgbClr val="3D4C5A"/>
                          </a:solidFill>
                          <a:latin typeface="IBM Plex Sans Arabic" pitchFamily="34" charset="0"/>
                          <a:cs typeface="IBM Plex Sans Arabic"/>
                        </a:rPr>
                        <a:t>رحلة </a:t>
                      </a:r>
                      <a:r>
                        <a:rPr lang="en-US" altLang="en-US" sz="1350" dirty="0">
                          <a:solidFill>
                            <a:srgbClr val="3D4C5A"/>
                          </a:solidFill>
                          <a:latin typeface="IBM Plex Sans Arabic" pitchFamily="34" charset="0"/>
                          <a:cs typeface="IBM Plex Sans Arabic"/>
                        </a:rPr>
                        <a:t>‎B‎</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en-US" altLang="en-US" sz="1350" dirty="0">
                          <a:solidFill>
                            <a:srgbClr val="3D4C5A"/>
                          </a:solidFill>
                          <a:latin typeface="IBM Plex Sans Arabic" pitchFamily="34" charset="0"/>
                          <a:cs typeface="IBM Plex Sans Arabic"/>
                        </a:rPr>
                        <a:t>‎321.7‎</a:t>
                      </a:r>
                      <a:r>
                        <a:rPr lang="ar-SA" altLang="en-US" sz="1350" dirty="0">
                          <a:solidFill>
                            <a:srgbClr val="3D4C5A"/>
                          </a:solidFill>
                          <a:latin typeface="IBM Plex Sans Arabic" pitchFamily="34" charset="0"/>
                          <a:cs typeface="IBM Plex Sans Arabic"/>
                        </a:rPr>
                        <a:t> دقيقة · </a:t>
                      </a:r>
                      <a:r>
                        <a:rPr lang="en-US" altLang="en-US" sz="1350" dirty="0">
                          <a:solidFill>
                            <a:srgbClr val="3D4C5A"/>
                          </a:solidFill>
                          <a:latin typeface="IBM Plex Sans Arabic" pitchFamily="34" charset="0"/>
                          <a:cs typeface="IBM Plex Sans Arabic"/>
                        </a:rPr>
                        <a:t>‎11‎</a:t>
                      </a:r>
                      <a:r>
                        <a:rPr lang="ar-SA" altLang="en-US" sz="1350" dirty="0">
                          <a:solidFill>
                            <a:srgbClr val="3D4C5A"/>
                          </a:solidFill>
                          <a:latin typeface="IBM Plex Sans Arabic" pitchFamily="34" charset="0"/>
                          <a:cs typeface="IBM Plex Sans Arabic"/>
                        </a:rPr>
                        <a:t> رحلة</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en-US" altLang="en-US" sz="1350" dirty="0">
                          <a:solidFill>
                            <a:srgbClr val="3D4C5A"/>
                          </a:solidFill>
                          <a:latin typeface="IBM Plex Sans Arabic" pitchFamily="34" charset="0"/>
                          <a:cs typeface="IBM Plex Sans Arabic"/>
                        </a:rPr>
                        <a:t>‎295.0‎</a:t>
                      </a:r>
                      <a:r>
                        <a:rPr lang="ar-SA" altLang="en-US" sz="1350" dirty="0">
                          <a:solidFill>
                            <a:srgbClr val="3D4C5A"/>
                          </a:solidFill>
                          <a:latin typeface="IBM Plex Sans Arabic" pitchFamily="34" charset="0"/>
                          <a:cs typeface="IBM Plex Sans Arabic"/>
                        </a:rPr>
                        <a:t> دقيقة · </a:t>
                      </a:r>
                      <a:r>
                        <a:rPr lang="en-US" altLang="en-US" sz="1350" dirty="0">
                          <a:solidFill>
                            <a:srgbClr val="3D4C5A"/>
                          </a:solidFill>
                          <a:latin typeface="IBM Plex Sans Arabic" pitchFamily="34" charset="0"/>
                          <a:cs typeface="IBM Plex Sans Arabic"/>
                        </a:rPr>
                        <a:t>‎10‎</a:t>
                      </a:r>
                      <a:r>
                        <a:rPr lang="ar-SA" altLang="en-US" sz="1350" dirty="0">
                          <a:solidFill>
                            <a:srgbClr val="3D4C5A"/>
                          </a:solidFill>
                          <a:latin typeface="IBM Plex Sans Arabic" pitchFamily="34" charset="0"/>
                          <a:cs typeface="IBM Plex Sans Arabic"/>
                        </a:rPr>
                        <a:t> رحلات</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البيانات المسجّلة</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r h="457200">
                <a:tc>
                  <a:txBody>
                    <a:bodyPr/>
                    <a:lstStyle/>
                    <a:p>
                      <a:pPr algn="r" indent="0" marL="0" rtl="1">
                        <a:buNone/>
                      </a:pPr>
                      <a:r>
                        <a:rPr lang="ar-SA" altLang="en-US" sz="1350" dirty="0">
                          <a:solidFill>
                            <a:srgbClr val="3D4C5A"/>
                          </a:solidFill>
                          <a:latin typeface="IBM Plex Sans Arabic" pitchFamily="34" charset="0"/>
                          <a:cs typeface="IBM Plex Sans Arabic"/>
                        </a:rPr>
                        <a:t>تصحيحان متعاكسان</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a:buNone/>
                      </a:pPr>
                      <a:r>
                        <a:rPr lang="en-US" altLang="en-US" sz="1350" dirty="0">
                          <a:solidFill>
                            <a:srgbClr val="3D4C5A"/>
                          </a:solidFill>
                          <a:latin typeface="IBM Plex Sans Arabic" pitchFamily="34" charset="0"/>
                          <a:cs typeface="IBM Plex Sans Arabic"/>
                        </a:rPr>
                        <a:t>‎883 °C‎</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a:buNone/>
                      </a:pPr>
                      <a:r>
                        <a:rPr lang="en-US" altLang="en-US" sz="1350" dirty="0">
                          <a:solidFill>
                            <a:srgbClr val="3D4C5A"/>
                          </a:solidFill>
                          <a:latin typeface="IBM Plex Sans Arabic" pitchFamily="34" charset="0"/>
                          <a:cs typeface="IBM Plex Sans Arabic"/>
                        </a:rPr>
                        <a:t>‎884 °C‎</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أعلى حرارة على صعود الاختبار</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r>
              <a:tr h="457200">
                <a:tc>
                  <a:txBody>
                    <a:bodyPr/>
                    <a:lstStyle/>
                    <a:p>
                      <a:pPr algn="r" indent="0" marL="0" rtl="1">
                        <a:buNone/>
                      </a:pPr>
                      <a:r>
                        <a:rPr lang="ar-SA" altLang="en-US" sz="1350" dirty="0">
                          <a:solidFill>
                            <a:srgbClr val="3D4C5A"/>
                          </a:solidFill>
                          <a:latin typeface="IBM Plex Sans Arabic" pitchFamily="34" charset="0"/>
                          <a:cs typeface="IBM Plex Sans Arabic"/>
                        </a:rPr>
                        <a:t>تدفّق العادم صُحّح</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a:buNone/>
                      </a:pPr>
                      <a:r>
                        <a:rPr lang="en-US" altLang="en-US" sz="1350" dirty="0">
                          <a:solidFill>
                            <a:srgbClr val="3D4C5A"/>
                          </a:solidFill>
                          <a:latin typeface="IBM Plex Sans Arabic" pitchFamily="34" charset="0"/>
                          <a:cs typeface="IBM Plex Sans Arabic"/>
                        </a:rPr>
                        <a:t>‎43.4%‎</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a:buNone/>
                      </a:pPr>
                      <a:r>
                        <a:rPr lang="en-US" altLang="en-US" sz="1350" dirty="0">
                          <a:solidFill>
                            <a:srgbClr val="3D4C5A"/>
                          </a:solidFill>
                          <a:latin typeface="IBM Plex Sans Arabic" pitchFamily="34" charset="0"/>
                          <a:cs typeface="IBM Plex Sans Arabic"/>
                        </a:rPr>
                        <a:t>‎34.0%‎</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ما تخفضه الحماية من الضرر</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r h="457200">
                <a:tc>
                  <a:txBody>
                    <a:bodyPr/>
                    <a:lstStyle/>
                    <a:p>
                      <a:pPr algn="r" indent="0" marL="0" rtl="1">
                        <a:buNone/>
                      </a:pPr>
                      <a:r>
                        <a:rPr lang="ar-SA" altLang="en-US" sz="1350" dirty="0">
                          <a:solidFill>
                            <a:srgbClr val="3D4C5A"/>
                          </a:solidFill>
                          <a:latin typeface="IBM Plex Sans Arabic" pitchFamily="34" charset="0"/>
                          <a:cs typeface="IBM Plex Sans Arabic"/>
                        </a:rPr>
                        <a:t>تدفّق العادم صُحّح</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a:buNone/>
                      </a:pPr>
                      <a:r>
                        <a:rPr lang="en-US" altLang="en-US" sz="1350" dirty="0">
                          <a:solidFill>
                            <a:srgbClr val="3D4C5A"/>
                          </a:solidFill>
                          <a:latin typeface="IBM Plex Sans Arabic" pitchFamily="34" charset="0"/>
                          <a:cs typeface="IBM Plex Sans Arabic"/>
                        </a:rPr>
                        <a:t>‎873.1 °C‎</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a:buNone/>
                      </a:pPr>
                      <a:r>
                        <a:rPr lang="en-US" altLang="en-US" sz="1350" dirty="0">
                          <a:solidFill>
                            <a:srgbClr val="3D4C5A"/>
                          </a:solidFill>
                          <a:latin typeface="IBM Plex Sans Arabic" pitchFamily="34" charset="0"/>
                          <a:cs typeface="IBM Plex Sans Arabic"/>
                        </a:rPr>
                        <a:t>‎890.6 °C‎</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أعلى حرارة مقدّرة في رحلة </a:t>
                      </a:r>
                      <a:r>
                        <a:rPr lang="en-US" altLang="en-US" sz="1350" b="1" dirty="0">
                          <a:solidFill>
                            <a:srgbClr val="16202B"/>
                          </a:solidFill>
                          <a:latin typeface="IBM Plex Sans Arabic" pitchFamily="34" charset="0"/>
                          <a:cs typeface="IBM Plex Sans Arabic"/>
                        </a:rPr>
                        <a:t>‎7475b5d7‎</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r>
              <a:tr h="457200">
                <a:tc>
                  <a:txBody>
                    <a:bodyPr/>
                    <a:lstStyle/>
                    <a:p>
                      <a:pPr algn="r" indent="0" marL="0" rtl="1">
                        <a:buNone/>
                      </a:pPr>
                      <a:r>
                        <a:rPr lang="ar-SA" altLang="en-US" sz="1350" dirty="0">
                          <a:solidFill>
                            <a:srgbClr val="3D4C5A"/>
                          </a:solidFill>
                          <a:latin typeface="IBM Plex Sans Arabic" pitchFamily="34" charset="0"/>
                          <a:cs typeface="IBM Plex Sans Arabic"/>
                        </a:rPr>
                        <a:t>وكلّه ثانية الطَّرق</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dirty="0">
                          <a:solidFill>
                            <a:srgbClr val="3D4C5A"/>
                          </a:solidFill>
                          <a:latin typeface="IBM Plex Sans Arabic" pitchFamily="34" charset="0"/>
                          <a:cs typeface="IBM Plex Sans Arabic"/>
                        </a:rPr>
                        <a:t>ناقص </a:t>
                      </a:r>
                      <a:r>
                        <a:rPr lang="en-US" altLang="en-US" sz="1350" dirty="0">
                          <a:solidFill>
                            <a:srgbClr val="3D4C5A"/>
                          </a:solidFill>
                          <a:latin typeface="IBM Plex Sans Arabic" pitchFamily="34" charset="0"/>
                          <a:cs typeface="IBM Plex Sans Arabic"/>
                        </a:rPr>
                        <a:t>‎0.3‎</a:t>
                      </a:r>
                      <a:r>
                        <a:rPr lang="ar-SA" altLang="en-US" sz="1350" dirty="0">
                          <a:solidFill>
                            <a:srgbClr val="3D4C5A"/>
                          </a:solidFill>
                          <a:latin typeface="IBM Plex Sans Arabic" pitchFamily="34" charset="0"/>
                          <a:cs typeface="IBM Plex Sans Arabic"/>
                        </a:rPr>
                        <a:t> نقطة</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dirty="0">
                          <a:solidFill>
                            <a:srgbClr val="3D4C5A"/>
                          </a:solidFill>
                          <a:latin typeface="IBM Plex Sans Arabic" pitchFamily="34" charset="0"/>
                          <a:cs typeface="IBM Plex Sans Arabic"/>
                        </a:rPr>
                        <a:t>ناقص </a:t>
                      </a:r>
                      <a:r>
                        <a:rPr lang="en-US" altLang="en-US" sz="1350" dirty="0">
                          <a:solidFill>
                            <a:srgbClr val="3D4C5A"/>
                          </a:solidFill>
                          <a:latin typeface="IBM Plex Sans Arabic" pitchFamily="34" charset="0"/>
                          <a:cs typeface="IBM Plex Sans Arabic"/>
                        </a:rPr>
                        <a:t>‎0.4‎</a:t>
                      </a:r>
                      <a:r>
                        <a:rPr lang="ar-SA" altLang="en-US" sz="1350" dirty="0">
                          <a:solidFill>
                            <a:srgbClr val="3D4C5A"/>
                          </a:solidFill>
                          <a:latin typeface="IBM Plex Sans Arabic" pitchFamily="34" charset="0"/>
                          <a:cs typeface="IBM Plex Sans Arabic"/>
                        </a:rPr>
                        <a:t> نقطة</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الاستشراف اليدوي مقابل «الميل الحالي»</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FFFFF"/>
                    </a:solidFill>
                  </a:tcPr>
                </a:tc>
              </a:tr>
              <a:tr h="457200">
                <a:tc>
                  <a:txBody>
                    <a:bodyPr/>
                    <a:lstStyle/>
                    <a:p>
                      <a:pPr algn="r" indent="0" marL="0" rtl="1">
                        <a:buNone/>
                      </a:pPr>
                      <a:r>
                        <a:rPr lang="ar-SA" altLang="en-US" sz="1350" dirty="0">
                          <a:solidFill>
                            <a:srgbClr val="3D4C5A"/>
                          </a:solidFill>
                          <a:latin typeface="IBM Plex Sans Arabic" pitchFamily="34" charset="0"/>
                          <a:cs typeface="IBM Plex Sans Arabic"/>
                        </a:rPr>
                        <a:t>لكن </a:t>
                      </a:r>
                      <a:r>
                        <a:rPr lang="en-US" altLang="en-US" sz="1350" dirty="0">
                          <a:solidFill>
                            <a:srgbClr val="3D4C5A"/>
                          </a:solidFill>
                          <a:latin typeface="IBM Plex Sans Arabic" pitchFamily="34" charset="0"/>
                          <a:cs typeface="IBM Plex Sans Arabic"/>
                        </a:rPr>
                        <a:t>‎4‎</a:t>
                      </a:r>
                      <a:r>
                        <a:rPr lang="ar-SA" altLang="en-US" sz="1350" dirty="0">
                          <a:solidFill>
                            <a:srgbClr val="3D4C5A"/>
                          </a:solidFill>
                          <a:latin typeface="IBM Plex Sans Arabic" pitchFamily="34" charset="0"/>
                          <a:cs typeface="IBM Plex Sans Arabic"/>
                        </a:rPr>
                        <a:t> صفوف الآن ضد سيارتنا</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en-US" altLang="en-US" sz="1350" dirty="0">
                          <a:solidFill>
                            <a:srgbClr val="3D4C5A"/>
                          </a:solidFill>
                          <a:latin typeface="IBM Plex Sans Arabic" pitchFamily="34" charset="0"/>
                          <a:cs typeface="IBM Plex Sans Arabic"/>
                        </a:rPr>
                        <a:t>‎8‎</a:t>
                      </a:r>
                      <a:r>
                        <a:rPr lang="ar-SA" altLang="en-US" sz="1350" dirty="0">
                          <a:solidFill>
                            <a:srgbClr val="3D4C5A"/>
                          </a:solidFill>
                          <a:latin typeface="IBM Plex Sans Arabic" pitchFamily="34" charset="0"/>
                          <a:cs typeface="IBM Plex Sans Arabic"/>
                        </a:rPr>
                        <a:t> من </a:t>
                      </a:r>
                      <a:r>
                        <a:rPr lang="en-US" altLang="en-US" sz="1350" dirty="0">
                          <a:solidFill>
                            <a:srgbClr val="3D4C5A"/>
                          </a:solidFill>
                          <a:latin typeface="IBM Plex Sans Arabic" pitchFamily="34" charset="0"/>
                          <a:cs typeface="IBM Plex Sans Arabic"/>
                        </a:rPr>
                        <a:t>‎11‎</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en-US" altLang="en-US" sz="1350" dirty="0">
                          <a:solidFill>
                            <a:srgbClr val="3D4C5A"/>
                          </a:solidFill>
                          <a:latin typeface="IBM Plex Sans Arabic" pitchFamily="34" charset="0"/>
                          <a:cs typeface="IBM Plex Sans Arabic"/>
                        </a:rPr>
                        <a:t>‎8‎</a:t>
                      </a:r>
                      <a:r>
                        <a:rPr lang="ar-SA" altLang="en-US" sz="1350" dirty="0">
                          <a:solidFill>
                            <a:srgbClr val="3D4C5A"/>
                          </a:solidFill>
                          <a:latin typeface="IBM Plex Sans Arabic" pitchFamily="34" charset="0"/>
                          <a:cs typeface="IBM Plex Sans Arabic"/>
                        </a:rPr>
                        <a:t> من </a:t>
                      </a:r>
                      <a:r>
                        <a:rPr lang="en-US" altLang="en-US" sz="1350" dirty="0">
                          <a:solidFill>
                            <a:srgbClr val="3D4C5A"/>
                          </a:solidFill>
                          <a:latin typeface="IBM Plex Sans Arabic" pitchFamily="34" charset="0"/>
                          <a:cs typeface="IBM Plex Sans Arabic"/>
                        </a:rPr>
                        <a:t>‎11‎</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c>
                  <a:txBody>
                    <a:bodyPr/>
                    <a:lstStyle/>
                    <a:p>
                      <a:pPr algn="r" indent="0" marL="0" rtl="1">
                        <a:buNone/>
                      </a:pPr>
                      <a:r>
                        <a:rPr lang="ar-SA" altLang="en-US" sz="1350" b="1" dirty="0">
                          <a:solidFill>
                            <a:srgbClr val="16202B"/>
                          </a:solidFill>
                          <a:latin typeface="IBM Plex Sans Arabic" pitchFamily="34" charset="0"/>
                          <a:cs typeface="IBM Plex Sans Arabic"/>
                        </a:rPr>
                        <a:t>التحقّق</a:t>
                      </a:r>
                      <a:endParaRPr lang="en-US" sz="1350" dirty="0">
                        <a:latin typeface="IBM Plex Sans Arabic" charset="0"/>
                        <a:ea typeface="IBM Plex Sans Arabic" charset="0"/>
                        <a:cs typeface="IBM Plex Sans Arabic" charset="0"/>
                      </a:endParaRPr>
                    </a:p>
                  </a:txBody>
                  <a:tcPr marL="91440" marR="91440" marT="54864" marB="54864" anchor="ctr">
                    <a:lnL w="9525" cap="flat" cmpd="sng" algn="ctr">
                      <a:solidFill>
                        <a:srgbClr val="CCCED0"/>
                      </a:solidFill>
                      <a:prstDash val="solid"/>
                      <a:round/>
                      <a:headEnd type="none" w="med" len="med"/>
                      <a:tailEnd type="none" w="med" len="med"/>
                    </a:lnL>
                    <a:lnR w="9525" cap="flat" cmpd="sng" algn="ctr">
                      <a:solidFill>
                        <a:srgbClr val="CCCED0"/>
                      </a:solidFill>
                      <a:prstDash val="solid"/>
                      <a:round/>
                      <a:headEnd type="none" w="med" len="med"/>
                      <a:tailEnd type="none" w="med" len="med"/>
                    </a:lnR>
                    <a:lnT w="9525" cap="flat" cmpd="sng" algn="ctr">
                      <a:solidFill>
                        <a:srgbClr val="CCCED0"/>
                      </a:solidFill>
                      <a:prstDash val="solid"/>
                      <a:round/>
                      <a:headEnd type="none" w="med" len="med"/>
                      <a:tailEnd type="none" w="med" len="med"/>
                    </a:lnT>
                    <a:lnB w="9525" cap="flat" cmpd="sng" algn="ctr">
                      <a:solidFill>
                        <a:srgbClr val="CCCED0"/>
                      </a:solidFill>
                      <a:prstDash val="solid"/>
                      <a:round/>
                      <a:headEnd type="none" w="med" len="med"/>
                      <a:tailEnd type="none" w="med" len="med"/>
                    </a:lnB>
                    <a:solidFill>
                      <a:srgbClr val="F2F4F6"/>
                    </a:solidFill>
                  </a:tcPr>
                </a:tc>
              </a:tr>
            </a:tbl>
          </a:graphicData>
        </a:graphic>
      </p:graphicFrame>
      <p:sp>
        <p:nvSpPr>
          <p:cNvPr id="5" name="Text 2"/>
          <p:cNvSpPr txBox="1"/>
          <p:nvPr/>
        </p:nvSpPr>
        <p:spPr>
          <a:xfrm>
            <a:off x="813816" y="5120640"/>
            <a:ext cx="10561320" cy="54864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5D6E7D"/>
                </a:solidFill>
                <a:latin typeface="IBM Plex Sans Arabic" pitchFamily="34" charset="0"/>
                <a:cs typeface="IBM Plex Sans Arabic"/>
              </a:rPr>
              <a:t>نسبة </a:t>
            </a:r>
            <a:r>
              <a:rPr lang="en-US" altLang="en-US" sz="1350" dirty="0">
                <a:solidFill>
                  <a:srgbClr val="5D6E7D"/>
                </a:solidFill>
                <a:latin typeface="IBM Plex Sans Arabic" pitchFamily="34" charset="0"/>
                <a:cs typeface="IBM Plex Sans Arabic"/>
              </a:rPr>
              <a:t>‎0.206%‎</a:t>
            </a:r>
            <a:r>
              <a:rPr lang="ar-SA" altLang="en-US" sz="1350" dirty="0">
                <a:solidFill>
                  <a:srgbClr val="5D6E7D"/>
                </a:solidFill>
                <a:latin typeface="IBM Plex Sans Arabic" pitchFamily="34" charset="0"/>
                <a:cs typeface="IBM Plex Sans Arabic"/>
              </a:rPr>
              <a:t> — أي </a:t>
            </a:r>
            <a:r>
              <a:rPr lang="en-US" altLang="en-US" sz="1350" dirty="0">
                <a:solidFill>
                  <a:srgbClr val="5D6E7D"/>
                </a:solidFill>
                <a:latin typeface="IBM Plex Sans Arabic" pitchFamily="34" charset="0"/>
                <a:cs typeface="IBM Plex Sans Arabic"/>
              </a:rPr>
              <a:t>‎36‎</a:t>
            </a:r>
            <a:r>
              <a:rPr lang="ar-SA" altLang="en-US" sz="1350" dirty="0">
                <a:solidFill>
                  <a:srgbClr val="5D6E7D"/>
                </a:solidFill>
                <a:latin typeface="IBM Plex Sans Arabic" pitchFamily="34" charset="0"/>
                <a:cs typeface="IBM Plex Sans Arabic"/>
              </a:rPr>
              <a:t> ثانية فوق الحدّ — لم نُعِد قياسها بعد على الفيزياء المصحّحة. وكل رقم هنا سيتحرّك مرة أخرى بعد علاج العيبين.</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6"/>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2F6FA8"/>
                </a:solidFill>
                <a:latin typeface="IBM Plex Sans Arabic" pitchFamily="34" charset="0"/>
                <a:cs typeface="IBM Plex Sans Arabic"/>
              </a:rPr>
              <a:t>أدوات بنيناها</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أدوات تجعل الخطأ يظهر بدل أن يختبئ</a:t>
            </a:r>
            <a:endParaRPr lang="en-US" sz="3000" dirty="0"/>
          </a:p>
        </p:txBody>
      </p:sp>
      <p:sp>
        <p:nvSpPr>
          <p:cNvPr id="4" name="Shape 2"/>
          <p:cNvSpPr/>
          <p:nvPr/>
        </p:nvSpPr>
        <p:spPr>
          <a:xfrm>
            <a:off x="7964424" y="1691640"/>
            <a:ext cx="3410712" cy="3063240"/>
          </a:xfrm>
          <a:prstGeom prst="roundRect">
            <a:avLst>
              <a:gd name="adj" fmla="val 2388"/>
            </a:avLst>
          </a:prstGeom>
          <a:solidFill>
            <a:srgbClr val="FFFFFF"/>
          </a:solidFill>
          <a:ln w="9525">
            <a:solidFill>
              <a:srgbClr val="D4DCE3"/>
            </a:solidFill>
            <a:prstDash val="solid"/>
          </a:ln>
        </p:spPr>
      </p:sp>
      <p:sp>
        <p:nvSpPr>
          <p:cNvPr id="5" name="Text 3"/>
          <p:cNvSpPr txBox="1"/>
          <p:nvPr/>
        </p:nvSpPr>
        <p:spPr>
          <a:xfrm>
            <a:off x="8165592" y="1911096"/>
            <a:ext cx="3008376" cy="566928"/>
          </a:xfrm>
          <a:prstGeom prst="rect">
            <a:avLst/>
          </a:prstGeom>
          <a:noFill/>
          <a:ln/>
        </p:spPr>
        <p:txBody>
          <a:bodyPr wrap="square" lIns="0" tIns="0" rIns="0" bIns="0" rtlCol="0" anchor="t"/>
          <a:lstStyle/>
          <a:p>
            <a:pPr algn="r" indent="0" marL="0" rtl="1">
              <a:lnSpc>
                <a:spcPct val="120000"/>
              </a:lnSpc>
              <a:buNone/>
            </a:pPr>
            <a:r>
              <a:rPr lang="ar-SA" altLang="en-US" sz="1650" b="1" dirty="0">
                <a:solidFill>
                  <a:srgbClr val="16202B"/>
                </a:solidFill>
                <a:latin typeface="IBM Plex Sans Arabic" pitchFamily="34" charset="0"/>
                <a:cs typeface="IBM Plex Sans Arabic"/>
              </a:rPr>
              <a:t>معمل إعادة الرحلات ثلاثي الأبعاد</a:t>
            </a:r>
            <a:endParaRPr lang="en-US" sz="1650" dirty="0"/>
          </a:p>
        </p:txBody>
      </p:sp>
      <p:sp>
        <p:nvSpPr>
          <p:cNvPr id="6" name="Text 4"/>
          <p:cNvSpPr txBox="1"/>
          <p:nvPr/>
        </p:nvSpPr>
        <p:spPr>
          <a:xfrm>
            <a:off x="8165592" y="2514600"/>
            <a:ext cx="3008376" cy="96012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16202B"/>
                </a:solidFill>
                <a:latin typeface="IBM Plex Sans Arabic" pitchFamily="34" charset="0"/>
                <a:cs typeface="IBM Plex Sans Arabic"/>
              </a:rPr>
              <a:t>يعيد رحلاتنا المسجّلة في المتصفح: الغيارات الثمانية، ومنحنيات الحرارة، وقيمة </a:t>
            </a:r>
            <a:r>
              <a:rPr lang="en-US" altLang="en-US" sz="1350" dirty="0">
                <a:solidFill>
                  <a:srgbClr val="16202B"/>
                </a:solidFill>
                <a:latin typeface="IBM Plex Sans Arabic" pitchFamily="34" charset="0"/>
                <a:cs typeface="IBM Plex Sans Arabic"/>
              </a:rPr>
              <a:t>‎H/τ‎</a:t>
            </a:r>
            <a:r>
              <a:rPr lang="ar-SA" altLang="en-US" sz="1350" dirty="0">
                <a:solidFill>
                  <a:srgbClr val="16202B"/>
                </a:solidFill>
                <a:latin typeface="IBM Plex Sans Arabic" pitchFamily="34" charset="0"/>
                <a:cs typeface="IBM Plex Sans Arabic"/>
              </a:rPr>
              <a:t> لحظة بلحظة.</a:t>
            </a:r>
            <a:endParaRPr lang="en-US" sz="1350" dirty="0"/>
          </a:p>
        </p:txBody>
      </p:sp>
      <p:sp>
        <p:nvSpPr>
          <p:cNvPr id="7" name="Text 5"/>
          <p:cNvSpPr txBox="1"/>
          <p:nvPr/>
        </p:nvSpPr>
        <p:spPr>
          <a:xfrm>
            <a:off x="8165592" y="3520440"/>
            <a:ext cx="3008376" cy="114300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وأثناء بنائه وجدنا خامس قناة في هذه السيارة لا يطابق اسمها ما تقيسه: قناة «الغيار الداخلي» ثابتة على </a:t>
            </a:r>
            <a:r>
              <a:rPr lang="en-US" altLang="en-US" sz="1300" dirty="0">
                <a:solidFill>
                  <a:srgbClr val="5D6E7D"/>
                </a:solidFill>
                <a:latin typeface="IBM Plex Sans Arabic" pitchFamily="34" charset="0"/>
                <a:cs typeface="IBM Plex Sans Arabic"/>
              </a:rPr>
              <a:t>‎8‎</a:t>
            </a:r>
            <a:r>
              <a:rPr lang="ar-SA" altLang="en-US" sz="1300" dirty="0">
                <a:solidFill>
                  <a:srgbClr val="5D6E7D"/>
                </a:solidFill>
                <a:latin typeface="IBM Plex Sans Arabic" pitchFamily="34" charset="0"/>
                <a:cs typeface="IBM Plex Sans Arabic"/>
              </a:rPr>
              <a:t>، فظهر الغيار الثامن «مقيساً» في </a:t>
            </a:r>
            <a:r>
              <a:rPr lang="en-US" altLang="en-US" sz="1300" dirty="0">
                <a:solidFill>
                  <a:srgbClr val="5D6E7D"/>
                </a:solidFill>
                <a:latin typeface="IBM Plex Sans Arabic" pitchFamily="34" charset="0"/>
                <a:cs typeface="IBM Plex Sans Arabic"/>
              </a:rPr>
              <a:t>‎62%‎</a:t>
            </a:r>
            <a:r>
              <a:rPr lang="ar-SA" altLang="en-US" sz="1300" dirty="0">
                <a:solidFill>
                  <a:srgbClr val="5D6E7D"/>
                </a:solidFill>
                <a:latin typeface="IBM Plex Sans Arabic" pitchFamily="34" charset="0"/>
                <a:cs typeface="IBM Plex Sans Arabic"/>
              </a:rPr>
              <a:t> من إحدى الرحلات.</a:t>
            </a:r>
            <a:endParaRPr lang="en-US" sz="1300" dirty="0"/>
          </a:p>
        </p:txBody>
      </p:sp>
      <p:sp>
        <p:nvSpPr>
          <p:cNvPr id="8" name="Shape 6"/>
          <p:cNvSpPr/>
          <p:nvPr/>
        </p:nvSpPr>
        <p:spPr>
          <a:xfrm>
            <a:off x="4389120" y="1691640"/>
            <a:ext cx="3410712" cy="3063240"/>
          </a:xfrm>
          <a:prstGeom prst="roundRect">
            <a:avLst>
              <a:gd name="adj" fmla="val 2388"/>
            </a:avLst>
          </a:prstGeom>
          <a:solidFill>
            <a:srgbClr val="FFFFFF"/>
          </a:solidFill>
          <a:ln w="9525">
            <a:solidFill>
              <a:srgbClr val="D4DCE3"/>
            </a:solidFill>
            <a:prstDash val="solid"/>
          </a:ln>
        </p:spPr>
      </p:sp>
      <p:sp>
        <p:nvSpPr>
          <p:cNvPr id="9" name="Text 7"/>
          <p:cNvSpPr txBox="1"/>
          <p:nvPr/>
        </p:nvSpPr>
        <p:spPr>
          <a:xfrm>
            <a:off x="4590288" y="1911096"/>
            <a:ext cx="3008376" cy="566928"/>
          </a:xfrm>
          <a:prstGeom prst="rect">
            <a:avLst/>
          </a:prstGeom>
          <a:noFill/>
          <a:ln/>
        </p:spPr>
        <p:txBody>
          <a:bodyPr wrap="square" lIns="0" tIns="0" rIns="0" bIns="0" rtlCol="0" anchor="t"/>
          <a:lstStyle/>
          <a:p>
            <a:pPr algn="r" indent="0" marL="0" rtl="1">
              <a:lnSpc>
                <a:spcPct val="120000"/>
              </a:lnSpc>
              <a:buNone/>
            </a:pPr>
            <a:r>
              <a:rPr lang="ar-SA" altLang="en-US" sz="1650" b="1" dirty="0">
                <a:solidFill>
                  <a:srgbClr val="16202B"/>
                </a:solidFill>
                <a:latin typeface="IBM Plex Sans Arabic" pitchFamily="34" charset="0"/>
                <a:cs typeface="IBM Plex Sans Arabic"/>
              </a:rPr>
              <a:t>حارس المستندات</a:t>
            </a:r>
            <a:endParaRPr lang="en-US" sz="1650" dirty="0"/>
          </a:p>
        </p:txBody>
      </p:sp>
      <p:sp>
        <p:nvSpPr>
          <p:cNvPr id="10" name="Text 8"/>
          <p:cNvSpPr txBox="1"/>
          <p:nvPr/>
        </p:nvSpPr>
        <p:spPr>
          <a:xfrm>
            <a:off x="4590288" y="2514600"/>
            <a:ext cx="3008376" cy="96012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16202B"/>
                </a:solidFill>
                <a:latin typeface="IBM Plex Sans Arabic" pitchFamily="34" charset="0"/>
                <a:cs typeface="IBM Plex Sans Arabic"/>
              </a:rPr>
              <a:t>سكربت يعيد حساب كل رقم منشور ويقارنه بما في المستندات، ويفشل باسم الملف والسطر.</a:t>
            </a:r>
            <a:endParaRPr lang="en-US" sz="1350" dirty="0"/>
          </a:p>
        </p:txBody>
      </p:sp>
      <p:sp>
        <p:nvSpPr>
          <p:cNvPr id="11" name="Text 9"/>
          <p:cNvSpPr txBox="1"/>
          <p:nvPr/>
        </p:nvSpPr>
        <p:spPr>
          <a:xfrm>
            <a:off x="4590288" y="3520440"/>
            <a:ext cx="3008376" cy="1143000"/>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نظّفنا </a:t>
            </a:r>
            <a:r>
              <a:rPr lang="en-US" altLang="en-US" sz="1300" dirty="0">
                <a:solidFill>
                  <a:srgbClr val="5D6E7D"/>
                </a:solidFill>
                <a:latin typeface="IBM Plex Sans Arabic" pitchFamily="34" charset="0"/>
                <a:cs typeface="IBM Plex Sans Arabic"/>
              </a:rPr>
              <a:t>‎187‎</a:t>
            </a:r>
            <a:r>
              <a:rPr lang="ar-SA" altLang="en-US" sz="1300" dirty="0">
                <a:solidFill>
                  <a:srgbClr val="5D6E7D"/>
                </a:solidFill>
                <a:latin typeface="IBM Plex Sans Arabic" pitchFamily="34" charset="0"/>
                <a:cs typeface="IBM Plex Sans Arabic"/>
              </a:rPr>
              <a:t> إشارة قديمة إلى صفر. الآن </a:t>
            </a:r>
            <a:r>
              <a:rPr lang="en-US" altLang="en-US" sz="1300" dirty="0">
                <a:solidFill>
                  <a:srgbClr val="5D6E7D"/>
                </a:solidFill>
                <a:latin typeface="IBM Plex Sans Arabic" pitchFamily="34" charset="0"/>
                <a:cs typeface="IBM Plex Sans Arabic"/>
              </a:rPr>
              <a:t>‎73‎</a:t>
            </a:r>
            <a:r>
              <a:rPr lang="ar-SA" altLang="en-US" sz="1300" dirty="0">
                <a:solidFill>
                  <a:srgbClr val="5D6E7D"/>
                </a:solidFill>
                <a:latin typeface="IBM Plex Sans Arabic" pitchFamily="34" charset="0"/>
                <a:cs typeface="IBM Plex Sans Arabic"/>
              </a:rPr>
              <a:t> فحصاً و </a:t>
            </a:r>
            <a:r>
              <a:rPr lang="en-US" altLang="en-US" sz="1300" dirty="0">
                <a:solidFill>
                  <a:srgbClr val="5D6E7D"/>
                </a:solidFill>
                <a:latin typeface="IBM Plex Sans Arabic" pitchFamily="34" charset="0"/>
                <a:cs typeface="IBM Plex Sans Arabic"/>
              </a:rPr>
              <a:t>‎837‎</a:t>
            </a:r>
            <a:r>
              <a:rPr lang="ar-SA" altLang="en-US" sz="1300" dirty="0">
                <a:solidFill>
                  <a:srgbClr val="5D6E7D"/>
                </a:solidFill>
                <a:latin typeface="IBM Plex Sans Arabic" pitchFamily="34" charset="0"/>
                <a:cs typeface="IBM Plex Sans Arabic"/>
              </a:rPr>
              <a:t> إشارة رقمية تمرّ كلها، واختباره الذاتي يكشف </a:t>
            </a:r>
            <a:r>
              <a:rPr lang="en-US" altLang="en-US" sz="1300" dirty="0">
                <a:solidFill>
                  <a:srgbClr val="5D6E7D"/>
                </a:solidFill>
                <a:latin typeface="IBM Plex Sans Arabic" pitchFamily="34" charset="0"/>
                <a:cs typeface="IBM Plex Sans Arabic"/>
              </a:rPr>
              <a:t>‎16‎</a:t>
            </a:r>
            <a:r>
              <a:rPr lang="ar-SA" altLang="en-US" sz="1300" dirty="0">
                <a:solidFill>
                  <a:srgbClr val="5D6E7D"/>
                </a:solidFill>
                <a:latin typeface="IBM Plex Sans Arabic" pitchFamily="34" charset="0"/>
                <a:cs typeface="IBM Plex Sans Arabic"/>
              </a:rPr>
              <a:t> من </a:t>
            </a:r>
            <a:r>
              <a:rPr lang="en-US" altLang="en-US" sz="1300" dirty="0">
                <a:solidFill>
                  <a:srgbClr val="5D6E7D"/>
                </a:solidFill>
                <a:latin typeface="IBM Plex Sans Arabic" pitchFamily="34" charset="0"/>
                <a:cs typeface="IBM Plex Sans Arabic"/>
              </a:rPr>
              <a:t>‎16‎</a:t>
            </a:r>
            <a:r>
              <a:rPr lang="ar-SA" altLang="en-US" sz="1300" dirty="0">
                <a:solidFill>
                  <a:srgbClr val="5D6E7D"/>
                </a:solidFill>
                <a:latin typeface="IBM Plex Sans Arabic" pitchFamily="34" charset="0"/>
                <a:cs typeface="IBM Plex Sans Arabic"/>
              </a:rPr>
              <a:t> خطأً مزروعاً.</a:t>
            </a:r>
            <a:endParaRPr lang="en-US" sz="1300" dirty="0"/>
          </a:p>
        </p:txBody>
      </p:sp>
      <p:sp>
        <p:nvSpPr>
          <p:cNvPr id="12" name="Shape 10"/>
          <p:cNvSpPr/>
          <p:nvPr/>
        </p:nvSpPr>
        <p:spPr>
          <a:xfrm>
            <a:off x="813816" y="1691640"/>
            <a:ext cx="3410712" cy="3063240"/>
          </a:xfrm>
          <a:prstGeom prst="roundRect">
            <a:avLst>
              <a:gd name="adj" fmla="val 2388"/>
            </a:avLst>
          </a:prstGeom>
          <a:solidFill>
            <a:srgbClr val="FFFFFF"/>
          </a:solidFill>
          <a:ln w="9525">
            <a:solidFill>
              <a:srgbClr val="D4DCE3"/>
            </a:solidFill>
            <a:prstDash val="solid"/>
          </a:ln>
        </p:spPr>
      </p:sp>
      <p:sp>
        <p:nvSpPr>
          <p:cNvPr id="13" name="Text 11"/>
          <p:cNvSpPr txBox="1"/>
          <p:nvPr/>
        </p:nvSpPr>
        <p:spPr>
          <a:xfrm>
            <a:off x="1014984" y="1911096"/>
            <a:ext cx="3008376" cy="566928"/>
          </a:xfrm>
          <a:prstGeom prst="rect">
            <a:avLst/>
          </a:prstGeom>
          <a:noFill/>
          <a:ln/>
        </p:spPr>
        <p:txBody>
          <a:bodyPr wrap="square" lIns="0" tIns="0" rIns="0" bIns="0" rtlCol="0" anchor="t"/>
          <a:lstStyle/>
          <a:p>
            <a:pPr algn="r" indent="0" marL="0" rtl="1">
              <a:lnSpc>
                <a:spcPct val="120000"/>
              </a:lnSpc>
              <a:buNone/>
            </a:pPr>
            <a:r>
              <a:rPr lang="ar-SA" altLang="en-US" sz="1650" b="1" dirty="0">
                <a:solidFill>
                  <a:srgbClr val="16202B"/>
                </a:solidFill>
                <a:latin typeface="IBM Plex Sans Arabic" pitchFamily="34" charset="0"/>
                <a:cs typeface="IBM Plex Sans Arabic"/>
              </a:rPr>
              <a:t>دمج عمل الفريق</a:t>
            </a:r>
            <a:endParaRPr lang="en-US" sz="1650" dirty="0"/>
          </a:p>
        </p:txBody>
      </p:sp>
      <p:sp>
        <p:nvSpPr>
          <p:cNvPr id="14" name="Text 12"/>
          <p:cNvSpPr txBox="1"/>
          <p:nvPr/>
        </p:nvSpPr>
        <p:spPr>
          <a:xfrm>
            <a:off x="1014984" y="2514600"/>
            <a:ext cx="3008376" cy="960120"/>
          </a:xfrm>
          <a:prstGeom prst="rect">
            <a:avLst/>
          </a:prstGeom>
          <a:noFill/>
          <a:ln/>
        </p:spPr>
        <p:txBody>
          <a:bodyPr wrap="square" lIns="0" tIns="0" rIns="0" bIns="0" rtlCol="0" anchor="t"/>
          <a:lstStyle/>
          <a:p>
            <a:pPr algn="r" indent="0" marL="0" rtl="1">
              <a:lnSpc>
                <a:spcPct val="120000"/>
              </a:lnSpc>
              <a:buNone/>
            </a:pPr>
            <a:r>
              <a:rPr lang="ar-SA" altLang="en-US" sz="1350" dirty="0">
                <a:solidFill>
                  <a:srgbClr val="16202B"/>
                </a:solidFill>
                <a:latin typeface="IBM Plex Sans Arabic" pitchFamily="34" charset="0"/>
                <a:cs typeface="IBM Plex Sans Arabic"/>
              </a:rPr>
              <a:t>فرعا غسان وجاد صارا نسخة واحدة على الفرع الرئيسي.</a:t>
            </a:r>
            <a:endParaRPr lang="en-US" sz="1350" dirty="0"/>
          </a:p>
        </p:txBody>
      </p:sp>
      <p:sp>
        <p:nvSpPr>
          <p:cNvPr id="15" name="Text 13"/>
          <p:cNvSpPr txBox="1"/>
          <p:nvPr/>
        </p:nvSpPr>
        <p:spPr>
          <a:xfrm>
            <a:off x="1014984" y="3520440"/>
            <a:ext cx="3008376" cy="1143000"/>
          </a:xfrm>
          <a:prstGeom prst="rect">
            <a:avLst/>
          </a:prstGeom>
          <a:noFill/>
          <a:ln/>
        </p:spPr>
        <p:txBody>
          <a:bodyPr wrap="square" lIns="0" tIns="0" rIns="0" bIns="0" rtlCol="0" anchor="t"/>
          <a:lstStyle/>
          <a:p>
            <a:pPr algn="r" indent="0" marL="0" rtl="1">
              <a:lnSpc>
                <a:spcPct val="120000"/>
              </a:lnSpc>
              <a:buNone/>
            </a:pPr>
            <a:r>
              <a:rPr lang="en-US" altLang="en-US" sz="1300" dirty="0">
                <a:solidFill>
                  <a:srgbClr val="5D6E7D"/>
                </a:solidFill>
                <a:latin typeface="IBM Plex Sans Arabic" pitchFamily="34" charset="0"/>
                <a:cs typeface="IBM Plex Sans Arabic"/>
              </a:rPr>
              <a:t>‎15‎</a:t>
            </a:r>
            <a:r>
              <a:rPr lang="ar-SA" altLang="en-US" sz="1300" dirty="0">
                <a:solidFill>
                  <a:srgbClr val="5D6E7D"/>
                </a:solidFill>
                <a:latin typeface="IBM Plex Sans Arabic" pitchFamily="34" charset="0"/>
                <a:cs typeface="IBM Plex Sans Arabic"/>
              </a:rPr>
              <a:t> ملفاً متعارضاً و </a:t>
            </a:r>
            <a:r>
              <a:rPr lang="en-US" altLang="en-US" sz="1300" dirty="0">
                <a:solidFill>
                  <a:srgbClr val="5D6E7D"/>
                </a:solidFill>
                <a:latin typeface="IBM Plex Sans Arabic" pitchFamily="34" charset="0"/>
                <a:cs typeface="IBM Plex Sans Arabic"/>
              </a:rPr>
              <a:t>‎91‎</a:t>
            </a:r>
            <a:r>
              <a:rPr lang="ar-SA" altLang="en-US" sz="1300" dirty="0">
                <a:solidFill>
                  <a:srgbClr val="5D6E7D"/>
                </a:solidFill>
                <a:latin typeface="IBM Plex Sans Arabic" pitchFamily="34" charset="0"/>
                <a:cs typeface="IBM Plex Sans Arabic"/>
              </a:rPr>
              <a:t> موضعاً، كل قرار مكتوب، ولا ملف محذوف: </a:t>
            </a:r>
            <a:r>
              <a:rPr lang="en-US" altLang="en-US" sz="1300" dirty="0">
                <a:solidFill>
                  <a:srgbClr val="5D6E7D"/>
                </a:solidFill>
                <a:latin typeface="IBM Plex Sans Arabic" pitchFamily="34" charset="0"/>
                <a:cs typeface="IBM Plex Sans Arabic"/>
              </a:rPr>
              <a:t>‎454‎</a:t>
            </a:r>
            <a:r>
              <a:rPr lang="ar-SA" altLang="en-US" sz="1300" dirty="0">
                <a:solidFill>
                  <a:srgbClr val="5D6E7D"/>
                </a:solidFill>
                <a:latin typeface="IBM Plex Sans Arabic" pitchFamily="34" charset="0"/>
                <a:cs typeface="IBM Plex Sans Arabic"/>
              </a:rPr>
              <a:t> من </a:t>
            </a:r>
            <a:r>
              <a:rPr lang="en-US" altLang="en-US" sz="1300" dirty="0">
                <a:solidFill>
                  <a:srgbClr val="5D6E7D"/>
                </a:solidFill>
                <a:latin typeface="IBM Plex Sans Arabic" pitchFamily="34" charset="0"/>
                <a:cs typeface="IBM Plex Sans Arabic"/>
              </a:rPr>
              <a:t>‎454‎</a:t>
            </a:r>
            <a:r>
              <a:rPr lang="ar-SA" altLang="en-US" sz="1300" dirty="0">
                <a:solidFill>
                  <a:srgbClr val="5D6E7D"/>
                </a:solidFill>
                <a:latin typeface="IBM Plex Sans Arabic" pitchFamily="34" charset="0"/>
                <a:cs typeface="IBM Plex Sans Arabic"/>
              </a:rPr>
              <a:t>. القاعدة: فيزياء غسان، وطريقة جاد في التحقّق.</a:t>
            </a:r>
            <a:endParaRPr lang="en-US" sz="1300" dirty="0"/>
          </a:p>
        </p:txBody>
      </p:sp>
      <p:sp>
        <p:nvSpPr>
          <p:cNvPr id="16" name="Text 14"/>
          <p:cNvSpPr txBox="1"/>
          <p:nvPr/>
        </p:nvSpPr>
        <p:spPr>
          <a:xfrm>
            <a:off x="813816" y="5029200"/>
            <a:ext cx="10561320" cy="320040"/>
          </a:xfrm>
          <a:prstGeom prst="rect">
            <a:avLst/>
          </a:prstGeom>
          <a:noFill/>
          <a:ln/>
        </p:spPr>
        <p:txBody>
          <a:bodyPr wrap="square" lIns="0" tIns="0" rIns="0" bIns="0" rtlCol="0" anchor="t"/>
          <a:lstStyle/>
          <a:p>
            <a:pPr algn="r" indent="0" marL="0" rtl="1">
              <a:lnSpc>
                <a:spcPct val="120000"/>
              </a:lnSpc>
              <a:buNone/>
            </a:pPr>
            <a:r>
              <a:rPr lang="ar-SA" altLang="en-US" sz="1400" dirty="0">
                <a:solidFill>
                  <a:srgbClr val="5D6E7D"/>
                </a:solidFill>
                <a:latin typeface="IBM Plex Sans Arabic" pitchFamily="34" charset="0"/>
                <a:cs typeface="IBM Plex Sans Arabic"/>
              </a:rPr>
              <a:t>والتطبيق الحيّ ومعمل الإعادة جاهزان للعرض لو بقي وقت.</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4F6"/>
        </a:solidFill>
      </p:bgPr>
    </p:bg>
    <p:spTree>
      <p:nvGrpSpPr>
        <p:cNvPr id="1" name=""/>
        <p:cNvGrpSpPr/>
        <p:nvPr/>
      </p:nvGrpSpPr>
      <p:grpSpPr>
        <a:xfrm>
          <a:off x="0" y="0"/>
          <a:ext cx="0" cy="0"/>
          <a:chOff x="0" y="0"/>
          <a:chExt cx="0" cy="0"/>
        </a:xfrm>
      </p:grpSpPr>
      <p:sp>
        <p:nvSpPr>
          <p:cNvPr id="2" name="Text 0"/>
          <p:cNvSpPr txBox="1"/>
          <p:nvPr/>
        </p:nvSpPr>
        <p:spPr>
          <a:xfrm>
            <a:off x="493776" y="713232"/>
            <a:ext cx="10881360" cy="274320"/>
          </a:xfrm>
          <a:prstGeom prst="rect">
            <a:avLst/>
          </a:prstGeom>
          <a:noFill/>
          <a:ln/>
        </p:spPr>
        <p:txBody>
          <a:bodyPr wrap="square" lIns="0" tIns="0" rIns="0" bIns="0" rtlCol="0" anchor="t"/>
          <a:lstStyle/>
          <a:p>
            <a:pPr algn="r" indent="0" marL="0" rtl="1">
              <a:lnSpc>
                <a:spcPct val="120000"/>
              </a:lnSpc>
              <a:buNone/>
            </a:pPr>
            <a:r>
              <a:rPr lang="ar-SA" altLang="en-US" sz="1300" b="1" dirty="0">
                <a:solidFill>
                  <a:srgbClr val="2F6FA8"/>
                </a:solidFill>
                <a:latin typeface="IBM Plex Sans Arabic" pitchFamily="34" charset="0"/>
                <a:cs typeface="IBM Plex Sans Arabic"/>
              </a:rPr>
              <a:t>الخطوة التالية</a:t>
            </a:r>
            <a:endParaRPr lang="en-US" sz="1300" dirty="0"/>
          </a:p>
        </p:txBody>
      </p:sp>
      <p:sp>
        <p:nvSpPr>
          <p:cNvPr id="3" name="Text 1"/>
          <p:cNvSpPr txBox="1"/>
          <p:nvPr/>
        </p:nvSpPr>
        <p:spPr>
          <a:xfrm>
            <a:off x="493776" y="1005840"/>
            <a:ext cx="10881360" cy="566928"/>
          </a:xfrm>
          <a:prstGeom prst="rect">
            <a:avLst/>
          </a:prstGeom>
          <a:noFill/>
          <a:ln/>
        </p:spPr>
        <p:txBody>
          <a:bodyPr wrap="square" lIns="0" tIns="0" rIns="0" bIns="0" rtlCol="0" anchor="t"/>
          <a:lstStyle/>
          <a:p>
            <a:pPr algn="r" indent="0" marL="0" rtl="1">
              <a:lnSpc>
                <a:spcPct val="100000"/>
              </a:lnSpc>
              <a:buNone/>
            </a:pPr>
            <a:r>
              <a:rPr lang="ar-SA" altLang="en-US" sz="3000" b="1" dirty="0">
                <a:solidFill>
                  <a:srgbClr val="16202B"/>
                </a:solidFill>
                <a:latin typeface="IBM Plex Sans Arabic" pitchFamily="34" charset="0"/>
                <a:cs typeface="IBM Plex Sans Arabic"/>
              </a:rPr>
              <a:t>نصلح العيبين، ثم نقيس كل شيء من جديد</a:t>
            </a:r>
            <a:endParaRPr lang="en-US" sz="3000" dirty="0"/>
          </a:p>
        </p:txBody>
      </p:sp>
      <p:sp>
        <p:nvSpPr>
          <p:cNvPr id="4" name="Shape 2"/>
          <p:cNvSpPr/>
          <p:nvPr/>
        </p:nvSpPr>
        <p:spPr>
          <a:xfrm>
            <a:off x="6231636" y="1691640"/>
            <a:ext cx="5143500" cy="1143000"/>
          </a:xfrm>
          <a:prstGeom prst="roundRect">
            <a:avLst>
              <a:gd name="adj" fmla="val 6400"/>
            </a:avLst>
          </a:prstGeom>
          <a:solidFill>
            <a:srgbClr val="FFFFFF"/>
          </a:solidFill>
          <a:ln w="9525">
            <a:solidFill>
              <a:srgbClr val="D4DCE3"/>
            </a:solidFill>
            <a:prstDash val="solid"/>
          </a:ln>
        </p:spPr>
      </p:sp>
      <p:sp>
        <p:nvSpPr>
          <p:cNvPr id="5" name="Text 3"/>
          <p:cNvSpPr txBox="1"/>
          <p:nvPr/>
        </p:nvSpPr>
        <p:spPr>
          <a:xfrm>
            <a:off x="10689336" y="1892808"/>
            <a:ext cx="457200" cy="548640"/>
          </a:xfrm>
          <a:prstGeom prst="rect">
            <a:avLst/>
          </a:prstGeom>
          <a:noFill/>
          <a:ln/>
        </p:spPr>
        <p:txBody>
          <a:bodyPr wrap="square" lIns="0" tIns="0" rIns="0" bIns="0" rtlCol="0" anchor="t"/>
          <a:lstStyle/>
          <a:p>
            <a:pPr algn="r" indent="0" marL="0">
              <a:lnSpc>
                <a:spcPct val="100000"/>
              </a:lnSpc>
              <a:buNone/>
            </a:pPr>
            <a:r>
              <a:rPr lang="en-US" altLang="en-US" sz="3000" b="1" dirty="0">
                <a:solidFill>
                  <a:srgbClr val="2F6FA8"/>
                </a:solidFill>
                <a:latin typeface="IBM Plex Sans Arabic" pitchFamily="34" charset="0"/>
                <a:cs typeface="IBM Plex Sans Arabic"/>
              </a:rPr>
              <a:t>‎1‎</a:t>
            </a:r>
            <a:endParaRPr lang="en-US" sz="3000" dirty="0"/>
          </a:p>
        </p:txBody>
      </p:sp>
      <p:sp>
        <p:nvSpPr>
          <p:cNvPr id="6" name="Text 4"/>
          <p:cNvSpPr txBox="1"/>
          <p:nvPr/>
        </p:nvSpPr>
        <p:spPr>
          <a:xfrm>
            <a:off x="6460236" y="1874520"/>
            <a:ext cx="4137660" cy="329184"/>
          </a:xfrm>
          <a:prstGeom prst="rect">
            <a:avLst/>
          </a:prstGeom>
          <a:noFill/>
          <a:ln/>
        </p:spPr>
        <p:txBody>
          <a:bodyPr wrap="square" lIns="0" tIns="0" rIns="0" bIns="0" rtlCol="0" anchor="t"/>
          <a:lstStyle/>
          <a:p>
            <a:pPr algn="r" indent="0" marL="0" rtl="1">
              <a:lnSpc>
                <a:spcPct val="120000"/>
              </a:lnSpc>
              <a:buNone/>
            </a:pPr>
            <a:r>
              <a:rPr lang="ar-SA" altLang="en-US" sz="1650" b="1" dirty="0">
                <a:solidFill>
                  <a:srgbClr val="16202B"/>
                </a:solidFill>
                <a:latin typeface="IBM Plex Sans Arabic" pitchFamily="34" charset="0"/>
                <a:cs typeface="IBM Plex Sans Arabic"/>
              </a:rPr>
              <a:t>تقسيم حساب الحرارة</a:t>
            </a:r>
            <a:endParaRPr lang="en-US" sz="1650" dirty="0"/>
          </a:p>
        </p:txBody>
      </p:sp>
      <p:sp>
        <p:nvSpPr>
          <p:cNvPr id="7" name="Text 5"/>
          <p:cNvSpPr txBox="1"/>
          <p:nvPr/>
        </p:nvSpPr>
        <p:spPr>
          <a:xfrm>
            <a:off x="6460236" y="2221992"/>
            <a:ext cx="4137660" cy="566928"/>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عشر خطوات صغيرة داخل كل ثانية، ثم نعيد حساب الثوابت بنفس الطريقة ونعيد كل الفحوصات.</a:t>
            </a:r>
            <a:endParaRPr lang="en-US" sz="1300" dirty="0"/>
          </a:p>
        </p:txBody>
      </p:sp>
      <p:sp>
        <p:nvSpPr>
          <p:cNvPr id="8" name="Shape 6"/>
          <p:cNvSpPr/>
          <p:nvPr/>
        </p:nvSpPr>
        <p:spPr>
          <a:xfrm>
            <a:off x="813816" y="1691640"/>
            <a:ext cx="5143500" cy="1143000"/>
          </a:xfrm>
          <a:prstGeom prst="roundRect">
            <a:avLst>
              <a:gd name="adj" fmla="val 6400"/>
            </a:avLst>
          </a:prstGeom>
          <a:solidFill>
            <a:srgbClr val="FFFFFF"/>
          </a:solidFill>
          <a:ln w="9525">
            <a:solidFill>
              <a:srgbClr val="D4DCE3"/>
            </a:solidFill>
            <a:prstDash val="solid"/>
          </a:ln>
        </p:spPr>
      </p:sp>
      <p:sp>
        <p:nvSpPr>
          <p:cNvPr id="9" name="Text 7"/>
          <p:cNvSpPr txBox="1"/>
          <p:nvPr/>
        </p:nvSpPr>
        <p:spPr>
          <a:xfrm>
            <a:off x="5271516" y="1892808"/>
            <a:ext cx="457200" cy="548640"/>
          </a:xfrm>
          <a:prstGeom prst="rect">
            <a:avLst/>
          </a:prstGeom>
          <a:noFill/>
          <a:ln/>
        </p:spPr>
        <p:txBody>
          <a:bodyPr wrap="square" lIns="0" tIns="0" rIns="0" bIns="0" rtlCol="0" anchor="t"/>
          <a:lstStyle/>
          <a:p>
            <a:pPr algn="r" indent="0" marL="0">
              <a:lnSpc>
                <a:spcPct val="100000"/>
              </a:lnSpc>
              <a:buNone/>
            </a:pPr>
            <a:r>
              <a:rPr lang="en-US" altLang="en-US" sz="3000" b="1" dirty="0">
                <a:solidFill>
                  <a:srgbClr val="2F6FA8"/>
                </a:solidFill>
                <a:latin typeface="IBM Plex Sans Arabic" pitchFamily="34" charset="0"/>
                <a:cs typeface="IBM Plex Sans Arabic"/>
              </a:rPr>
              <a:t>‎2‎</a:t>
            </a:r>
            <a:endParaRPr lang="en-US" sz="3000" dirty="0"/>
          </a:p>
        </p:txBody>
      </p:sp>
      <p:sp>
        <p:nvSpPr>
          <p:cNvPr id="10" name="Text 8"/>
          <p:cNvSpPr txBox="1"/>
          <p:nvPr/>
        </p:nvSpPr>
        <p:spPr>
          <a:xfrm>
            <a:off x="1042416" y="1874520"/>
            <a:ext cx="4137660" cy="329184"/>
          </a:xfrm>
          <a:prstGeom prst="rect">
            <a:avLst/>
          </a:prstGeom>
          <a:noFill/>
          <a:ln/>
        </p:spPr>
        <p:txBody>
          <a:bodyPr wrap="square" lIns="0" tIns="0" rIns="0" bIns="0" rtlCol="0" anchor="t"/>
          <a:lstStyle/>
          <a:p>
            <a:pPr algn="r" indent="0" marL="0" rtl="1">
              <a:lnSpc>
                <a:spcPct val="120000"/>
              </a:lnSpc>
              <a:buNone/>
            </a:pPr>
            <a:r>
              <a:rPr lang="ar-SA" altLang="en-US" sz="1650" b="1" dirty="0">
                <a:solidFill>
                  <a:srgbClr val="16202B"/>
                </a:solidFill>
                <a:latin typeface="IBM Plex Sans Arabic" pitchFamily="34" charset="0"/>
                <a:cs typeface="IBM Plex Sans Arabic"/>
              </a:rPr>
              <a:t>طلعات متدرّجة</a:t>
            </a:r>
            <a:endParaRPr lang="en-US" sz="1650" dirty="0"/>
          </a:p>
        </p:txBody>
      </p:sp>
      <p:sp>
        <p:nvSpPr>
          <p:cNvPr id="11" name="Text 9"/>
          <p:cNvSpPr txBox="1"/>
          <p:nvPr/>
        </p:nvSpPr>
        <p:spPr>
          <a:xfrm>
            <a:off x="1042416" y="2221992"/>
            <a:ext cx="4137660" cy="566928"/>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كل تغيّر في الميل يتدرّج خلال ثوانٍ، كما في الطريق الحقيقي.</a:t>
            </a:r>
            <a:endParaRPr lang="en-US" sz="1300" dirty="0"/>
          </a:p>
        </p:txBody>
      </p:sp>
      <p:sp>
        <p:nvSpPr>
          <p:cNvPr id="12" name="Shape 10"/>
          <p:cNvSpPr/>
          <p:nvPr/>
        </p:nvSpPr>
        <p:spPr>
          <a:xfrm>
            <a:off x="6231636" y="2990088"/>
            <a:ext cx="5143500" cy="1143000"/>
          </a:xfrm>
          <a:prstGeom prst="roundRect">
            <a:avLst>
              <a:gd name="adj" fmla="val 6400"/>
            </a:avLst>
          </a:prstGeom>
          <a:solidFill>
            <a:srgbClr val="FFFFFF"/>
          </a:solidFill>
          <a:ln w="9525">
            <a:solidFill>
              <a:srgbClr val="D4DCE3"/>
            </a:solidFill>
            <a:prstDash val="solid"/>
          </a:ln>
        </p:spPr>
      </p:sp>
      <p:sp>
        <p:nvSpPr>
          <p:cNvPr id="13" name="Text 11"/>
          <p:cNvSpPr txBox="1"/>
          <p:nvPr/>
        </p:nvSpPr>
        <p:spPr>
          <a:xfrm>
            <a:off x="10689336" y="3191256"/>
            <a:ext cx="457200" cy="548640"/>
          </a:xfrm>
          <a:prstGeom prst="rect">
            <a:avLst/>
          </a:prstGeom>
          <a:noFill/>
          <a:ln/>
        </p:spPr>
        <p:txBody>
          <a:bodyPr wrap="square" lIns="0" tIns="0" rIns="0" bIns="0" rtlCol="0" anchor="t"/>
          <a:lstStyle/>
          <a:p>
            <a:pPr algn="r" indent="0" marL="0">
              <a:lnSpc>
                <a:spcPct val="100000"/>
              </a:lnSpc>
              <a:buNone/>
            </a:pPr>
            <a:r>
              <a:rPr lang="en-US" altLang="en-US" sz="3000" b="1" dirty="0">
                <a:solidFill>
                  <a:srgbClr val="2F6FA8"/>
                </a:solidFill>
                <a:latin typeface="IBM Plex Sans Arabic" pitchFamily="34" charset="0"/>
                <a:cs typeface="IBM Plex Sans Arabic"/>
              </a:rPr>
              <a:t>‎3‎</a:t>
            </a:r>
            <a:endParaRPr lang="en-US" sz="3000" dirty="0"/>
          </a:p>
        </p:txBody>
      </p:sp>
      <p:sp>
        <p:nvSpPr>
          <p:cNvPr id="14" name="Text 12"/>
          <p:cNvSpPr txBox="1"/>
          <p:nvPr/>
        </p:nvSpPr>
        <p:spPr>
          <a:xfrm>
            <a:off x="6460236" y="3172968"/>
            <a:ext cx="4137660" cy="329184"/>
          </a:xfrm>
          <a:prstGeom prst="rect">
            <a:avLst/>
          </a:prstGeom>
          <a:noFill/>
          <a:ln/>
        </p:spPr>
        <p:txBody>
          <a:bodyPr wrap="square" lIns="0" tIns="0" rIns="0" bIns="0" rtlCol="0" anchor="t"/>
          <a:lstStyle/>
          <a:p>
            <a:pPr algn="r" indent="0" marL="0" rtl="1">
              <a:lnSpc>
                <a:spcPct val="120000"/>
              </a:lnSpc>
              <a:buNone/>
            </a:pPr>
            <a:r>
              <a:rPr lang="ar-SA" altLang="en-US" sz="1650" b="1" dirty="0">
                <a:solidFill>
                  <a:srgbClr val="16202B"/>
                </a:solidFill>
                <a:latin typeface="IBM Plex Sans Arabic" pitchFamily="34" charset="0"/>
                <a:cs typeface="IBM Plex Sans Arabic"/>
              </a:rPr>
              <a:t>رحلة </a:t>
            </a:r>
            <a:r>
              <a:rPr lang="en-US" altLang="en-US" sz="1650" b="1" dirty="0">
                <a:solidFill>
                  <a:srgbClr val="16202B"/>
                </a:solidFill>
                <a:latin typeface="IBM Plex Sans Arabic" pitchFamily="34" charset="0"/>
                <a:cs typeface="IBM Plex Sans Arabic"/>
              </a:rPr>
              <a:t>‎C‎</a:t>
            </a:r>
            <a:r>
              <a:rPr lang="ar-SA" altLang="en-US" sz="1650" b="1" dirty="0">
                <a:solidFill>
                  <a:srgbClr val="16202B"/>
                </a:solidFill>
                <a:latin typeface="IBM Plex Sans Arabic" pitchFamily="34" charset="0"/>
                <a:cs typeface="IBM Plex Sans Arabic"/>
              </a:rPr>
              <a:t> ثم رحلة </a:t>
            </a:r>
            <a:r>
              <a:rPr lang="en-US" altLang="en-US" sz="1650" b="1" dirty="0">
                <a:solidFill>
                  <a:srgbClr val="16202B"/>
                </a:solidFill>
                <a:latin typeface="IBM Plex Sans Arabic" pitchFamily="34" charset="0"/>
                <a:cs typeface="IBM Plex Sans Arabic"/>
              </a:rPr>
              <a:t>‎A‎</a:t>
            </a:r>
            <a:endParaRPr lang="en-US" sz="1650" dirty="0"/>
          </a:p>
        </p:txBody>
      </p:sp>
      <p:sp>
        <p:nvSpPr>
          <p:cNvPr id="15" name="Text 13"/>
          <p:cNvSpPr txBox="1"/>
          <p:nvPr/>
        </p:nvSpPr>
        <p:spPr>
          <a:xfrm>
            <a:off x="6460236" y="3520440"/>
            <a:ext cx="4137660" cy="566928"/>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رحلة </a:t>
            </a:r>
            <a:r>
              <a:rPr lang="en-US" altLang="en-US" sz="1300" dirty="0">
                <a:solidFill>
                  <a:srgbClr val="5D6E7D"/>
                </a:solidFill>
                <a:latin typeface="IBM Plex Sans Arabic" pitchFamily="34" charset="0"/>
                <a:cs typeface="IBM Plex Sans Arabic"/>
              </a:rPr>
              <a:t>‎C‎</a:t>
            </a:r>
            <a:r>
              <a:rPr lang="ar-SA" altLang="en-US" sz="1300" dirty="0">
                <a:solidFill>
                  <a:srgbClr val="5D6E7D"/>
                </a:solidFill>
                <a:latin typeface="IBM Plex Sans Arabic" pitchFamily="34" charset="0"/>
                <a:cs typeface="IBM Plex Sans Arabic"/>
              </a:rPr>
              <a:t> للطَّرق: ست قنوات وغيار ثابت. ورحلة </a:t>
            </a:r>
            <a:r>
              <a:rPr lang="en-US" altLang="en-US" sz="1300" dirty="0">
                <a:solidFill>
                  <a:srgbClr val="5D6E7D"/>
                </a:solidFill>
                <a:latin typeface="IBM Plex Sans Arabic" pitchFamily="34" charset="0"/>
                <a:cs typeface="IBM Plex Sans Arabic"/>
              </a:rPr>
              <a:t>‎A‎</a:t>
            </a:r>
            <a:r>
              <a:rPr lang="ar-SA" altLang="en-US" sz="1300" dirty="0">
                <a:solidFill>
                  <a:srgbClr val="5D6E7D"/>
                </a:solidFill>
                <a:latin typeface="IBM Plex Sans Arabic" pitchFamily="34" charset="0"/>
                <a:cs typeface="IBM Plex Sans Arabic"/>
              </a:rPr>
              <a:t>: صعود طويل في الحرّ، ثم خمس دقائق دوران على الوقوف في الأعلى.</a:t>
            </a:r>
            <a:endParaRPr lang="en-US" sz="1300" dirty="0"/>
          </a:p>
        </p:txBody>
      </p:sp>
      <p:sp>
        <p:nvSpPr>
          <p:cNvPr id="16" name="Shape 14"/>
          <p:cNvSpPr/>
          <p:nvPr/>
        </p:nvSpPr>
        <p:spPr>
          <a:xfrm>
            <a:off x="813816" y="2990088"/>
            <a:ext cx="5143500" cy="1143000"/>
          </a:xfrm>
          <a:prstGeom prst="roundRect">
            <a:avLst>
              <a:gd name="adj" fmla="val 6400"/>
            </a:avLst>
          </a:prstGeom>
          <a:solidFill>
            <a:srgbClr val="FFFFFF"/>
          </a:solidFill>
          <a:ln w="9525">
            <a:solidFill>
              <a:srgbClr val="D4DCE3"/>
            </a:solidFill>
            <a:prstDash val="solid"/>
          </a:ln>
        </p:spPr>
      </p:sp>
      <p:sp>
        <p:nvSpPr>
          <p:cNvPr id="17" name="Text 15"/>
          <p:cNvSpPr txBox="1"/>
          <p:nvPr/>
        </p:nvSpPr>
        <p:spPr>
          <a:xfrm>
            <a:off x="5271516" y="3191256"/>
            <a:ext cx="457200" cy="548640"/>
          </a:xfrm>
          <a:prstGeom prst="rect">
            <a:avLst/>
          </a:prstGeom>
          <a:noFill/>
          <a:ln/>
        </p:spPr>
        <p:txBody>
          <a:bodyPr wrap="square" lIns="0" tIns="0" rIns="0" bIns="0" rtlCol="0" anchor="t"/>
          <a:lstStyle/>
          <a:p>
            <a:pPr algn="r" indent="0" marL="0">
              <a:lnSpc>
                <a:spcPct val="100000"/>
              </a:lnSpc>
              <a:buNone/>
            </a:pPr>
            <a:r>
              <a:rPr lang="en-US" altLang="en-US" sz="3000" b="1" dirty="0">
                <a:solidFill>
                  <a:srgbClr val="2F6FA8"/>
                </a:solidFill>
                <a:latin typeface="IBM Plex Sans Arabic" pitchFamily="34" charset="0"/>
                <a:cs typeface="IBM Plex Sans Arabic"/>
              </a:rPr>
              <a:t>‎4‎</a:t>
            </a:r>
            <a:endParaRPr lang="en-US" sz="3000" dirty="0"/>
          </a:p>
        </p:txBody>
      </p:sp>
      <p:sp>
        <p:nvSpPr>
          <p:cNvPr id="18" name="Text 16"/>
          <p:cNvSpPr txBox="1"/>
          <p:nvPr/>
        </p:nvSpPr>
        <p:spPr>
          <a:xfrm>
            <a:off x="1042416" y="3172968"/>
            <a:ext cx="4137660" cy="329184"/>
          </a:xfrm>
          <a:prstGeom prst="rect">
            <a:avLst/>
          </a:prstGeom>
          <a:noFill/>
          <a:ln/>
        </p:spPr>
        <p:txBody>
          <a:bodyPr wrap="square" lIns="0" tIns="0" rIns="0" bIns="0" rtlCol="0" anchor="t"/>
          <a:lstStyle/>
          <a:p>
            <a:pPr algn="r" indent="0" marL="0" rtl="1">
              <a:lnSpc>
                <a:spcPct val="120000"/>
              </a:lnSpc>
              <a:buNone/>
            </a:pPr>
            <a:r>
              <a:rPr lang="ar-SA" altLang="en-US" sz="1650" b="1" dirty="0">
                <a:solidFill>
                  <a:srgbClr val="16202B"/>
                </a:solidFill>
                <a:latin typeface="IBM Plex Sans Arabic" pitchFamily="34" charset="0"/>
                <a:cs typeface="IBM Plex Sans Arabic"/>
              </a:rPr>
              <a:t>تحديث الأرقام والمستندات</a:t>
            </a:r>
            <a:endParaRPr lang="en-US" sz="1650" dirty="0"/>
          </a:p>
        </p:txBody>
      </p:sp>
      <p:sp>
        <p:nvSpPr>
          <p:cNvPr id="19" name="Text 17"/>
          <p:cNvSpPr txBox="1"/>
          <p:nvPr/>
        </p:nvSpPr>
        <p:spPr>
          <a:xfrm>
            <a:off x="1042416" y="3520440"/>
            <a:ext cx="4137660" cy="566928"/>
          </a:xfrm>
          <a:prstGeom prst="rect">
            <a:avLst/>
          </a:prstGeom>
          <a:noFill/>
          <a:ln/>
        </p:spPr>
        <p:txBody>
          <a:bodyPr wrap="square" lIns="0" tIns="0" rIns="0" bIns="0" rtlCol="0" anchor="t"/>
          <a:lstStyle/>
          <a:p>
            <a:pPr algn="r" indent="0" marL="0" rtl="1">
              <a:lnSpc>
                <a:spcPct val="120000"/>
              </a:lnSpc>
              <a:buNone/>
            </a:pPr>
            <a:r>
              <a:rPr lang="ar-SA" altLang="en-US" sz="1300" dirty="0">
                <a:solidFill>
                  <a:srgbClr val="5D6E7D"/>
                </a:solidFill>
                <a:latin typeface="IBM Plex Sans Arabic" pitchFamily="34" charset="0"/>
                <a:cs typeface="IBM Plex Sans Arabic"/>
              </a:rPr>
              <a:t>بعد العلاج نعيد كل الأرقام، ونحدّث المستندات والصفحات مرة واحدة.</a:t>
            </a:r>
            <a:endParaRPr lang="en-US" sz="1300" dirty="0"/>
          </a:p>
        </p:txBody>
      </p:sp>
      <p:sp>
        <p:nvSpPr>
          <p:cNvPr id="20" name="Shape 18"/>
          <p:cNvSpPr/>
          <p:nvPr/>
        </p:nvSpPr>
        <p:spPr>
          <a:xfrm>
            <a:off x="813816" y="4389120"/>
            <a:ext cx="10561320" cy="1325880"/>
          </a:xfrm>
          <a:prstGeom prst="roundRect">
            <a:avLst>
              <a:gd name="adj" fmla="val 5517"/>
            </a:avLst>
          </a:prstGeom>
          <a:solidFill>
            <a:srgbClr val="FFFFFF"/>
          </a:solidFill>
          <a:ln w="9525">
            <a:solidFill>
              <a:srgbClr val="D4DCE3"/>
            </a:solidFill>
            <a:prstDash val="solid"/>
          </a:ln>
        </p:spPr>
      </p:sp>
      <p:sp>
        <p:nvSpPr>
          <p:cNvPr id="21" name="Text 19"/>
          <p:cNvSpPr txBox="1"/>
          <p:nvPr/>
        </p:nvSpPr>
        <p:spPr>
          <a:xfrm>
            <a:off x="1088136" y="4526280"/>
            <a:ext cx="10012680" cy="292608"/>
          </a:xfrm>
          <a:prstGeom prst="rect">
            <a:avLst/>
          </a:prstGeom>
          <a:noFill/>
          <a:ln/>
        </p:spPr>
        <p:txBody>
          <a:bodyPr wrap="square" lIns="0" tIns="0" rIns="0" bIns="0" rtlCol="0" anchor="t"/>
          <a:lstStyle/>
          <a:p>
            <a:pPr algn="r" indent="0" marL="0" rtl="1">
              <a:lnSpc>
                <a:spcPct val="120000"/>
              </a:lnSpc>
              <a:buNone/>
            </a:pPr>
            <a:r>
              <a:rPr lang="ar-SA" altLang="en-US" sz="1450" b="1" dirty="0">
                <a:solidFill>
                  <a:srgbClr val="B5741A"/>
                </a:solidFill>
                <a:latin typeface="IBM Plex Sans Arabic" pitchFamily="34" charset="0"/>
                <a:cs typeface="IBM Plex Sans Arabic"/>
              </a:rPr>
              <a:t>وحدود نكتبها في الرسالة بدل أن نخفيها</a:t>
            </a:r>
            <a:endParaRPr lang="en-US" sz="1450" dirty="0"/>
          </a:p>
        </p:txBody>
      </p:sp>
      <p:sp>
        <p:nvSpPr>
          <p:cNvPr id="22" name="Text 20"/>
          <p:cNvSpPr txBox="1"/>
          <p:nvPr/>
        </p:nvSpPr>
        <p:spPr>
          <a:xfrm>
            <a:off x="7885176" y="4892040"/>
            <a:ext cx="3215640" cy="731520"/>
          </a:xfrm>
          <a:prstGeom prst="rect">
            <a:avLst/>
          </a:prstGeom>
          <a:noFill/>
          <a:ln/>
        </p:spPr>
        <p:txBody>
          <a:bodyPr wrap="square" lIns="0" tIns="0" rIns="0" bIns="0" rtlCol="0" anchor="t"/>
          <a:lstStyle/>
          <a:p>
            <a:pPr algn="r" indent="0" marL="0" rtl="1">
              <a:lnSpc>
                <a:spcPct val="120000"/>
              </a:lnSpc>
              <a:buNone/>
            </a:pPr>
            <a:r>
              <a:rPr lang="ar-SA" altLang="en-US" sz="1250" b="1" dirty="0">
                <a:solidFill>
                  <a:srgbClr val="3D4C5A"/>
                </a:solidFill>
                <a:latin typeface="IBM Plex Sans Arabic" pitchFamily="34" charset="0"/>
                <a:cs typeface="IBM Plex Sans Arabic"/>
              </a:rPr>
              <a:t>الارتفاع غير مُمثَّل: صعود الاختبار يرتفع </a:t>
            </a:r>
            <a:r>
              <a:rPr lang="en-US" altLang="en-US" sz="1250" b="1" dirty="0">
                <a:solidFill>
                  <a:srgbClr val="3D4C5A"/>
                </a:solidFill>
                <a:latin typeface="IBM Plex Sans Arabic" pitchFamily="34" charset="0"/>
                <a:cs typeface="IBM Plex Sans Arabic"/>
              </a:rPr>
              <a:t>‎2340‎</a:t>
            </a:r>
            <a:r>
              <a:rPr lang="ar-SA" altLang="en-US" sz="1250" b="1" dirty="0">
                <a:solidFill>
                  <a:srgbClr val="3D4C5A"/>
                </a:solidFill>
                <a:latin typeface="IBM Plex Sans Arabic" pitchFamily="34" charset="0"/>
                <a:cs typeface="IBM Plex Sans Arabic"/>
              </a:rPr>
              <a:t> م والمحرك يتنفّس هواء مستوى البحر</a:t>
            </a:r>
            <a:endParaRPr lang="en-US" sz="1250" dirty="0"/>
          </a:p>
        </p:txBody>
      </p:sp>
      <p:sp>
        <p:nvSpPr>
          <p:cNvPr id="23" name="Text 21"/>
          <p:cNvSpPr txBox="1"/>
          <p:nvPr/>
        </p:nvSpPr>
        <p:spPr>
          <a:xfrm>
            <a:off x="4486656" y="4892040"/>
            <a:ext cx="3215640" cy="731520"/>
          </a:xfrm>
          <a:prstGeom prst="rect">
            <a:avLst/>
          </a:prstGeom>
          <a:noFill/>
          <a:ln/>
        </p:spPr>
        <p:txBody>
          <a:bodyPr wrap="square" lIns="0" tIns="0" rIns="0" bIns="0" rtlCol="0" anchor="t"/>
          <a:lstStyle/>
          <a:p>
            <a:pPr algn="r" indent="0" marL="0" rtl="1">
              <a:lnSpc>
                <a:spcPct val="120000"/>
              </a:lnSpc>
              <a:buNone/>
            </a:pPr>
            <a:r>
              <a:rPr lang="ar-SA" altLang="en-US" sz="1250" b="1" dirty="0">
                <a:solidFill>
                  <a:srgbClr val="3D4C5A"/>
                </a:solidFill>
                <a:latin typeface="IBM Plex Sans Arabic" pitchFamily="34" charset="0"/>
                <a:cs typeface="IBM Plex Sans Arabic"/>
              </a:rPr>
              <a:t>سعة حرارة غلاف التوربين مُفترَضة لا مقيسة</a:t>
            </a:r>
            <a:endParaRPr lang="en-US" sz="1250" dirty="0"/>
          </a:p>
        </p:txBody>
      </p:sp>
      <p:sp>
        <p:nvSpPr>
          <p:cNvPr id="24" name="Text 22"/>
          <p:cNvSpPr txBox="1"/>
          <p:nvPr/>
        </p:nvSpPr>
        <p:spPr>
          <a:xfrm>
            <a:off x="1088136" y="4892040"/>
            <a:ext cx="3215640" cy="731520"/>
          </a:xfrm>
          <a:prstGeom prst="rect">
            <a:avLst/>
          </a:prstGeom>
          <a:noFill/>
          <a:ln/>
        </p:spPr>
        <p:txBody>
          <a:bodyPr wrap="square" lIns="0" tIns="0" rIns="0" bIns="0" rtlCol="0" anchor="t"/>
          <a:lstStyle/>
          <a:p>
            <a:pPr algn="r" indent="0" marL="0" rtl="1">
              <a:lnSpc>
                <a:spcPct val="120000"/>
              </a:lnSpc>
              <a:buNone/>
            </a:pPr>
            <a:r>
              <a:rPr lang="ar-SA" altLang="en-US" sz="1250" b="1" dirty="0">
                <a:solidFill>
                  <a:srgbClr val="3D4C5A"/>
                </a:solidFill>
                <a:latin typeface="IBM Plex Sans Arabic" pitchFamily="34" charset="0"/>
                <a:cs typeface="IBM Plex Sans Arabic"/>
              </a:rPr>
              <a:t>تقسيم تبريد المُشعّ بين الهواء والمروحة لا يُميَّز من بيانات هذه السيارة</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تحديث المشروع — 1 أكتوبر</dc:title>
  <dc:subject>PptxGenJS Presentation</dc:subject>
  <dc:creator>فريق مشروع التخرج</dc:creator>
  <cp:lastModifiedBy>فريق مشروع التخرج</cp:lastModifiedBy>
  <cp:revision>1</cp:revision>
  <dcterms:created xsi:type="dcterms:W3CDTF">2026-10-01T12:13:20Z</dcterms:created>
  <dcterms:modified xsi:type="dcterms:W3CDTF">2026-10-01T12:13:20Z</dcterms:modified>
</cp:coreProperties>
</file>