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5D6E7D"/>
            </a:solidFill>
            <a:effectLst/>
          </c:spPr>
          <c:invertIfNegative val="0"/>
          <c:dLbls>
            <c:numFmt formatCode="0.00" sourceLinked="0"/>
            <c:txPr>
              <a:bodyPr/>
              <a:lstStyle/>
              <a:p>
                <a:pPr>
                  <a:defRPr b="0" i="0" strike="noStrike" sz="1300" u="none">
                    <a:solidFill>
                      <a:srgbClr val="F2F4F6"/>
                    </a:solidFill>
                    <a:latin typeface="Calibri"/>
                  </a:defRPr>
                </a:pPr>
              </a:p>
            </c:txPr>
            <c:showLegendKey val="0"/>
            <c:showVal val="1"/>
            <c:showCatName val="0"/>
            <c:showSerName val="0"/>
            <c:showPercent val="0"/>
            <c:showBubbleSize val="0"/>
            <c:showLeaderLines val="0"/>
          </c:dLbls>
          <c:cat>
            <c:multiLvlStrRef>
              <c:f>Sheet1!$A$2:$A$3</c:f>
              <c:multiLvlStrCache>
                <c:ptCount val="2"/>
                <c:lvl>
                  <c:pt idx="0">
                    <c:v>Oil</c:v>
                  </c:pt>
                  <c:pt idx="1">
                    <c:v>Coolant</c:v>
                  </c:pt>
                </c:lvl>
              </c:multiLvlStrCache>
            </c:multiLvlStrRef>
          </c:cat>
          <c:val>
            <c:numRef>
              <c:f>Sheet1!$B$2:$B$3</c:f>
              <c:numCache>
                <c:formatCode>General</c:formatCode>
                <c:ptCount val="2"/>
                <c:pt idx="0">
                  <c:v>7.55</c:v>
                </c:pt>
                <c:pt idx="1">
                  <c:v>5.51</c:v>
                </c:pt>
              </c:numCache>
            </c:numRef>
          </c:val>
        </c:ser>
        <c:ser>
          <c:idx val="1"/>
          <c:order val="1"/>
          <c:tx>
            <c:strRef>
              <c:f>Sheet1!$C$1</c:f>
              <c:strCache>
                <c:ptCount val="1"/>
                <c:pt idx="0">
                  <c:v>After</c:v>
                </c:pt>
              </c:strCache>
            </c:strRef>
          </c:tx>
          <c:spPr>
            <a:solidFill>
              <a:srgbClr val="7FB2DC"/>
            </a:solidFill>
            <a:effectLst/>
          </c:spPr>
          <c:invertIfNegative val="0"/>
          <c:dLbls>
            <c:numFmt formatCode="0.00" sourceLinked="0"/>
            <c:txPr>
              <a:bodyPr/>
              <a:lstStyle/>
              <a:p>
                <a:pPr>
                  <a:defRPr b="0" i="0" strike="noStrike" sz="1300" u="none">
                    <a:solidFill>
                      <a:srgbClr val="F2F4F6"/>
                    </a:solidFill>
                    <a:latin typeface="Calibri"/>
                  </a:defRPr>
                </a:pPr>
              </a:p>
            </c:txPr>
            <c:showLegendKey val="0"/>
            <c:showVal val="1"/>
            <c:showCatName val="0"/>
            <c:showSerName val="0"/>
            <c:showPercent val="0"/>
            <c:showBubbleSize val="0"/>
            <c:showLeaderLines val="0"/>
          </c:dLbls>
          <c:cat>
            <c:multiLvlStrRef>
              <c:f>Sheet1!$A$2:$A$3</c:f>
              <c:multiLvlStrCache>
                <c:ptCount val="2"/>
                <c:lvl>
                  <c:pt idx="0">
                    <c:v>Oil</c:v>
                  </c:pt>
                  <c:pt idx="1">
                    <c:v>Coolant</c:v>
                  </c:pt>
                </c:lvl>
              </c:multiLvlStrCache>
            </c:multiLvlStrRef>
          </c:cat>
          <c:val>
            <c:numRef>
              <c:f>Sheet1!$C$2:$C$3</c:f>
              <c:numCache>
                <c:formatCode>General</c:formatCode>
                <c:ptCount val="2"/>
                <c:pt idx="0">
                  <c:v>3.57</c:v>
                </c:pt>
                <c:pt idx="1">
                  <c:v>2.28</c:v>
                </c:pt>
              </c:numCache>
            </c:numRef>
          </c:val>
        </c:ser>
        <c:dLbls>
          <c:numFmt formatCode="0.00" sourceLinked="0"/>
          <c:txPr>
            <a:bodyPr/>
            <a:lstStyle/>
            <a:p>
              <a:pPr>
                <a:defRPr b="0" i="0" strike="noStrike" sz="1300" u="none">
                  <a:solidFill>
                    <a:srgbClr val="F2F4F6"/>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D3E50"/>
            </a:solidFill>
            <a:prstDash val="solid"/>
            <a:round/>
          </a:ln>
        </c:spPr>
        <c:txPr>
          <a:bodyPr/>
          <a:lstStyle/>
          <a:p>
            <a:pPr>
              <a:defRPr sz="1300" b="0" i="0" u="none" strike="noStrike">
                <a:solidFill>
                  <a:srgbClr val="C9D3DD"/>
                </a:solidFill>
                <a:latin typeface="Calibri"/>
              </a:defRPr>
            </a:pPr>
            <a:endParaRPr lang="en-US"/>
          </a:p>
        </c:txPr>
        <c:crossAx val="2094734552"/>
        <c:crosses val="autoZero"/>
        <c:auto val="1"/>
        <c:lblAlgn val="ctr"/>
        <c:noMultiLvlLbl val="1"/>
      </c:catAx>
      <c:valAx>
        <c:axId val="2094734552"/>
        <c:scaling>
          <c:orientation val="minMax"/>
          <c:max val="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93A5B6"/>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"Since the last update we worked on two things: we made the simulator take its numbers from our own car, and we merged the team's work into one version. While merging, we found two defects in the simulator, and we know the fix for each." The last update was about correcting the simulator; this one is about making it take its numbers from the car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talk. If time is short, it is enough on its own. The third point is not bad news: we found the two defects ourselves while reviewing the merge, and the fix for each is written down and agreed between Jad and Ghassan.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full-throttle pull in a held gear: we hold the gear manually (M mode), floor it for a few seconds, then lift. The aim is to learn how much boost the turbo, and the engine, can give while turning slowly. One reading every 1.05 seconds is seven times faster than drive 7475b5d7, which logged 26 channels. If he asks about the ambient temperature: the mistake is logged as lesson 21, and the filled-in value is flagged in the data so it never mixes with measured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words: instead of typing a number once and leaving it, the program computes it from the car's data every time a new drive arrives. The spark line was written down, but the simulator never used it: it sat above the knock limit at every point, so all the spark came from the knock model. If he asks about other cars: the same method could be tried on any car we log with the same channels — but we have not tried it yet, so we promise no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he asks why we did not tune the numbers until it matched: we tried, and every tuning improved one drive and broke another. When that happens, the problem is the shape of the equation, not its numbers — lesson 20 in our mistake log. The figures: oil error fell from 7.55 to 3.57 degrees, and to 3.90 if the constants are fitted without the Taif drive. The oil time constant is now 57 seconds instead of 14 by the equation, and 60 seconds when measured the same way as the car (the validation slide). The review found the sentence "fuel does not heat the oil" wrong: the gap rises 1.5 to 2.8 degrees for every gram of fuel per second, and we corrected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Conservation of mass means: what leaves through the exhaust = the air in + the fuel. The old formula (fuel × 15) was 4.5% low in normal running and 11% high when the engine is enriched, so it hid part of the cooling that enrichment really gives. If he notices that the peak did not change — that is exactly the point: the agreement is a coincidence, and we measured each correction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downshift: like flooring it on a hill and the car dropping a gear by itself. The simulator did not, so it asked the engine for torque it could not give. The knock limit: the most spark advance before combustion becomes irregular. The 26 points are steady operating points from our drives, between 30 and 75 kPa.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of 11 is the same count as before, but now 4 rows are compared with our real car — a harder and more honest test. The time constant: how many seconds the oil needs to catch up with a change in temperature. Row 7 (the turbine housing time constant, 48 seconds) is still scored against literature, because the car has no sensor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trap we fell into with the intake-air sensor: the correlation was 0.35 while the readings were slow, and 0.95 once we logged only 7 channels. So "we found no relationship" does not mean "there is no relationship" — the measurement was slower than the thing it measures. Drive C writes nothing to the car: it only logs, the passenger holds the phone and the driver drives.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with confidence, not as an apology: we found both defects ourselves, in the merge review. An example for the first: a driver who looks at the road once every two seconds over-corrects right, then left, and weaves. Looking every tenth of a second, he drives straight. The second does not happen in the real car: a real engine controller picks the spark every engine revolution, and a real road does not jump from flat to 12% in an instant. Jad and Ghassan agreed: both are fixed before any new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he asks: the numbers changed because the simulator became more accurate, and every change has a written reason. He saw 34% in the last update, so he should hear why it is now 43.4%: the old exhaust formula understated the damage of the stock car, so the percentage came out lower than it really is. "Current grade" is a hand-written policy that protects according to the grade the car is on now, with no look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can be shown if there is time left: it replays a real drive in three dimensions, with the estimated temperature moment by moment. The document guard is why every number in this deck has a source: if a number changes in the simulator and we forget to update a document, the check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this: we know exactly what the two defects are, their fixes are written down and agreed, and after that we re-measure everything in one go. Drive C comes before A because C settles the knock question, and A settles the oil. If he asks about new cars: deriving the constants from the logs could work for any car we log with the same channels — but we have to try it before promising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813816"/>
            <a:ext cx="10561320" cy="274320"/>
          </a:xfrm>
          <a:prstGeom prst="rect">
            <a:avLst/>
          </a:prstGeom>
          <a:noFill/>
          <a:ln/>
        </p:spPr>
        <p:txBody>
          <a:bodyPr wrap="square" lIns="0" tIns="0" rIns="0" bIns="0" rtlCol="0" anchor="t"/>
          <a:lstStyle/>
          <a:p>
            <a:pPr algn="l" indent="0" marL="0">
              <a:lnSpc>
                <a:spcPct val="115000"/>
              </a:lnSpc>
              <a:buNone/>
            </a:pPr>
            <a:r>
              <a:rPr lang="en-US" sz="1400" dirty="0">
                <a:solidFill>
                  <a:srgbClr val="7FB2DC"/>
                </a:solidFill>
                <a:latin typeface="Calibri" pitchFamily="34" charset="0"/>
                <a:cs typeface="Calibri"/>
              </a:rPr>
              <a:t>Graduation Project · University of Jeddah</a:t>
            </a:r>
            <a:endParaRPr lang="en-US" sz="1400" dirty="0"/>
          </a:p>
        </p:txBody>
      </p:sp>
      <p:sp>
        <p:nvSpPr>
          <p:cNvPr id="3" name="Text 1"/>
          <p:cNvSpPr txBox="1"/>
          <p:nvPr/>
        </p:nvSpPr>
        <p:spPr>
          <a:xfrm>
            <a:off x="813816" y="2606040"/>
            <a:ext cx="10561320" cy="868680"/>
          </a:xfrm>
          <a:prstGeom prst="rect">
            <a:avLst/>
          </a:prstGeom>
          <a:noFill/>
          <a:ln/>
        </p:spPr>
        <p:txBody>
          <a:bodyPr wrap="square" lIns="0" tIns="0" rIns="0" bIns="0" rtlCol="0" anchor="t"/>
          <a:lstStyle/>
          <a:p>
            <a:pPr algn="l" indent="0" marL="0">
              <a:lnSpc>
                <a:spcPct val="100000"/>
              </a:lnSpc>
              <a:buNone/>
            </a:pPr>
            <a:r>
              <a:rPr lang="en-US" sz="5200" b="1" dirty="0">
                <a:solidFill>
                  <a:srgbClr val="F2F4F6"/>
                </a:solidFill>
                <a:latin typeface="Calibri" pitchFamily="34" charset="0"/>
                <a:cs typeface="Calibri"/>
              </a:rPr>
              <a:t>Project Update</a:t>
            </a:r>
            <a:endParaRPr lang="en-US" sz="5200" dirty="0"/>
          </a:p>
        </p:txBody>
      </p:sp>
      <p:sp>
        <p:nvSpPr>
          <p:cNvPr id="4" name="Text 2"/>
          <p:cNvSpPr txBox="1"/>
          <p:nvPr/>
        </p:nvSpPr>
        <p:spPr>
          <a:xfrm>
            <a:off x="813816" y="3611880"/>
            <a:ext cx="10561320" cy="457200"/>
          </a:xfrm>
          <a:prstGeom prst="rect">
            <a:avLst/>
          </a:prstGeom>
          <a:noFill/>
          <a:ln/>
        </p:spPr>
        <p:txBody>
          <a:bodyPr wrap="square" lIns="0" tIns="0" rIns="0" bIns="0" rtlCol="0" anchor="t"/>
          <a:lstStyle/>
          <a:p>
            <a:pPr algn="l" indent="0" marL="0">
              <a:lnSpc>
                <a:spcPct val="115000"/>
              </a:lnSpc>
              <a:buNone/>
            </a:pPr>
            <a:r>
              <a:rPr lang="en-US" sz="2200" dirty="0">
                <a:solidFill>
                  <a:srgbClr val="C9D3DD"/>
                </a:solidFill>
                <a:latin typeface="Calibri" pitchFamily="34" charset="0"/>
                <a:cs typeface="Calibri"/>
              </a:rPr>
              <a:t>What happened since the 20 September update</a:t>
            </a:r>
            <a:endParaRPr lang="en-US" sz="2200" dirty="0"/>
          </a:p>
        </p:txBody>
      </p:sp>
      <p:sp>
        <p:nvSpPr>
          <p:cNvPr id="5" name="Text 3"/>
          <p:cNvSpPr txBox="1"/>
          <p:nvPr/>
        </p:nvSpPr>
        <p:spPr>
          <a:xfrm>
            <a:off x="813816" y="5815584"/>
            <a:ext cx="3657600" cy="274320"/>
          </a:xfrm>
          <a:prstGeom prst="rect">
            <a:avLst/>
          </a:prstGeom>
          <a:noFill/>
          <a:ln/>
        </p:spPr>
        <p:txBody>
          <a:bodyPr wrap="square" lIns="0" tIns="0" rIns="0" bIns="0" rtlCol="0" anchor="t"/>
          <a:lstStyle/>
          <a:p>
            <a:pPr algn="l" indent="0" marL="0">
              <a:lnSpc>
                <a:spcPct val="115000"/>
              </a:lnSpc>
              <a:buNone/>
            </a:pPr>
            <a:r>
              <a:rPr lang="en-US" sz="1300" dirty="0">
                <a:solidFill>
                  <a:srgbClr val="7D8E9E"/>
                </a:solidFill>
                <a:latin typeface="Calibri" pitchFamily="34" charset="0"/>
                <a:cs typeface="Calibri"/>
              </a:rPr>
              <a:t>1 October 2026</a:t>
            </a:r>
            <a:endParaRPr lang="en-US" sz="1300" dirty="0"/>
          </a:p>
        </p:txBody>
      </p:sp>
      <p:sp>
        <p:nvSpPr>
          <p:cNvPr id="6" name="Text 4"/>
          <p:cNvSpPr txBox="1"/>
          <p:nvPr/>
        </p:nvSpPr>
        <p:spPr>
          <a:xfrm>
            <a:off x="4059936" y="5815584"/>
            <a:ext cx="7315200" cy="274320"/>
          </a:xfrm>
          <a:prstGeom prst="rect">
            <a:avLst/>
          </a:prstGeom>
          <a:noFill/>
          <a:ln/>
        </p:spPr>
        <p:txBody>
          <a:bodyPr wrap="square" lIns="0" tIns="0" rIns="0" bIns="0" rtlCol="0" anchor="t"/>
          <a:lstStyle/>
          <a:p>
            <a:pPr algn="r" indent="0" marL="0">
              <a:lnSpc>
                <a:spcPct val="115000"/>
              </a:lnSpc>
              <a:buNone/>
            </a:pPr>
            <a:r>
              <a:rPr lang="en-US" sz="1300" dirty="0">
                <a:solidFill>
                  <a:srgbClr val="7D8E9E"/>
                </a:solidFill>
                <a:latin typeface="Calibri" pitchFamily="34" charset="0"/>
                <a:cs typeface="Calibri"/>
              </a:rPr>
              <a:t>Every number in this deck is in the repository, with the script or report that produced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813816"/>
            <a:ext cx="10561320" cy="566928"/>
          </a:xfrm>
          <a:prstGeom prst="rect">
            <a:avLst/>
          </a:prstGeom>
          <a:noFill/>
          <a:ln/>
        </p:spPr>
        <p:txBody>
          <a:bodyPr wrap="square" lIns="0" tIns="0" rIns="0" bIns="0" rtlCol="0" anchor="t"/>
          <a:lstStyle/>
          <a:p>
            <a:pPr algn="l" indent="0" marL="0">
              <a:lnSpc>
                <a:spcPct val="100000"/>
              </a:lnSpc>
              <a:buNone/>
            </a:pPr>
            <a:r>
              <a:rPr lang="en-US" sz="3400" b="1" dirty="0">
                <a:solidFill>
                  <a:srgbClr val="F2F4F6"/>
                </a:solidFill>
                <a:latin typeface="Calibri" pitchFamily="34" charset="0"/>
                <a:cs typeface="Calibri"/>
              </a:rPr>
              <a:t>The summary in three lines</a:t>
            </a:r>
            <a:endParaRPr lang="en-US" sz="3400" dirty="0"/>
          </a:p>
        </p:txBody>
      </p:sp>
      <p:sp>
        <p:nvSpPr>
          <p:cNvPr id="3" name="Shape 1"/>
          <p:cNvSpPr/>
          <p:nvPr/>
        </p:nvSpPr>
        <p:spPr>
          <a:xfrm>
            <a:off x="813816" y="1664208"/>
            <a:ext cx="10561320" cy="1152144"/>
          </a:xfrm>
          <a:prstGeom prst="roundRect">
            <a:avLst>
              <a:gd name="adj" fmla="val 6349"/>
            </a:avLst>
          </a:prstGeom>
          <a:solidFill>
            <a:srgbClr val="1C2A36"/>
          </a:solidFill>
          <a:ln w="9525">
            <a:solidFill>
              <a:srgbClr val="2D3E50"/>
            </a:solidFill>
            <a:prstDash val="solid"/>
          </a:ln>
        </p:spPr>
      </p:sp>
      <p:sp>
        <p:nvSpPr>
          <p:cNvPr id="4" name="Text 2"/>
          <p:cNvSpPr txBox="1"/>
          <p:nvPr/>
        </p:nvSpPr>
        <p:spPr>
          <a:xfrm>
            <a:off x="1088136" y="1911096"/>
            <a:ext cx="10012680" cy="329184"/>
          </a:xfrm>
          <a:prstGeom prst="rect">
            <a:avLst/>
          </a:prstGeom>
          <a:noFill/>
          <a:ln/>
        </p:spPr>
        <p:txBody>
          <a:bodyPr wrap="square" lIns="0" tIns="0" rIns="0" bIns="0" rtlCol="0" anchor="t"/>
          <a:lstStyle/>
          <a:p>
            <a:pPr algn="l" indent="0" marL="0">
              <a:lnSpc>
                <a:spcPct val="115000"/>
              </a:lnSpc>
              <a:buNone/>
            </a:pPr>
            <a:r>
              <a:rPr lang="en-US" sz="1900" b="1" dirty="0">
                <a:solidFill>
                  <a:srgbClr val="F2F4F6"/>
                </a:solidFill>
                <a:latin typeface="Calibri" pitchFamily="34" charset="0"/>
                <a:cs typeface="Calibri"/>
              </a:rPr>
              <a:t>The simulator's constants are now computed from our car's logs</a:t>
            </a:r>
            <a:endParaRPr lang="en-US" sz="1900" dirty="0"/>
          </a:p>
        </p:txBody>
      </p:sp>
      <p:sp>
        <p:nvSpPr>
          <p:cNvPr id="5" name="Text 3"/>
          <p:cNvSpPr txBox="1"/>
          <p:nvPr/>
        </p:nvSpPr>
        <p:spPr>
          <a:xfrm>
            <a:off x="1088136" y="2286000"/>
            <a:ext cx="10012680" cy="329184"/>
          </a:xfrm>
          <a:prstGeom prst="rect">
            <a:avLst/>
          </a:prstGeom>
          <a:noFill/>
          <a:ln/>
        </p:spPr>
        <p:txBody>
          <a:bodyPr wrap="square" lIns="0" tIns="0" rIns="0" bIns="0" rtlCol="0" anchor="t"/>
          <a:lstStyle/>
          <a:p>
            <a:pPr algn="l" indent="0" marL="0">
              <a:lnSpc>
                <a:spcPct val="115000"/>
              </a:lnSpc>
              <a:buNone/>
            </a:pPr>
            <a:r>
              <a:rPr lang="en-US" sz="1500" dirty="0">
                <a:solidFill>
                  <a:srgbClr val="93A5B6"/>
                </a:solidFill>
                <a:latin typeface="Calibri" pitchFamily="34" charset="0"/>
                <a:cs typeface="Calibri"/>
              </a:rPr>
              <a:t>Heat, boost ceiling, spark, enrichment and downshifts — all recomputed with every new drive</a:t>
            </a:r>
            <a:endParaRPr lang="en-US" sz="1500" dirty="0"/>
          </a:p>
        </p:txBody>
      </p:sp>
      <p:sp>
        <p:nvSpPr>
          <p:cNvPr id="6" name="Shape 4"/>
          <p:cNvSpPr/>
          <p:nvPr/>
        </p:nvSpPr>
        <p:spPr>
          <a:xfrm>
            <a:off x="813816" y="2999232"/>
            <a:ext cx="10561320" cy="1152144"/>
          </a:xfrm>
          <a:prstGeom prst="roundRect">
            <a:avLst>
              <a:gd name="adj" fmla="val 6349"/>
            </a:avLst>
          </a:prstGeom>
          <a:solidFill>
            <a:srgbClr val="1C2A36"/>
          </a:solidFill>
          <a:ln w="9525">
            <a:solidFill>
              <a:srgbClr val="2D3E50"/>
            </a:solidFill>
            <a:prstDash val="solid"/>
          </a:ln>
        </p:spPr>
      </p:sp>
      <p:sp>
        <p:nvSpPr>
          <p:cNvPr id="7" name="Text 5"/>
          <p:cNvSpPr txBox="1"/>
          <p:nvPr/>
        </p:nvSpPr>
        <p:spPr>
          <a:xfrm>
            <a:off x="1088136" y="3246120"/>
            <a:ext cx="10012680" cy="329184"/>
          </a:xfrm>
          <a:prstGeom prst="rect">
            <a:avLst/>
          </a:prstGeom>
          <a:noFill/>
          <a:ln/>
        </p:spPr>
        <p:txBody>
          <a:bodyPr wrap="square" lIns="0" tIns="0" rIns="0" bIns="0" rtlCol="0" anchor="t"/>
          <a:lstStyle/>
          <a:p>
            <a:pPr algn="l" indent="0" marL="0">
              <a:lnSpc>
                <a:spcPct val="115000"/>
              </a:lnSpc>
              <a:buNone/>
            </a:pPr>
            <a:r>
              <a:rPr lang="en-US" sz="1900" b="1" dirty="0">
                <a:solidFill>
                  <a:srgbClr val="F2F4F6"/>
                </a:solidFill>
                <a:latin typeface="Calibri" pitchFamily="34" charset="0"/>
                <a:cs typeface="Calibri"/>
              </a:rPr>
              <a:t>We logged a new drive, and merged the team's work into one version</a:t>
            </a:r>
            <a:endParaRPr lang="en-US" sz="1900" dirty="0"/>
          </a:p>
        </p:txBody>
      </p:sp>
      <p:sp>
        <p:nvSpPr>
          <p:cNvPr id="8" name="Text 6"/>
          <p:cNvSpPr txBox="1"/>
          <p:nvPr/>
        </p:nvSpPr>
        <p:spPr>
          <a:xfrm>
            <a:off x="1088136" y="3621024"/>
            <a:ext cx="10012680" cy="329184"/>
          </a:xfrm>
          <a:prstGeom prst="rect">
            <a:avLst/>
          </a:prstGeom>
          <a:noFill/>
          <a:ln/>
        </p:spPr>
        <p:txBody>
          <a:bodyPr wrap="square" lIns="0" tIns="0" rIns="0" bIns="0" rtlCol="0" anchor="t"/>
          <a:lstStyle/>
          <a:p>
            <a:pPr algn="l" indent="0" marL="0">
              <a:lnSpc>
                <a:spcPct val="115000"/>
              </a:lnSpc>
              <a:buNone/>
            </a:pPr>
            <a:r>
              <a:rPr lang="en-US" sz="1500" dirty="0">
                <a:solidFill>
                  <a:srgbClr val="93A5B6"/>
                </a:solidFill>
                <a:latin typeface="Calibri" pitchFamily="34" charset="0"/>
                <a:cs typeface="Calibri"/>
              </a:rPr>
              <a:t>Drive B: forty-one full-throttle pulls in a held gear · The merge: 15 conflicting files, no file deleted</a:t>
            </a:r>
            <a:endParaRPr lang="en-US" sz="1500" dirty="0"/>
          </a:p>
        </p:txBody>
      </p:sp>
      <p:sp>
        <p:nvSpPr>
          <p:cNvPr id="9" name="Shape 7"/>
          <p:cNvSpPr/>
          <p:nvPr/>
        </p:nvSpPr>
        <p:spPr>
          <a:xfrm>
            <a:off x="813816" y="4334256"/>
            <a:ext cx="10561320" cy="1152144"/>
          </a:xfrm>
          <a:prstGeom prst="roundRect">
            <a:avLst>
              <a:gd name="adj" fmla="val 6349"/>
            </a:avLst>
          </a:prstGeom>
          <a:solidFill>
            <a:srgbClr val="1C2A36"/>
          </a:solidFill>
          <a:ln w="9525">
            <a:solidFill>
              <a:srgbClr val="2D3E50"/>
            </a:solidFill>
            <a:prstDash val="solid"/>
          </a:ln>
        </p:spPr>
      </p:sp>
      <p:sp>
        <p:nvSpPr>
          <p:cNvPr id="10" name="Text 8"/>
          <p:cNvSpPr txBox="1"/>
          <p:nvPr/>
        </p:nvSpPr>
        <p:spPr>
          <a:xfrm>
            <a:off x="1088136" y="4581144"/>
            <a:ext cx="10012680" cy="329184"/>
          </a:xfrm>
          <a:prstGeom prst="rect">
            <a:avLst/>
          </a:prstGeom>
          <a:noFill/>
          <a:ln/>
        </p:spPr>
        <p:txBody>
          <a:bodyPr wrap="square" lIns="0" tIns="0" rIns="0" bIns="0" rtlCol="0" anchor="t"/>
          <a:lstStyle/>
          <a:p>
            <a:pPr algn="l" indent="0" marL="0">
              <a:lnSpc>
                <a:spcPct val="115000"/>
              </a:lnSpc>
              <a:buNone/>
            </a:pPr>
            <a:r>
              <a:rPr lang="en-US" sz="1900" b="1" dirty="0">
                <a:solidFill>
                  <a:srgbClr val="F2F4F6"/>
                </a:solidFill>
                <a:latin typeface="Calibri" pitchFamily="34" charset="0"/>
                <a:cs typeface="Calibri"/>
              </a:rPr>
              <a:t>And we found two defects in the simulator, with a known fix for each</a:t>
            </a:r>
            <a:endParaRPr lang="en-US" sz="1900" dirty="0"/>
          </a:p>
        </p:txBody>
      </p:sp>
      <p:sp>
        <p:nvSpPr>
          <p:cNvPr id="11" name="Text 9"/>
          <p:cNvSpPr txBox="1"/>
          <p:nvPr/>
        </p:nvSpPr>
        <p:spPr>
          <a:xfrm>
            <a:off x="1088136" y="4956048"/>
            <a:ext cx="10012680" cy="329184"/>
          </a:xfrm>
          <a:prstGeom prst="rect">
            <a:avLst/>
          </a:prstGeom>
          <a:noFill/>
          <a:ln/>
        </p:spPr>
        <p:txBody>
          <a:bodyPr wrap="square" lIns="0" tIns="0" rIns="0" bIns="0" rtlCol="0" anchor="t"/>
          <a:lstStyle/>
          <a:p>
            <a:pPr algn="l" indent="0" marL="0">
              <a:lnSpc>
                <a:spcPct val="115000"/>
              </a:lnSpc>
              <a:buNone/>
            </a:pPr>
            <a:r>
              <a:rPr lang="en-US" sz="1500" dirty="0">
                <a:solidFill>
                  <a:srgbClr val="93A5B6"/>
                </a:solidFill>
                <a:latin typeface="Calibri" pitchFamily="34" charset="0"/>
                <a:cs typeface="Calibri"/>
              </a:rPr>
              <a:t>The coolant calculation oscillates, and an artificial one-second "knock" at the start of every climb</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Data</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A new drive: full-throttle pulls in a held gear</a:t>
            </a:r>
            <a:endParaRPr lang="en-US" sz="3000" dirty="0"/>
          </a:p>
        </p:txBody>
      </p:sp>
      <p:sp>
        <p:nvSpPr>
          <p:cNvPr id="4" name="Text 2"/>
          <p:cNvSpPr txBox="1"/>
          <p:nvPr/>
        </p:nvSpPr>
        <p:spPr>
          <a:xfrm>
            <a:off x="813816" y="1627632"/>
            <a:ext cx="10561320" cy="329184"/>
          </a:xfrm>
          <a:prstGeom prst="rect">
            <a:avLst/>
          </a:prstGeom>
          <a:noFill/>
          <a:ln/>
        </p:spPr>
        <p:txBody>
          <a:bodyPr wrap="square" lIns="0" tIns="0" rIns="0" bIns="0" rtlCol="0" anchor="t"/>
          <a:lstStyle/>
          <a:p>
            <a:pPr algn="l" indent="0" marL="0">
              <a:lnSpc>
                <a:spcPct val="115000"/>
              </a:lnSpc>
              <a:buNone/>
            </a:pPr>
            <a:r>
              <a:rPr lang="en-US" sz="1450" dirty="0">
                <a:solidFill>
                  <a:srgbClr val="93A5B6"/>
                </a:solidFill>
                <a:latin typeface="Calibri" pitchFamily="34" charset="0"/>
                <a:cs typeface="Calibri"/>
              </a:rPr>
              <a:t>Why: our earlier drives never asked for high boost at low engine speed, so the simulator could not know what the car does there.</a:t>
            </a:r>
            <a:endParaRPr lang="en-US" sz="1450" dirty="0"/>
          </a:p>
        </p:txBody>
      </p:sp>
      <p:sp>
        <p:nvSpPr>
          <p:cNvPr id="5" name="Shape 3"/>
          <p:cNvSpPr/>
          <p:nvPr/>
        </p:nvSpPr>
        <p:spPr>
          <a:xfrm>
            <a:off x="813816" y="2148840"/>
            <a:ext cx="3410712" cy="2011680"/>
          </a:xfrm>
          <a:prstGeom prst="roundRect">
            <a:avLst>
              <a:gd name="adj" fmla="val 3636"/>
            </a:avLst>
          </a:prstGeom>
          <a:solidFill>
            <a:srgbClr val="1C2A36"/>
          </a:solidFill>
          <a:ln w="9525">
            <a:solidFill>
              <a:srgbClr val="2D3E50"/>
            </a:solidFill>
            <a:prstDash val="solid"/>
          </a:ln>
        </p:spPr>
      </p:sp>
      <p:sp>
        <p:nvSpPr>
          <p:cNvPr id="6" name="Text 4"/>
          <p:cNvSpPr txBox="1"/>
          <p:nvPr/>
        </p:nvSpPr>
        <p:spPr>
          <a:xfrm>
            <a:off x="1014984" y="2350008"/>
            <a:ext cx="3008376" cy="548640"/>
          </a:xfrm>
          <a:prstGeom prst="rect">
            <a:avLst/>
          </a:prstGeom>
          <a:noFill/>
          <a:ln/>
        </p:spPr>
        <p:txBody>
          <a:bodyPr wrap="square" lIns="0" tIns="0" rIns="0" bIns="0" rtlCol="0" anchor="t"/>
          <a:lstStyle/>
          <a:p>
            <a:pPr algn="l" indent="0" marL="0">
              <a:lnSpc>
                <a:spcPct val="100000"/>
              </a:lnSpc>
              <a:buNone/>
            </a:pPr>
            <a:r>
              <a:rPr lang="en-US" sz="3000" b="1" dirty="0">
                <a:solidFill>
                  <a:srgbClr val="7FB2DC"/>
                </a:solidFill>
                <a:latin typeface="Calibri" pitchFamily="34" charset="0"/>
                <a:cs typeface="Calibri"/>
              </a:rPr>
              <a:t>41</a:t>
            </a:r>
            <a:endParaRPr lang="en-US" sz="3000" dirty="0"/>
          </a:p>
        </p:txBody>
      </p:sp>
      <p:sp>
        <p:nvSpPr>
          <p:cNvPr id="7" name="Text 5"/>
          <p:cNvSpPr txBox="1"/>
          <p:nvPr/>
        </p:nvSpPr>
        <p:spPr>
          <a:xfrm>
            <a:off x="1014984" y="2953512"/>
            <a:ext cx="3008376" cy="292608"/>
          </a:xfrm>
          <a:prstGeom prst="rect">
            <a:avLst/>
          </a:prstGeom>
          <a:noFill/>
          <a:ln/>
        </p:spPr>
        <p:txBody>
          <a:bodyPr wrap="square" lIns="0" tIns="0" rIns="0" bIns="0" rtlCol="0" anchor="t"/>
          <a:lstStyle/>
          <a:p>
            <a:pPr algn="l" indent="0" marL="0">
              <a:lnSpc>
                <a:spcPct val="115000"/>
              </a:lnSpc>
              <a:buNone/>
            </a:pPr>
            <a:r>
              <a:rPr lang="en-US" sz="1550" b="1" dirty="0">
                <a:solidFill>
                  <a:srgbClr val="F2F4F6"/>
                </a:solidFill>
                <a:latin typeface="Calibri" pitchFamily="34" charset="0"/>
                <a:cs typeface="Calibri"/>
              </a:rPr>
              <a:t>full-throttle pulls</a:t>
            </a:r>
            <a:endParaRPr lang="en-US" sz="1550" dirty="0"/>
          </a:p>
        </p:txBody>
      </p:sp>
      <p:sp>
        <p:nvSpPr>
          <p:cNvPr id="8" name="Text 6"/>
          <p:cNvSpPr txBox="1"/>
          <p:nvPr/>
        </p:nvSpPr>
        <p:spPr>
          <a:xfrm>
            <a:off x="1014984" y="3282696"/>
            <a:ext cx="3008376" cy="77724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in 6th, 7th and 8th, held manually, over 26.7 minutes</a:t>
            </a:r>
            <a:endParaRPr lang="en-US" sz="1300" dirty="0"/>
          </a:p>
        </p:txBody>
      </p:sp>
      <p:sp>
        <p:nvSpPr>
          <p:cNvPr id="9" name="Shape 7"/>
          <p:cNvSpPr/>
          <p:nvPr/>
        </p:nvSpPr>
        <p:spPr>
          <a:xfrm>
            <a:off x="4389120" y="2148840"/>
            <a:ext cx="3410712" cy="2011680"/>
          </a:xfrm>
          <a:prstGeom prst="roundRect">
            <a:avLst>
              <a:gd name="adj" fmla="val 3636"/>
            </a:avLst>
          </a:prstGeom>
          <a:solidFill>
            <a:srgbClr val="1C2A36"/>
          </a:solidFill>
          <a:ln w="9525">
            <a:solidFill>
              <a:srgbClr val="2D3E50"/>
            </a:solidFill>
            <a:prstDash val="solid"/>
          </a:ln>
        </p:spPr>
      </p:sp>
      <p:sp>
        <p:nvSpPr>
          <p:cNvPr id="10" name="Text 8"/>
          <p:cNvSpPr txBox="1"/>
          <p:nvPr/>
        </p:nvSpPr>
        <p:spPr>
          <a:xfrm>
            <a:off x="4590288" y="2350008"/>
            <a:ext cx="3008376" cy="548640"/>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1.05 s</a:t>
            </a:r>
            <a:endParaRPr lang="en-US" sz="3000" dirty="0"/>
          </a:p>
        </p:txBody>
      </p:sp>
      <p:sp>
        <p:nvSpPr>
          <p:cNvPr id="11" name="Text 9"/>
          <p:cNvSpPr txBox="1"/>
          <p:nvPr/>
        </p:nvSpPr>
        <p:spPr>
          <a:xfrm>
            <a:off x="4590288" y="2953512"/>
            <a:ext cx="3008376" cy="292608"/>
          </a:xfrm>
          <a:prstGeom prst="rect">
            <a:avLst/>
          </a:prstGeom>
          <a:noFill/>
          <a:ln/>
        </p:spPr>
        <p:txBody>
          <a:bodyPr wrap="square" lIns="0" tIns="0" rIns="0" bIns="0" rtlCol="0" anchor="t"/>
          <a:lstStyle/>
          <a:p>
            <a:pPr algn="l" indent="0" marL="0">
              <a:lnSpc>
                <a:spcPct val="115000"/>
              </a:lnSpc>
              <a:buNone/>
            </a:pPr>
            <a:r>
              <a:rPr lang="en-US" sz="1550" b="1" dirty="0">
                <a:solidFill>
                  <a:srgbClr val="F2F4F6"/>
                </a:solidFill>
                <a:latin typeface="Calibri" pitchFamily="34" charset="0"/>
                <a:cs typeface="Calibri"/>
              </a:rPr>
              <a:t>per reading</a:t>
            </a:r>
            <a:endParaRPr lang="en-US" sz="1550" dirty="0"/>
          </a:p>
        </p:txBody>
      </p:sp>
      <p:sp>
        <p:nvSpPr>
          <p:cNvPr id="12" name="Text 10"/>
          <p:cNvSpPr txBox="1"/>
          <p:nvPr/>
        </p:nvSpPr>
        <p:spPr>
          <a:xfrm>
            <a:off x="4590288" y="3282696"/>
            <a:ext cx="3008376" cy="77724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we logged only 7 channels, so each one is read every 1.05 seconds</a:t>
            </a:r>
            <a:endParaRPr lang="en-US" sz="1300" dirty="0"/>
          </a:p>
        </p:txBody>
      </p:sp>
      <p:sp>
        <p:nvSpPr>
          <p:cNvPr id="13" name="Shape 11"/>
          <p:cNvSpPr/>
          <p:nvPr/>
        </p:nvSpPr>
        <p:spPr>
          <a:xfrm>
            <a:off x="7964424" y="2148840"/>
            <a:ext cx="3410712" cy="2011680"/>
          </a:xfrm>
          <a:prstGeom prst="roundRect">
            <a:avLst>
              <a:gd name="adj" fmla="val 3636"/>
            </a:avLst>
          </a:prstGeom>
          <a:solidFill>
            <a:srgbClr val="1C2A36"/>
          </a:solidFill>
          <a:ln w="9525">
            <a:solidFill>
              <a:srgbClr val="2D3E50"/>
            </a:solidFill>
            <a:prstDash val="solid"/>
          </a:ln>
        </p:spPr>
      </p:sp>
      <p:sp>
        <p:nvSpPr>
          <p:cNvPr id="14" name="Text 12"/>
          <p:cNvSpPr txBox="1"/>
          <p:nvPr/>
        </p:nvSpPr>
        <p:spPr>
          <a:xfrm>
            <a:off x="8165592" y="2350008"/>
            <a:ext cx="3008376" cy="548640"/>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321.7</a:t>
            </a:r>
            <a:endParaRPr lang="en-US" sz="3000" dirty="0"/>
          </a:p>
        </p:txBody>
      </p:sp>
      <p:sp>
        <p:nvSpPr>
          <p:cNvPr id="15" name="Text 13"/>
          <p:cNvSpPr txBox="1"/>
          <p:nvPr/>
        </p:nvSpPr>
        <p:spPr>
          <a:xfrm>
            <a:off x="8165592" y="2953512"/>
            <a:ext cx="3008376" cy="292608"/>
          </a:xfrm>
          <a:prstGeom prst="rect">
            <a:avLst/>
          </a:prstGeom>
          <a:noFill/>
          <a:ln/>
        </p:spPr>
        <p:txBody>
          <a:bodyPr wrap="square" lIns="0" tIns="0" rIns="0" bIns="0" rtlCol="0" anchor="t"/>
          <a:lstStyle/>
          <a:p>
            <a:pPr algn="l" indent="0" marL="0">
              <a:lnSpc>
                <a:spcPct val="115000"/>
              </a:lnSpc>
              <a:buNone/>
            </a:pPr>
            <a:r>
              <a:rPr lang="en-US" sz="1550" b="1" dirty="0">
                <a:solidFill>
                  <a:srgbClr val="F2F4F6"/>
                </a:solidFill>
                <a:latin typeface="Calibri" pitchFamily="34" charset="0"/>
                <a:cs typeface="Calibri"/>
              </a:rPr>
              <a:t>minutes logged now</a:t>
            </a:r>
            <a:endParaRPr lang="en-US" sz="1550" dirty="0"/>
          </a:p>
        </p:txBody>
      </p:sp>
      <p:sp>
        <p:nvSpPr>
          <p:cNvPr id="16" name="Text 14"/>
          <p:cNvSpPr txBox="1"/>
          <p:nvPr/>
        </p:nvSpPr>
        <p:spPr>
          <a:xfrm>
            <a:off x="8165592" y="3282696"/>
            <a:ext cx="3008376" cy="77724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over 11 drives, 8 of them carrying usable samples — it was 295.0 minutes over 10 drives</a:t>
            </a:r>
            <a:endParaRPr lang="en-US" sz="1300" dirty="0"/>
          </a:p>
        </p:txBody>
      </p:sp>
      <p:sp>
        <p:nvSpPr>
          <p:cNvPr id="17" name="Shape 15"/>
          <p:cNvSpPr/>
          <p:nvPr/>
        </p:nvSpPr>
        <p:spPr>
          <a:xfrm>
            <a:off x="813816" y="4434840"/>
            <a:ext cx="10561320" cy="1188720"/>
          </a:xfrm>
          <a:prstGeom prst="roundRect">
            <a:avLst>
              <a:gd name="adj" fmla="val 6154"/>
            </a:avLst>
          </a:prstGeom>
          <a:solidFill>
            <a:srgbClr val="2A2318"/>
          </a:solidFill>
          <a:ln w="9525">
            <a:solidFill>
              <a:srgbClr val="6E5427"/>
            </a:solidFill>
            <a:prstDash val="solid"/>
          </a:ln>
        </p:spPr>
      </p:sp>
      <p:sp>
        <p:nvSpPr>
          <p:cNvPr id="18" name="Text 16"/>
          <p:cNvSpPr txBox="1"/>
          <p:nvPr/>
        </p:nvSpPr>
        <p:spPr>
          <a:xfrm>
            <a:off x="1088136" y="4599432"/>
            <a:ext cx="10012680" cy="310896"/>
          </a:xfrm>
          <a:prstGeom prst="rect">
            <a:avLst/>
          </a:prstGeom>
          <a:noFill/>
          <a:ln/>
        </p:spPr>
        <p:txBody>
          <a:bodyPr wrap="square" lIns="0" tIns="0" rIns="0" bIns="0" rtlCol="0" anchor="t"/>
          <a:lstStyle/>
          <a:p>
            <a:pPr algn="l" indent="0" marL="0">
              <a:lnSpc>
                <a:spcPct val="115000"/>
              </a:lnSpc>
              <a:buNone/>
            </a:pPr>
            <a:r>
              <a:rPr lang="en-US" sz="1600" b="1" dirty="0">
                <a:solidFill>
                  <a:srgbClr val="E3A857"/>
                </a:solidFill>
                <a:latin typeface="Calibri" pitchFamily="34" charset="0"/>
                <a:cs typeface="Calibri"/>
              </a:rPr>
              <a:t>A lesson we paid for: we forgot the ambient-temperature channel</a:t>
            </a:r>
            <a:endParaRPr lang="en-US" sz="1600" dirty="0"/>
          </a:p>
        </p:txBody>
      </p:sp>
      <p:sp>
        <p:nvSpPr>
          <p:cNvPr id="19" name="Text 17"/>
          <p:cNvSpPr txBox="1"/>
          <p:nvPr/>
        </p:nvSpPr>
        <p:spPr>
          <a:xfrm>
            <a:off x="1088136" y="4956048"/>
            <a:ext cx="10012680" cy="566928"/>
          </a:xfrm>
          <a:prstGeom prst="rect">
            <a:avLst/>
          </a:prstGeom>
          <a:noFill/>
          <a:ln/>
        </p:spPr>
        <p:txBody>
          <a:bodyPr wrap="square" lIns="0" tIns="0" rIns="0" bIns="0" rtlCol="0" anchor="t"/>
          <a:lstStyle/>
          <a:p>
            <a:pPr algn="l" indent="0" marL="0">
              <a:lnSpc>
                <a:spcPct val="115000"/>
              </a:lnSpc>
              <a:buNone/>
            </a:pPr>
            <a:r>
              <a:rPr lang="en-US" sz="1450" dirty="0">
                <a:solidFill>
                  <a:srgbClr val="C9D3DD"/>
                </a:solidFill>
                <a:latin typeface="Calibri" pitchFamily="34" charset="0"/>
                <a:cs typeface="Calibri"/>
              </a:rPr>
              <a:t>Every heat calculation in the model needs it. We filled it with 42 °C from our own afternoon drives and flagged every such row as assumed — and the channel is now on every drive's list.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From the car itself</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The constants now come from the car's logs, not typed by hand</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3816" y="1691640"/>
          <a:ext cx="10561320" cy="914400"/>
        </p:xfrm>
        <a:graphic>
          <a:graphicData uri="http://schemas.openxmlformats.org/drawingml/2006/table">
            <a:tbl>
              <a:tblPr/>
              <a:tblGrid>
                <a:gridCol w="2377440"/>
                <a:gridCol w="3337560"/>
                <a:gridCol w="4846320"/>
              </a:tblGrid>
              <a:tr h="420624">
                <a:tc>
                  <a:txBody>
                    <a:bodyPr/>
                    <a:lstStyle/>
                    <a:p>
                      <a:pPr algn="l" indent="0" marL="0">
                        <a:buNone/>
                      </a:pPr>
                      <a:r>
                        <a:rPr lang="en-US" sz="1300" b="1" dirty="0">
                          <a:solidFill>
                            <a:srgbClr val="F2F4F6"/>
                          </a:solidFill>
                          <a:latin typeface="Calibri" pitchFamily="34" charset="0"/>
                          <a:cs typeface="Calibri"/>
                        </a:rPr>
                        <a:t>Constant</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Before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Now</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r>
              <a:tr h="548640">
                <a:tc>
                  <a:txBody>
                    <a:bodyPr/>
                    <a:lstStyle/>
                    <a:p>
                      <a:pPr algn="l" indent="0" marL="0">
                        <a:buNone/>
                      </a:pPr>
                      <a:r>
                        <a:rPr lang="en-US" sz="1350" b="1" dirty="0">
                          <a:solidFill>
                            <a:srgbClr val="F2F4F6"/>
                          </a:solidFill>
                          <a:latin typeface="Calibri" pitchFamily="34" charset="0"/>
                          <a:cs typeface="Calibri"/>
                        </a:rPr>
                        <a:t>Block and oil heat</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Assumed numbers</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Fitted on 7 drives that log oil, coolant and ambient</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548640">
                <a:tc>
                  <a:txBody>
                    <a:bodyPr/>
                    <a:lstStyle/>
                    <a:p>
                      <a:pPr algn="l" indent="0" marL="0">
                        <a:buNone/>
                      </a:pPr>
                      <a:r>
                        <a:rPr lang="en-US" sz="1350" b="1" dirty="0">
                          <a:solidFill>
                            <a:srgbClr val="F2F4F6"/>
                          </a:solidFill>
                          <a:latin typeface="Calibri" pitchFamily="34" charset="0"/>
                          <a:cs typeface="Calibri"/>
                        </a:rPr>
                        <a:t>Turbo boost ceiling</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A formula fitted once, on 8 September</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The measured envelope itself: the highest boost the car reached at each airflow</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r h="548640">
                <a:tc>
                  <a:txBody>
                    <a:bodyPr/>
                    <a:lstStyle/>
                    <a:p>
                      <a:pPr algn="l" indent="0" marL="0">
                        <a:buNone/>
                      </a:pPr>
                      <a:r>
                        <a:rPr lang="en-US" sz="1350" b="1" dirty="0">
                          <a:solidFill>
                            <a:srgbClr val="F2F4F6"/>
                          </a:solidFill>
                          <a:latin typeface="Calibri" pitchFamily="34" charset="0"/>
                          <a:cs typeface="Calibri"/>
                        </a:rPr>
                        <a:t>Spark offset</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26.18 — and the fitted line was never used at all</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13.42 — it now sets the spark at 25 of 26 points, with zero bias</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548640">
                <a:tc>
                  <a:txBody>
                    <a:bodyPr/>
                    <a:lstStyle/>
                    <a:p>
                      <a:pPr algn="l" indent="0" marL="0">
                        <a:buNone/>
                      </a:pPr>
                      <a:r>
                        <a:rPr lang="en-US" sz="1350" b="1" dirty="0">
                          <a:solidFill>
                            <a:srgbClr val="F2F4F6"/>
                          </a:solidFill>
                          <a:latin typeface="Calibri" pitchFamily="34" charset="0"/>
                          <a:cs typeface="Calibri"/>
                        </a:rPr>
                        <a:t>Enrichment timing</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2 and 9 s, on a wrong time axis</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1.5 and 3.0 s, from the timestamps · 8 of 9 cells within 0.02 of the car</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r h="548640">
                <a:tc>
                  <a:txBody>
                    <a:bodyPr/>
                    <a:lstStyle/>
                    <a:p>
                      <a:pPr algn="l" indent="0" marL="0">
                        <a:buNone/>
                      </a:pPr>
                      <a:r>
                        <a:rPr lang="en-US" sz="1350" b="1" dirty="0">
                          <a:solidFill>
                            <a:srgbClr val="F2F4F6"/>
                          </a:solidFill>
                          <a:latin typeface="Calibri" pitchFamily="34" charset="0"/>
                          <a:cs typeface="Calibri"/>
                        </a:rPr>
                        <a:t>Downshift table</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Typed by hand</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Measured from the simulator itself after every change</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bl>
          </a:graphicData>
        </a:graphic>
      </p:graphicFrame>
      <p:sp>
        <p:nvSpPr>
          <p:cNvPr id="5" name="Text 2"/>
          <p:cNvSpPr txBox="1"/>
          <p:nvPr/>
        </p:nvSpPr>
        <p:spPr>
          <a:xfrm>
            <a:off x="813816" y="4983480"/>
            <a:ext cx="10561320" cy="548640"/>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One script recomputes all of them with every new drive. What this car cannot provide is written down with the reason: turbine housing heat, exhaust back-pressure, and the radiator's split.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Oil</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2800" b="1" dirty="0">
                <a:solidFill>
                  <a:srgbClr val="F2F4F6"/>
                </a:solidFill>
                <a:latin typeface="Calibri" pitchFamily="34" charset="0"/>
                <a:cs typeface="Calibri"/>
              </a:rPr>
              <a:t>The oil model was wrong in the shape of its equation, not its numbers</a:t>
            </a:r>
            <a:endParaRPr lang="en-US" sz="2800" dirty="0"/>
          </a:p>
        </p:txBody>
      </p:sp>
      <p:sp>
        <p:nvSpPr>
          <p:cNvPr id="4" name="Text 2"/>
          <p:cNvSpPr txBox="1"/>
          <p:nvPr/>
        </p:nvSpPr>
        <p:spPr>
          <a:xfrm>
            <a:off x="813816" y="1691640"/>
            <a:ext cx="5212080" cy="292608"/>
          </a:xfrm>
          <a:prstGeom prst="rect">
            <a:avLst/>
          </a:prstGeom>
          <a:noFill/>
          <a:ln/>
        </p:spPr>
        <p:txBody>
          <a:bodyPr wrap="square" lIns="0" tIns="0" rIns="0" bIns="0" rtlCol="0" anchor="t"/>
          <a:lstStyle/>
          <a:p>
            <a:pPr algn="l" indent="0" marL="0">
              <a:lnSpc>
                <a:spcPct val="115000"/>
              </a:lnSpc>
              <a:buNone/>
            </a:pPr>
            <a:r>
              <a:rPr lang="en-US" sz="1400" b="1" dirty="0">
                <a:solidFill>
                  <a:srgbClr val="F2F4F6"/>
                </a:solidFill>
                <a:latin typeface="Calibri" pitchFamily="34" charset="0"/>
                <a:cs typeface="Calibri"/>
              </a:rPr>
              <a:t>Model error on the Taif drive, °C</a:t>
            </a:r>
            <a:endParaRPr lang="en-US" sz="1400" dirty="0"/>
          </a:p>
        </p:txBody>
      </p:sp>
      <p:graphicFrame>
        <p:nvGraphicFramePr>
          <p:cNvPr id="5" name="Chart 0" descr=""/>
          <p:cNvGraphicFramePr/>
          <p:nvPr/>
        </p:nvGraphicFramePr>
        <p:xfrm>
          <a:off x="813816" y="2011680"/>
          <a:ext cx="5212080" cy="27432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309360" y="1691640"/>
            <a:ext cx="5065776" cy="1051560"/>
          </a:xfrm>
          <a:prstGeom prst="roundRect">
            <a:avLst>
              <a:gd name="adj" fmla="val 6957"/>
            </a:avLst>
          </a:prstGeom>
          <a:solidFill>
            <a:srgbClr val="1C2A36"/>
          </a:solidFill>
          <a:ln w="9525">
            <a:solidFill>
              <a:srgbClr val="2D3E50"/>
            </a:solidFill>
            <a:prstDash val="solid"/>
          </a:ln>
        </p:spPr>
      </p:sp>
      <p:sp>
        <p:nvSpPr>
          <p:cNvPr id="7" name="Text 4"/>
          <p:cNvSpPr txBox="1"/>
          <p:nvPr/>
        </p:nvSpPr>
        <p:spPr>
          <a:xfrm>
            <a:off x="6537960" y="1828800"/>
            <a:ext cx="4608576" cy="329184"/>
          </a:xfrm>
          <a:prstGeom prst="rect">
            <a:avLst/>
          </a:prstGeom>
          <a:noFill/>
          <a:ln/>
        </p:spPr>
        <p:txBody>
          <a:bodyPr wrap="square" lIns="0" tIns="0" rIns="0" bIns="0" rtlCol="0" anchor="t"/>
          <a:lstStyle/>
          <a:p>
            <a:pPr algn="l" indent="0" marL="0">
              <a:lnSpc>
                <a:spcPct val="115000"/>
              </a:lnSpc>
              <a:buNone/>
            </a:pPr>
            <a:r>
              <a:rPr lang="en-US" sz="1800" b="1" dirty="0">
                <a:solidFill>
                  <a:srgbClr val="E08A78"/>
                </a:solidFill>
                <a:latin typeface="Calibri" pitchFamily="34" charset="0"/>
                <a:cs typeface="Calibri"/>
              </a:rPr>
              <a:t>11–15 °C above coolant</a:t>
            </a:r>
            <a:endParaRPr lang="en-US" sz="1800" dirty="0"/>
          </a:p>
        </p:txBody>
      </p:sp>
      <p:sp>
        <p:nvSpPr>
          <p:cNvPr id="8" name="Text 5"/>
          <p:cNvSpPr txBox="1"/>
          <p:nvPr/>
        </p:nvSpPr>
        <p:spPr>
          <a:xfrm>
            <a:off x="6537960" y="2212848"/>
            <a:ext cx="4608576" cy="365760"/>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at 3700–4800 rpm and 70–100 km/h — the Taif drive</a:t>
            </a:r>
            <a:endParaRPr lang="en-US" sz="1350" dirty="0"/>
          </a:p>
        </p:txBody>
      </p:sp>
      <p:sp>
        <p:nvSpPr>
          <p:cNvPr id="9" name="Shape 6"/>
          <p:cNvSpPr/>
          <p:nvPr/>
        </p:nvSpPr>
        <p:spPr>
          <a:xfrm>
            <a:off x="6309360" y="2880360"/>
            <a:ext cx="5065776" cy="1051560"/>
          </a:xfrm>
          <a:prstGeom prst="roundRect">
            <a:avLst>
              <a:gd name="adj" fmla="val 6957"/>
            </a:avLst>
          </a:prstGeom>
          <a:solidFill>
            <a:srgbClr val="1C2A36"/>
          </a:solidFill>
          <a:ln w="9525">
            <a:solidFill>
              <a:srgbClr val="2D3E50"/>
            </a:solidFill>
            <a:prstDash val="solid"/>
          </a:ln>
        </p:spPr>
      </p:sp>
      <p:sp>
        <p:nvSpPr>
          <p:cNvPr id="10" name="Text 7"/>
          <p:cNvSpPr txBox="1"/>
          <p:nvPr/>
        </p:nvSpPr>
        <p:spPr>
          <a:xfrm>
            <a:off x="6537960" y="3017520"/>
            <a:ext cx="4608576" cy="329184"/>
          </a:xfrm>
          <a:prstGeom prst="rect">
            <a:avLst/>
          </a:prstGeom>
          <a:noFill/>
          <a:ln/>
        </p:spPr>
        <p:txBody>
          <a:bodyPr wrap="square" lIns="0" tIns="0" rIns="0" bIns="0" rtlCol="0" anchor="t"/>
          <a:lstStyle/>
          <a:p>
            <a:pPr algn="l" indent="0" marL="0">
              <a:lnSpc>
                <a:spcPct val="115000"/>
              </a:lnSpc>
              <a:buNone/>
            </a:pPr>
            <a:r>
              <a:rPr lang="en-US" sz="1800" b="1" dirty="0">
                <a:solidFill>
                  <a:srgbClr val="7FB2DC"/>
                </a:solidFill>
                <a:latin typeface="Calibri" pitchFamily="34" charset="0"/>
                <a:cs typeface="Calibri"/>
              </a:rPr>
              <a:t>2–3 °C below coolant</a:t>
            </a:r>
            <a:endParaRPr lang="en-US" sz="1800" dirty="0"/>
          </a:p>
        </p:txBody>
      </p:sp>
      <p:sp>
        <p:nvSpPr>
          <p:cNvPr id="11" name="Text 8"/>
          <p:cNvSpPr txBox="1"/>
          <p:nvPr/>
        </p:nvSpPr>
        <p:spPr>
          <a:xfrm>
            <a:off x="6537960" y="3401568"/>
            <a:ext cx="4608576" cy="365760"/>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at 2600 rpm and 130–140 km/h — fast cruising on a flat road</a:t>
            </a:r>
            <a:endParaRPr lang="en-US" sz="1350" dirty="0"/>
          </a:p>
        </p:txBody>
      </p:sp>
      <p:sp>
        <p:nvSpPr>
          <p:cNvPr id="12" name="Text 9"/>
          <p:cNvSpPr txBox="1"/>
          <p:nvPr/>
        </p:nvSpPr>
        <p:spPr>
          <a:xfrm>
            <a:off x="6309360" y="4069080"/>
            <a:ext cx="5065776" cy="777240"/>
          </a:xfrm>
          <a:prstGeom prst="rect">
            <a:avLst/>
          </a:prstGeom>
          <a:noFill/>
          <a:ln/>
        </p:spPr>
        <p:txBody>
          <a:bodyPr wrap="square" lIns="0" tIns="0" rIns="0" bIns="0" rtlCol="0" anchor="t"/>
          <a:lstStyle/>
          <a:p>
            <a:pPr algn="l" indent="0" marL="0">
              <a:lnSpc>
                <a:spcPct val="115000"/>
              </a:lnSpc>
              <a:buNone/>
            </a:pPr>
            <a:r>
              <a:rPr lang="en-US" sz="1400" b="1" dirty="0">
                <a:solidFill>
                  <a:srgbClr val="F2F4F6"/>
                </a:solidFill>
                <a:latin typeface="Calibri" pitchFamily="34" charset="0"/>
                <a:cs typeface="Calibri"/>
              </a:rPr>
              <a:t>Oil temperature follows engine speed, and the air under the car cools the sump as road speed rises. The old model heated it with a fixed share of the fuel.</a:t>
            </a:r>
            <a:endParaRPr lang="en-US" sz="1400" dirty="0"/>
          </a:p>
        </p:txBody>
      </p:sp>
      <p:sp>
        <p:nvSpPr>
          <p:cNvPr id="13" name="Shape 10"/>
          <p:cNvSpPr/>
          <p:nvPr/>
        </p:nvSpPr>
        <p:spPr>
          <a:xfrm>
            <a:off x="813816" y="5029200"/>
            <a:ext cx="10561320" cy="868680"/>
          </a:xfrm>
          <a:prstGeom prst="roundRect">
            <a:avLst>
              <a:gd name="adj" fmla="val 8421"/>
            </a:avLst>
          </a:prstGeom>
          <a:solidFill>
            <a:srgbClr val="2A2318"/>
          </a:solidFill>
          <a:ln w="9525">
            <a:solidFill>
              <a:srgbClr val="6E5427"/>
            </a:solidFill>
            <a:prstDash val="solid"/>
          </a:ln>
        </p:spPr>
      </p:sp>
      <p:sp>
        <p:nvSpPr>
          <p:cNvPr id="14" name="Text 11"/>
          <p:cNvSpPr txBox="1"/>
          <p:nvPr/>
        </p:nvSpPr>
        <p:spPr>
          <a:xfrm>
            <a:off x="1088136" y="5175504"/>
            <a:ext cx="10012680" cy="594360"/>
          </a:xfrm>
          <a:prstGeom prst="rect">
            <a:avLst/>
          </a:prstGeom>
          <a:noFill/>
          <a:ln/>
        </p:spPr>
        <p:txBody>
          <a:bodyPr wrap="square" lIns="0" tIns="0" rIns="0" bIns="0" rtlCol="0" anchor="t"/>
          <a:lstStyle/>
          <a:p>
            <a:pPr algn="l" indent="0" marL="0">
              <a:lnSpc>
                <a:spcPct val="115000"/>
              </a:lnSpc>
              <a:buNone/>
            </a:pPr>
            <a:r>
              <a:rPr lang="en-US" sz="1400" dirty="0">
                <a:solidFill>
                  <a:srgbClr val="C9D3DD"/>
                </a:solidFill>
                <a:latin typeface="Calibri" pitchFamily="34" charset="0"/>
                <a:cs typeface="Calibri"/>
              </a:rPr>
              <a:t>Still short: under sustained load it reads 97.0 °C where the car sits between 103 and 111, and the review found that fuel heats the oil too. Drive A is the data that settles it.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E08A78"/>
                </a:solidFill>
                <a:latin typeface="Calibri" pitchFamily="34" charset="0"/>
                <a:cs typeface="Calibri"/>
              </a:rPr>
              <a:t>Three physics corrections</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Three errors in the equations — two of them cancel out</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3816" y="1691640"/>
          <a:ext cx="10561320" cy="914400"/>
        </p:xfrm>
        <a:graphic>
          <a:graphicData uri="http://schemas.openxmlformats.org/drawingml/2006/table">
            <a:tbl>
              <a:tblPr/>
              <a:tblGrid>
                <a:gridCol w="3017520"/>
                <a:gridCol w="2377440"/>
                <a:gridCol w="3063240"/>
                <a:gridCol w="2103120"/>
              </a:tblGrid>
              <a:tr h="420624">
                <a:tc>
                  <a:txBody>
                    <a:bodyPr/>
                    <a:lstStyle/>
                    <a:p>
                      <a:pPr algn="l" indent="0" marL="0">
                        <a:buNone/>
                      </a:pPr>
                      <a:r>
                        <a:rPr lang="en-US" sz="1300" b="1" dirty="0">
                          <a:solidFill>
                            <a:srgbClr val="F2F4F6"/>
                          </a:solidFill>
                          <a:latin typeface="Calibri" pitchFamily="34" charset="0"/>
                          <a:cs typeface="Calibri"/>
                        </a:rPr>
                        <a:t>What</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Was</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Now</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Effect on the peak temperature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r>
              <a:tr h="566928">
                <a:tc>
                  <a:txBody>
                    <a:bodyPr/>
                    <a:lstStyle/>
                    <a:p>
                      <a:pPr algn="l" indent="0" marL="0">
                        <a:buNone/>
                      </a:pPr>
                      <a:r>
                        <a:rPr lang="en-US" sz="1400" b="1" dirty="0">
                          <a:solidFill>
                            <a:srgbClr val="F2F4F6"/>
                          </a:solidFill>
                          <a:latin typeface="Calibri" pitchFamily="34" charset="0"/>
                          <a:cs typeface="Calibri"/>
                        </a:rPr>
                        <a:t>Exhaust flow into the turbine</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dirty="0">
                          <a:solidFill>
                            <a:srgbClr val="C9D3DD"/>
                          </a:solidFill>
                          <a:latin typeface="Calibri" pitchFamily="34" charset="0"/>
                          <a:cs typeface="Calibri"/>
                        </a:rPr>
                        <a:t>fuel × 15</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dirty="0">
                          <a:solidFill>
                            <a:srgbClr val="C9D3DD"/>
                          </a:solidFill>
                          <a:latin typeface="Calibri" pitchFamily="34" charset="0"/>
                          <a:cs typeface="Calibri"/>
                        </a:rPr>
                        <a:t>air + fuel (conservation of mass)</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b="1" dirty="0">
                          <a:solidFill>
                            <a:srgbClr val="E08A78"/>
                          </a:solidFill>
                          <a:latin typeface="Calibri" pitchFamily="34" charset="0"/>
                          <a:cs typeface="Calibri"/>
                        </a:rPr>
                        <a:t>raises it 5.5 °C</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566928">
                <a:tc>
                  <a:txBody>
                    <a:bodyPr/>
                    <a:lstStyle/>
                    <a:p>
                      <a:pPr algn="l" indent="0" marL="0">
                        <a:buNone/>
                      </a:pPr>
                      <a:r>
                        <a:rPr lang="en-US" sz="1400" b="1" dirty="0">
                          <a:solidFill>
                            <a:srgbClr val="F2F4F6"/>
                          </a:solidFill>
                          <a:latin typeface="Calibri" pitchFamily="34" charset="0"/>
                          <a:cs typeface="Calibri"/>
                        </a:rPr>
                        <a:t>Air density in aerodynamic drag</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400" dirty="0">
                          <a:solidFill>
                            <a:srgbClr val="C9D3DD"/>
                          </a:solidFill>
                          <a:latin typeface="Calibri" pitchFamily="34" charset="0"/>
                          <a:cs typeface="Calibri"/>
                        </a:rPr>
                        <a:t>a fixed 1.2</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400" dirty="0">
                          <a:solidFill>
                            <a:srgbClr val="C9D3DD"/>
                          </a:solidFill>
                          <a:latin typeface="Calibri" pitchFamily="34" charset="0"/>
                          <a:cs typeface="Calibri"/>
                        </a:rPr>
                        <a:t>from ambient: 1.12 at 42 °C</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400" b="1" dirty="0">
                          <a:solidFill>
                            <a:srgbClr val="7FB2DC"/>
                          </a:solidFill>
                          <a:latin typeface="Calibri" pitchFamily="34" charset="0"/>
                          <a:cs typeface="Calibri"/>
                        </a:rPr>
                        <a:t>lowers it 6.2 °C</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r h="566928">
                <a:tc>
                  <a:txBody>
                    <a:bodyPr/>
                    <a:lstStyle/>
                    <a:p>
                      <a:pPr algn="l" indent="0" marL="0">
                        <a:buNone/>
                      </a:pPr>
                      <a:r>
                        <a:rPr lang="en-US" sz="1400" b="1" dirty="0">
                          <a:solidFill>
                            <a:srgbClr val="F2F4F6"/>
                          </a:solidFill>
                          <a:latin typeface="Calibri" pitchFamily="34" charset="0"/>
                          <a:cs typeface="Calibri"/>
                        </a:rPr>
                        <a:t>Turbo inlet temperature, for the boost ceiling</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dirty="0">
                          <a:solidFill>
                            <a:srgbClr val="C9D3DD"/>
                          </a:solidFill>
                          <a:latin typeface="Calibri" pitchFamily="34" charset="0"/>
                          <a:cs typeface="Calibri"/>
                        </a:rPr>
                        <a:t>the charge temperature, after the turbo</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dirty="0">
                          <a:solidFill>
                            <a:srgbClr val="C9D3DD"/>
                          </a:solidFill>
                          <a:latin typeface="Calibri" pitchFamily="34" charset="0"/>
                          <a:cs typeface="Calibri"/>
                        </a:rPr>
                        <a:t>ambient, as the ceiling's own definition says</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dirty="0">
                          <a:solidFill>
                            <a:srgbClr val="C9D3DD"/>
                          </a:solidFill>
                          <a:latin typeface="Calibri" pitchFamily="34" charset="0"/>
                          <a:cs typeface="Calibri"/>
                        </a:rPr>
                        <a:t>—</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bl>
          </a:graphicData>
        </a:graphic>
      </p:graphicFrame>
      <p:sp>
        <p:nvSpPr>
          <p:cNvPr id="5" name="Shape 2"/>
          <p:cNvSpPr/>
          <p:nvPr/>
        </p:nvSpPr>
        <p:spPr>
          <a:xfrm>
            <a:off x="813816" y="4069080"/>
            <a:ext cx="10561320" cy="1325880"/>
          </a:xfrm>
          <a:prstGeom prst="roundRect">
            <a:avLst>
              <a:gd name="adj" fmla="val 5517"/>
            </a:avLst>
          </a:prstGeom>
          <a:solidFill>
            <a:srgbClr val="172B3D"/>
          </a:solidFill>
          <a:ln w="9525">
            <a:solidFill>
              <a:srgbClr val="2F6FA8"/>
            </a:solidFill>
            <a:prstDash val="solid"/>
          </a:ln>
        </p:spPr>
      </p:sp>
      <p:sp>
        <p:nvSpPr>
          <p:cNvPr id="6" name="Text 3"/>
          <p:cNvSpPr txBox="1"/>
          <p:nvPr/>
        </p:nvSpPr>
        <p:spPr>
          <a:xfrm>
            <a:off x="1088136" y="4279392"/>
            <a:ext cx="10012680" cy="914400"/>
          </a:xfrm>
          <a:prstGeom prst="rect">
            <a:avLst/>
          </a:prstGeom>
          <a:noFill/>
          <a:ln/>
        </p:spPr>
        <p:txBody>
          <a:bodyPr wrap="square" lIns="0" tIns="0" rIns="0" bIns="0" rtlCol="0" anchor="t"/>
          <a:lstStyle/>
          <a:p>
            <a:pPr algn="l" indent="0" marL="0">
              <a:lnSpc>
                <a:spcPct val="115000"/>
              </a:lnSpc>
              <a:buNone/>
            </a:pPr>
            <a:r>
              <a:rPr lang="en-US" sz="1550" b="1" dirty="0">
                <a:solidFill>
                  <a:srgbClr val="F2F4F6"/>
                </a:solidFill>
                <a:latin typeface="Calibri" pitchFamily="34" charset="0"/>
                <a:cs typeface="Calibri"/>
              </a:rPr>
              <a:t>That is why the peak on the test climb barely moved: 884, then 883 °C. </a:t>
            </a:r>
            <a:r>
              <a:rPr lang="en-US" sz="1550" dirty="0">
                <a:solidFill>
                  <a:srgbClr val="C9D3DD"/>
                </a:solidFill>
                <a:latin typeface="Calibri" pitchFamily="34" charset="0"/>
                <a:cs typeface="Calibri"/>
              </a:rPr>
              <a:t>Not because nothing changed — two opposite corrections of about the same size. The computed damage moved by 12–13%.</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Gearbox and engine control</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Two defects that changed how the simulated car behaved</a:t>
            </a:r>
            <a:endParaRPr lang="en-US" sz="3000" dirty="0"/>
          </a:p>
        </p:txBody>
      </p:sp>
      <p:sp>
        <p:nvSpPr>
          <p:cNvPr id="4" name="Shape 2"/>
          <p:cNvSpPr/>
          <p:nvPr/>
        </p:nvSpPr>
        <p:spPr>
          <a:xfrm>
            <a:off x="813816" y="1691640"/>
            <a:ext cx="5175504" cy="2971800"/>
          </a:xfrm>
          <a:prstGeom prst="roundRect">
            <a:avLst>
              <a:gd name="adj" fmla="val 2462"/>
            </a:avLst>
          </a:prstGeom>
          <a:solidFill>
            <a:srgbClr val="1C2A36"/>
          </a:solidFill>
          <a:ln w="9525">
            <a:solidFill>
              <a:srgbClr val="2D3E50"/>
            </a:solidFill>
            <a:prstDash val="solid"/>
          </a:ln>
        </p:spPr>
      </p:sp>
      <p:sp>
        <p:nvSpPr>
          <p:cNvPr id="5" name="Text 3"/>
          <p:cNvSpPr txBox="1"/>
          <p:nvPr/>
        </p:nvSpPr>
        <p:spPr>
          <a:xfrm>
            <a:off x="1069848" y="1920240"/>
            <a:ext cx="4663440" cy="347472"/>
          </a:xfrm>
          <a:prstGeom prst="rect">
            <a:avLst/>
          </a:prstGeom>
          <a:noFill/>
          <a:ln/>
        </p:spPr>
        <p:txBody>
          <a:bodyPr wrap="square" lIns="0" tIns="0" rIns="0" bIns="0" rtlCol="0" anchor="t"/>
          <a:lstStyle/>
          <a:p>
            <a:pPr algn="l" indent="0" marL="0">
              <a:lnSpc>
                <a:spcPct val="115000"/>
              </a:lnSpc>
              <a:buNone/>
            </a:pPr>
            <a:r>
              <a:rPr lang="en-US" sz="1800" b="1" dirty="0">
                <a:solidFill>
                  <a:srgbClr val="F2F4F6"/>
                </a:solidFill>
                <a:latin typeface="Calibri" pitchFamily="34" charset="0"/>
                <a:cs typeface="Calibri"/>
              </a:rPr>
              <a:t>The gearbox would not downshift</a:t>
            </a:r>
            <a:endParaRPr lang="en-US" sz="1800" dirty="0"/>
          </a:p>
        </p:txBody>
      </p:sp>
      <p:sp>
        <p:nvSpPr>
          <p:cNvPr id="6" name="Text 4"/>
          <p:cNvSpPr txBox="1"/>
          <p:nvPr/>
        </p:nvSpPr>
        <p:spPr>
          <a:xfrm>
            <a:off x="1069848" y="2350008"/>
            <a:ext cx="4663440" cy="1005840"/>
          </a:xfrm>
          <a:prstGeom prst="rect">
            <a:avLst/>
          </a:prstGeom>
          <a:noFill/>
          <a:ln/>
        </p:spPr>
        <p:txBody>
          <a:bodyPr wrap="square" lIns="0" tIns="0" rIns="0" bIns="0" rtlCol="0" anchor="t"/>
          <a:lstStyle/>
          <a:p>
            <a:pPr algn="l" indent="0" marL="0">
              <a:lnSpc>
                <a:spcPct val="115000"/>
              </a:lnSpc>
              <a:buNone/>
            </a:pPr>
            <a:r>
              <a:rPr lang="en-US" sz="1400" dirty="0">
                <a:solidFill>
                  <a:srgbClr val="93A5B6"/>
                </a:solidFill>
                <a:latin typeface="Calibri" pitchFamily="34" charset="0"/>
                <a:cs typeface="Calibri"/>
              </a:rPr>
              <a:t>In 8th at 130 km/h the simulated engine gives 333 N·m, and the gearbox only downshifted above 375. So on a grade of about 9% the car could not hold its speed.</a:t>
            </a:r>
            <a:endParaRPr lang="en-US" sz="1400" dirty="0"/>
          </a:p>
        </p:txBody>
      </p:sp>
      <p:sp>
        <p:nvSpPr>
          <p:cNvPr id="7" name="Text 5"/>
          <p:cNvSpPr txBox="1"/>
          <p:nvPr/>
        </p:nvSpPr>
        <p:spPr>
          <a:xfrm>
            <a:off x="1069848" y="3429000"/>
            <a:ext cx="4663440" cy="548640"/>
          </a:xfrm>
          <a:prstGeom prst="rect">
            <a:avLst/>
          </a:prstGeom>
          <a:noFill/>
          <a:ln/>
        </p:spPr>
        <p:txBody>
          <a:bodyPr wrap="square" lIns="0" tIns="0" rIns="0" bIns="0" rtlCol="0" anchor="t"/>
          <a:lstStyle/>
          <a:p>
            <a:pPr algn="l" indent="0" marL="0">
              <a:lnSpc>
                <a:spcPct val="115000"/>
              </a:lnSpc>
              <a:buNone/>
            </a:pPr>
            <a:r>
              <a:rPr lang="en-US" sz="1400" b="1" dirty="0">
                <a:solidFill>
                  <a:srgbClr val="7FB2DC"/>
                </a:solidFill>
                <a:latin typeface="Calibri" pitchFamily="34" charset="0"/>
                <a:cs typeface="Calibri"/>
              </a:rPr>
              <a:t>Now it downshifts when the engine falls short, as a real automatic does.</a:t>
            </a:r>
            <a:endParaRPr lang="en-US" sz="1400" dirty="0"/>
          </a:p>
        </p:txBody>
      </p:sp>
      <p:sp>
        <p:nvSpPr>
          <p:cNvPr id="8" name="Text 6"/>
          <p:cNvSpPr txBox="1"/>
          <p:nvPr/>
        </p:nvSpPr>
        <p:spPr>
          <a:xfrm>
            <a:off x="1069848" y="4023360"/>
            <a:ext cx="4663440" cy="548640"/>
          </a:xfrm>
          <a:prstGeom prst="rect">
            <a:avLst/>
          </a:prstGeom>
          <a:noFill/>
          <a:ln/>
        </p:spPr>
        <p:txBody>
          <a:bodyPr wrap="square" lIns="0" tIns="0" rIns="0" bIns="0" rtlCol="0" anchor="t"/>
          <a:lstStyle/>
          <a:p>
            <a:pPr algn="l" indent="0" marL="0">
              <a:lnSpc>
                <a:spcPct val="115000"/>
              </a:lnSpc>
              <a:buNone/>
            </a:pPr>
            <a:r>
              <a:rPr lang="en-US" sz="1300" dirty="0">
                <a:solidFill>
                  <a:srgbClr val="E3A857"/>
                </a:solidFill>
                <a:latin typeface="Calibri" pitchFamily="34" charset="0"/>
                <a:cs typeface="Calibri"/>
              </a:rPr>
              <a:t>The cost, stated: in that range the engine turns about 600 rpm faster than the real car would.</a:t>
            </a:r>
            <a:endParaRPr lang="en-US" sz="1300" dirty="0"/>
          </a:p>
        </p:txBody>
      </p:sp>
      <p:sp>
        <p:nvSpPr>
          <p:cNvPr id="9" name="Shape 7"/>
          <p:cNvSpPr/>
          <p:nvPr/>
        </p:nvSpPr>
        <p:spPr>
          <a:xfrm>
            <a:off x="6199632" y="1691640"/>
            <a:ext cx="5175504" cy="2971800"/>
          </a:xfrm>
          <a:prstGeom prst="roundRect">
            <a:avLst>
              <a:gd name="adj" fmla="val 2462"/>
            </a:avLst>
          </a:prstGeom>
          <a:solidFill>
            <a:srgbClr val="1C2A36"/>
          </a:solidFill>
          <a:ln w="9525">
            <a:solidFill>
              <a:srgbClr val="2D3E50"/>
            </a:solidFill>
            <a:prstDash val="solid"/>
          </a:ln>
        </p:spPr>
      </p:sp>
      <p:sp>
        <p:nvSpPr>
          <p:cNvPr id="10" name="Text 8"/>
          <p:cNvSpPr txBox="1"/>
          <p:nvPr/>
        </p:nvSpPr>
        <p:spPr>
          <a:xfrm>
            <a:off x="6455664" y="1920240"/>
            <a:ext cx="4663440" cy="347472"/>
          </a:xfrm>
          <a:prstGeom prst="rect">
            <a:avLst/>
          </a:prstGeom>
          <a:noFill/>
          <a:ln/>
        </p:spPr>
        <p:txBody>
          <a:bodyPr wrap="square" lIns="0" tIns="0" rIns="0" bIns="0" rtlCol="0" anchor="t"/>
          <a:lstStyle/>
          <a:p>
            <a:pPr algn="l" indent="0" marL="0">
              <a:lnSpc>
                <a:spcPct val="115000"/>
              </a:lnSpc>
              <a:buNone/>
            </a:pPr>
            <a:r>
              <a:rPr lang="en-US" sz="1800" b="1" dirty="0">
                <a:solidFill>
                  <a:srgbClr val="F2F4F6"/>
                </a:solidFill>
                <a:latin typeface="Calibri" pitchFamily="34" charset="0"/>
                <a:cs typeface="Calibri"/>
              </a:rPr>
              <a:t>The fitted spark line was never used</a:t>
            </a:r>
            <a:endParaRPr lang="en-US" sz="1800" dirty="0"/>
          </a:p>
        </p:txBody>
      </p:sp>
      <p:sp>
        <p:nvSpPr>
          <p:cNvPr id="11" name="Text 9"/>
          <p:cNvSpPr txBox="1"/>
          <p:nvPr/>
        </p:nvSpPr>
        <p:spPr>
          <a:xfrm>
            <a:off x="6455664" y="2350008"/>
            <a:ext cx="4663440" cy="1005840"/>
          </a:xfrm>
          <a:prstGeom prst="rect">
            <a:avLst/>
          </a:prstGeom>
          <a:noFill/>
          <a:ln/>
        </p:spPr>
        <p:txBody>
          <a:bodyPr wrap="square" lIns="0" tIns="0" rIns="0" bIns="0" rtlCol="0" anchor="t"/>
          <a:lstStyle/>
          <a:p>
            <a:pPr algn="l" indent="0" marL="0">
              <a:lnSpc>
                <a:spcPct val="115000"/>
              </a:lnSpc>
              <a:buNone/>
            </a:pPr>
            <a:r>
              <a:rPr lang="en-US" sz="1400" dirty="0">
                <a:solidFill>
                  <a:srgbClr val="93A5B6"/>
                </a:solidFill>
                <a:latin typeface="Calibri" pitchFamily="34" charset="0"/>
                <a:cs typeface="Calibri"/>
              </a:rPr>
              <a:t>It sat 9.6° above the knock limit at all 26 points, so all part-load spark came from the knock model, which has not been validated.</a:t>
            </a:r>
            <a:endParaRPr lang="en-US" sz="1400" dirty="0"/>
          </a:p>
        </p:txBody>
      </p:sp>
      <p:sp>
        <p:nvSpPr>
          <p:cNvPr id="12" name="Text 10"/>
          <p:cNvSpPr txBox="1"/>
          <p:nvPr/>
        </p:nvSpPr>
        <p:spPr>
          <a:xfrm>
            <a:off x="6455664" y="3429000"/>
            <a:ext cx="4663440" cy="548640"/>
          </a:xfrm>
          <a:prstGeom prst="rect">
            <a:avLst/>
          </a:prstGeom>
          <a:noFill/>
          <a:ln/>
        </p:spPr>
        <p:txBody>
          <a:bodyPr wrap="square" lIns="0" tIns="0" rIns="0" bIns="0" rtlCol="0" anchor="t"/>
          <a:lstStyle/>
          <a:p>
            <a:pPr algn="l" indent="0" marL="0">
              <a:lnSpc>
                <a:spcPct val="115000"/>
              </a:lnSpc>
              <a:buNone/>
            </a:pPr>
            <a:r>
              <a:rPr lang="en-US" sz="1400" b="1" dirty="0">
                <a:solidFill>
                  <a:srgbClr val="7FB2DC"/>
                </a:solidFill>
                <a:latin typeface="Calibri" pitchFamily="34" charset="0"/>
                <a:cs typeface="Calibri"/>
              </a:rPr>
              <a:t>A new offset computed from the car's own spark: the line now sets the spark at 25 of 26 points.</a:t>
            </a:r>
            <a:endParaRPr lang="en-US" sz="1400" dirty="0"/>
          </a:p>
        </p:txBody>
      </p:sp>
      <p:sp>
        <p:nvSpPr>
          <p:cNvPr id="13" name="Text 11"/>
          <p:cNvSpPr txBox="1"/>
          <p:nvPr/>
        </p:nvSpPr>
        <p:spPr>
          <a:xfrm>
            <a:off x="6455664" y="4023360"/>
            <a:ext cx="4663440" cy="45720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Zero bias, and an average error of 2.5°.</a:t>
            </a:r>
            <a:endParaRPr lang="en-US" sz="1300" dirty="0"/>
          </a:p>
        </p:txBody>
      </p:sp>
      <p:sp>
        <p:nvSpPr>
          <p:cNvPr id="14" name="Shape 12"/>
          <p:cNvSpPr/>
          <p:nvPr/>
        </p:nvSpPr>
        <p:spPr>
          <a:xfrm>
            <a:off x="813816" y="4846320"/>
            <a:ext cx="10561320" cy="777240"/>
          </a:xfrm>
          <a:prstGeom prst="roundRect">
            <a:avLst>
              <a:gd name="adj" fmla="val 9412"/>
            </a:avLst>
          </a:prstGeom>
          <a:solidFill>
            <a:srgbClr val="172B3D"/>
          </a:solidFill>
          <a:ln w="9525">
            <a:solidFill>
              <a:srgbClr val="2F6FA8"/>
            </a:solidFill>
            <a:prstDash val="solid"/>
          </a:ln>
        </p:spPr>
      </p:sp>
      <p:sp>
        <p:nvSpPr>
          <p:cNvPr id="15" name="Text 13"/>
          <p:cNvSpPr txBox="1"/>
          <p:nvPr/>
        </p:nvSpPr>
        <p:spPr>
          <a:xfrm>
            <a:off x="1088136" y="5029200"/>
            <a:ext cx="10012680" cy="457200"/>
          </a:xfrm>
          <a:prstGeom prst="rect">
            <a:avLst/>
          </a:prstGeom>
          <a:noFill/>
          <a:ln/>
        </p:spPr>
        <p:txBody>
          <a:bodyPr wrap="square" lIns="0" tIns="0" rIns="0" bIns="0" rtlCol="0" anchor="t"/>
          <a:lstStyle/>
          <a:p>
            <a:pPr algn="l" indent="0" marL="0">
              <a:lnSpc>
                <a:spcPct val="115000"/>
              </a:lnSpc>
              <a:buNone/>
            </a:pPr>
            <a:r>
              <a:rPr lang="en-US" sz="1450" b="1" dirty="0">
                <a:solidFill>
                  <a:srgbClr val="F2F4F6"/>
                </a:solidFill>
                <a:latin typeface="Calibri" pitchFamily="34" charset="0"/>
                <a:cs typeface="Calibri"/>
              </a:rPr>
              <a:t>New check: 40 varied roads. </a:t>
            </a:r>
            <a:r>
              <a:rPr lang="en-US" sz="1450" dirty="0">
                <a:solidFill>
                  <a:srgbClr val="C9D3DD"/>
                </a:solidFill>
                <a:latin typeface="Calibri" pitchFamily="34" charset="0"/>
                <a:cs typeface="Calibri"/>
              </a:rPr>
              <a:t>The stock engine controller drives all of them without a torque shortfall, and 14 of them exceed the 850 °C protection limit.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Validation</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2800" b="1" dirty="0">
                <a:solidFill>
                  <a:srgbClr val="F2F4F6"/>
                </a:solidFill>
                <a:latin typeface="Calibri" pitchFamily="34" charset="0"/>
                <a:cs typeface="Calibri"/>
              </a:rPr>
              <a:t>Oil and coolant compared with our own car, not textbook ranges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3816" y="1691640"/>
          <a:ext cx="6812280" cy="914400"/>
        </p:xfrm>
        <a:graphic>
          <a:graphicData uri="http://schemas.openxmlformats.org/drawingml/2006/table">
            <a:tbl>
              <a:tblPr/>
              <a:tblGrid>
                <a:gridCol w="3611880"/>
                <a:gridCol w="1051560"/>
                <a:gridCol w="1280160"/>
                <a:gridCol w="868680"/>
              </a:tblGrid>
              <a:tr h="411480">
                <a:tc>
                  <a:txBody>
                    <a:bodyPr/>
                    <a:lstStyle/>
                    <a:p>
                      <a:pPr algn="l" indent="0" marL="0">
                        <a:buNone/>
                      </a:pPr>
                      <a:r>
                        <a:rPr lang="en-US" sz="1300" b="1" dirty="0">
                          <a:solidFill>
                            <a:srgbClr val="F2F4F6"/>
                          </a:solidFill>
                          <a:latin typeface="Calibri" pitchFamily="34" charset="0"/>
                          <a:cs typeface="Calibri"/>
                        </a:rPr>
                        <a:t>Quantity</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Model</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Our car's range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Status</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r>
              <a:tr h="566928">
                <a:tc>
                  <a:txBody>
                    <a:bodyPr/>
                    <a:lstStyle/>
                    <a:p>
                      <a:pPr algn="l" indent="0" marL="0">
                        <a:buNone/>
                      </a:pPr>
                      <a:r>
                        <a:rPr lang="en-US" sz="1300" dirty="0">
                          <a:solidFill>
                            <a:srgbClr val="C9D3DD"/>
                          </a:solidFill>
                          <a:latin typeface="Calibri" pitchFamily="34" charset="0"/>
                          <a:cs typeface="Calibri"/>
                        </a:rPr>
                        <a:t>Oil under sustained load (the hottest 10 minutes of the Taif drive)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00" dirty="0">
                          <a:solidFill>
                            <a:srgbClr val="C9D3DD"/>
                          </a:solidFill>
                          <a:latin typeface="Calibri" pitchFamily="34" charset="0"/>
                          <a:cs typeface="Calibri"/>
                        </a:rPr>
                        <a:t>97.0 °C</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00" dirty="0">
                          <a:solidFill>
                            <a:srgbClr val="C9D3DD"/>
                          </a:solidFill>
                          <a:latin typeface="Calibri" pitchFamily="34" charset="0"/>
                          <a:cs typeface="Calibri"/>
                        </a:rPr>
                        <a:t>103–111</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00" b="1" dirty="0">
                          <a:solidFill>
                            <a:srgbClr val="E08A78"/>
                          </a:solidFill>
                          <a:latin typeface="Calibri" pitchFamily="34" charset="0"/>
                          <a:cs typeface="Calibri"/>
                        </a:rPr>
                        <a:t>outside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457200">
                <a:tc>
                  <a:txBody>
                    <a:bodyPr/>
                    <a:lstStyle/>
                    <a:p>
                      <a:pPr algn="l" indent="0" marL="0">
                        <a:buNone/>
                      </a:pPr>
                      <a:r>
                        <a:rPr lang="en-US" sz="1300" dirty="0">
                          <a:solidFill>
                            <a:srgbClr val="C9D3DD"/>
                          </a:solidFill>
                          <a:latin typeface="Calibri" pitchFamily="34" charset="0"/>
                          <a:cs typeface="Calibri"/>
                        </a:rPr>
                        <a:t>Oil time constant</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00" dirty="0">
                          <a:solidFill>
                            <a:srgbClr val="C9D3DD"/>
                          </a:solidFill>
                          <a:latin typeface="Calibri" pitchFamily="34" charset="0"/>
                          <a:cs typeface="Calibri"/>
                        </a:rPr>
                        <a:t>60 s</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00" dirty="0">
                          <a:solidFill>
                            <a:srgbClr val="C9D3DD"/>
                          </a:solidFill>
                          <a:latin typeface="Calibri" pitchFamily="34" charset="0"/>
                          <a:cs typeface="Calibri"/>
                        </a:rPr>
                        <a:t>70–100 s</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00" b="1" dirty="0">
                          <a:solidFill>
                            <a:srgbClr val="E08A78"/>
                          </a:solidFill>
                          <a:latin typeface="Calibri" pitchFamily="34" charset="0"/>
                          <a:cs typeface="Calibri"/>
                        </a:rPr>
                        <a:t>outside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r h="457200">
                <a:tc>
                  <a:txBody>
                    <a:bodyPr/>
                    <a:lstStyle/>
                    <a:p>
                      <a:pPr algn="l" indent="0" marL="0">
                        <a:buNone/>
                      </a:pPr>
                      <a:r>
                        <a:rPr lang="en-US" sz="1300" dirty="0">
                          <a:solidFill>
                            <a:srgbClr val="C9D3DD"/>
                          </a:solidFill>
                          <a:latin typeface="Calibri" pitchFamily="34" charset="0"/>
                          <a:cs typeface="Calibri"/>
                        </a:rPr>
                        <a:t>Coolant on the test climb</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00" dirty="0">
                          <a:solidFill>
                            <a:srgbClr val="C9D3DD"/>
                          </a:solidFill>
                          <a:latin typeface="Calibri" pitchFamily="34" charset="0"/>
                          <a:cs typeface="Calibri"/>
                        </a:rPr>
                        <a:t>93.0 °C</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00" dirty="0">
                          <a:solidFill>
                            <a:srgbClr val="C9D3DD"/>
                          </a:solidFill>
                          <a:latin typeface="Calibri" pitchFamily="34" charset="0"/>
                          <a:cs typeface="Calibri"/>
                        </a:rPr>
                        <a:t>83.6–95.5</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00" b="1" dirty="0">
                          <a:solidFill>
                            <a:srgbClr val="7FB2DC"/>
                          </a:solidFill>
                          <a:latin typeface="Calibri" pitchFamily="34" charset="0"/>
                          <a:cs typeface="Calibri"/>
                        </a:rPr>
                        <a:t>inside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457200">
                <a:tc>
                  <a:txBody>
                    <a:bodyPr/>
                    <a:lstStyle/>
                    <a:p>
                      <a:pPr algn="l" indent="0" marL="0">
                        <a:buNone/>
                      </a:pPr>
                      <a:r>
                        <a:rPr lang="en-US" sz="1300" dirty="0">
                          <a:solidFill>
                            <a:srgbClr val="C9D3DD"/>
                          </a:solidFill>
                          <a:latin typeface="Calibri" pitchFamily="34" charset="0"/>
                          <a:cs typeface="Calibri"/>
                        </a:rPr>
                        <a:t>Coolant over the whole Taif drive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00" dirty="0">
                          <a:solidFill>
                            <a:srgbClr val="C9D3DD"/>
                          </a:solidFill>
                          <a:latin typeface="Calibri" pitchFamily="34" charset="0"/>
                          <a:cs typeface="Calibri"/>
                        </a:rPr>
                        <a:t>92.2 °C</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00" dirty="0">
                          <a:solidFill>
                            <a:srgbClr val="C9D3DD"/>
                          </a:solidFill>
                          <a:latin typeface="Calibri" pitchFamily="34" charset="0"/>
                          <a:cs typeface="Calibri"/>
                        </a:rPr>
                        <a:t>91.8–94</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00" b="1" dirty="0">
                          <a:solidFill>
                            <a:srgbClr val="7FB2DC"/>
                          </a:solidFill>
                          <a:latin typeface="Calibri" pitchFamily="34" charset="0"/>
                          <a:cs typeface="Calibri"/>
                        </a:rPr>
                        <a:t>inside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bl>
          </a:graphicData>
        </a:graphic>
      </p:graphicFrame>
      <p:sp>
        <p:nvSpPr>
          <p:cNvPr id="5" name="Shape 2"/>
          <p:cNvSpPr/>
          <p:nvPr/>
        </p:nvSpPr>
        <p:spPr>
          <a:xfrm>
            <a:off x="8083296" y="1691640"/>
            <a:ext cx="3291840" cy="2514600"/>
          </a:xfrm>
          <a:prstGeom prst="roundRect">
            <a:avLst>
              <a:gd name="adj" fmla="val 2909"/>
            </a:avLst>
          </a:prstGeom>
          <a:solidFill>
            <a:srgbClr val="22303F"/>
          </a:solidFill>
          <a:ln w="9525">
            <a:solidFill>
              <a:srgbClr val="2D3E50"/>
            </a:solidFill>
            <a:prstDash val="solid"/>
          </a:ln>
        </p:spPr>
      </p:sp>
      <p:sp>
        <p:nvSpPr>
          <p:cNvPr id="6" name="Text 3"/>
          <p:cNvSpPr txBox="1"/>
          <p:nvPr/>
        </p:nvSpPr>
        <p:spPr>
          <a:xfrm>
            <a:off x="8311896" y="2103120"/>
            <a:ext cx="2834640" cy="731520"/>
          </a:xfrm>
          <a:prstGeom prst="rect">
            <a:avLst/>
          </a:prstGeom>
          <a:noFill/>
          <a:ln/>
        </p:spPr>
        <p:txBody>
          <a:bodyPr wrap="square" lIns="0" tIns="0" rIns="0" bIns="0" rtlCol="0" anchor="t"/>
          <a:lstStyle/>
          <a:p>
            <a:pPr algn="l" indent="0" marL="0">
              <a:lnSpc>
                <a:spcPct val="100000"/>
              </a:lnSpc>
              <a:buNone/>
            </a:pPr>
            <a:r>
              <a:rPr lang="en-US" sz="4400" b="1" dirty="0">
                <a:solidFill>
                  <a:srgbClr val="F2F4F6"/>
                </a:solidFill>
                <a:latin typeface="Calibri" pitchFamily="34" charset="0"/>
                <a:cs typeface="Calibri"/>
              </a:rPr>
              <a:t>8 of 11</a:t>
            </a:r>
            <a:endParaRPr lang="en-US" sz="4400" dirty="0"/>
          </a:p>
        </p:txBody>
      </p:sp>
      <p:sp>
        <p:nvSpPr>
          <p:cNvPr id="7" name="Text 4"/>
          <p:cNvSpPr txBox="1"/>
          <p:nvPr/>
        </p:nvSpPr>
        <p:spPr>
          <a:xfrm>
            <a:off x="8311896" y="2834640"/>
            <a:ext cx="2834640" cy="320040"/>
          </a:xfrm>
          <a:prstGeom prst="rect">
            <a:avLst/>
          </a:prstGeom>
          <a:noFill/>
          <a:ln/>
        </p:spPr>
        <p:txBody>
          <a:bodyPr wrap="square" lIns="0" tIns="0" rIns="0" bIns="0" rtlCol="0" anchor="t"/>
          <a:lstStyle/>
          <a:p>
            <a:pPr algn="l" indent="0" marL="0">
              <a:lnSpc>
                <a:spcPct val="115000"/>
              </a:lnSpc>
              <a:buNone/>
            </a:pPr>
            <a:r>
              <a:rPr lang="en-US" sz="1500" b="1" dirty="0">
                <a:solidFill>
                  <a:srgbClr val="7FB2DC"/>
                </a:solidFill>
                <a:latin typeface="Calibri" pitchFamily="34" charset="0"/>
                <a:cs typeface="Calibri"/>
              </a:rPr>
              <a:t>quantities inside their band</a:t>
            </a:r>
            <a:endParaRPr lang="en-US" sz="1500" dirty="0"/>
          </a:p>
        </p:txBody>
      </p:sp>
      <p:sp>
        <p:nvSpPr>
          <p:cNvPr id="8" name="Text 5"/>
          <p:cNvSpPr txBox="1"/>
          <p:nvPr/>
        </p:nvSpPr>
        <p:spPr>
          <a:xfrm>
            <a:off x="8311896" y="3200400"/>
            <a:ext cx="2834640" cy="731520"/>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6 of 7 against literature, and 2 of 4 against our own car</a:t>
            </a:r>
            <a:endParaRPr lang="en-US" sz="1350" dirty="0"/>
          </a:p>
        </p:txBody>
      </p:sp>
      <p:sp>
        <p:nvSpPr>
          <p:cNvPr id="9" name="Shape 6"/>
          <p:cNvSpPr/>
          <p:nvPr/>
        </p:nvSpPr>
        <p:spPr>
          <a:xfrm>
            <a:off x="813816" y="4407408"/>
            <a:ext cx="10561320" cy="1371600"/>
          </a:xfrm>
          <a:prstGeom prst="roundRect">
            <a:avLst>
              <a:gd name="adj" fmla="val 5333"/>
            </a:avLst>
          </a:prstGeom>
          <a:solidFill>
            <a:srgbClr val="1C2A36"/>
          </a:solidFill>
          <a:ln w="9525">
            <a:solidFill>
              <a:srgbClr val="2D3E50"/>
            </a:solidFill>
            <a:prstDash val="solid"/>
          </a:ln>
        </p:spPr>
      </p:sp>
      <p:sp>
        <p:nvSpPr>
          <p:cNvPr id="10" name="Text 7"/>
          <p:cNvSpPr txBox="1"/>
          <p:nvPr/>
        </p:nvSpPr>
        <p:spPr>
          <a:xfrm>
            <a:off x="1088136" y="4572000"/>
            <a:ext cx="10012680" cy="685800"/>
          </a:xfrm>
          <a:prstGeom prst="rect">
            <a:avLst/>
          </a:prstGeom>
          <a:noFill/>
          <a:ln/>
        </p:spPr>
        <p:txBody>
          <a:bodyPr wrap="square" lIns="0" tIns="0" rIns="0" bIns="0" rtlCol="0" anchor="t"/>
          <a:lstStyle/>
          <a:p>
            <a:pPr algn="l" indent="0" marL="0">
              <a:lnSpc>
                <a:spcPct val="115000"/>
              </a:lnSpc>
              <a:buNone/>
            </a:pPr>
            <a:r>
              <a:rPr lang="en-US" sz="1450" b="1" dirty="0">
                <a:solidFill>
                  <a:srgbClr val="F2F4F6"/>
                </a:solidFill>
                <a:latin typeface="Calibri" pitchFamily="34" charset="0"/>
                <a:cs typeface="Calibri"/>
              </a:rPr>
              <a:t>Three of the four ranges had no source; now they are computed from our drives by a fixed rule, before the comparison. Both misses are the oil, and drive A is the data they need.</a:t>
            </a:r>
            <a:endParaRPr lang="en-US" sz="1450" dirty="0"/>
          </a:p>
        </p:txBody>
      </p:sp>
      <p:sp>
        <p:nvSpPr>
          <p:cNvPr id="11" name="Text 8"/>
          <p:cNvSpPr txBox="1"/>
          <p:nvPr/>
        </p:nvSpPr>
        <p:spPr>
          <a:xfrm>
            <a:off x="1088136" y="5257800"/>
            <a:ext cx="10012680" cy="45720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We also checked the GCC specification: no source shows stronger cooling, and even a 50% stronger radiator and fan moves the turbine temperature by half a degree. The fuel is 95 RON, as the model assumes.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E3A857"/>
                </a:solidFill>
                <a:latin typeface="Calibri" pitchFamily="34" charset="0"/>
                <a:cs typeface="Calibri"/>
              </a:rPr>
              <a:t>The knock model</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The knock model has not been tested yet — it has not failed</a:t>
            </a:r>
            <a:endParaRPr lang="en-US" sz="3000" dirty="0"/>
          </a:p>
        </p:txBody>
      </p:sp>
      <p:sp>
        <p:nvSpPr>
          <p:cNvPr id="4" name="Text 2"/>
          <p:cNvSpPr txBox="1"/>
          <p:nvPr/>
        </p:nvSpPr>
        <p:spPr>
          <a:xfrm>
            <a:off x="813816" y="1645920"/>
            <a:ext cx="10561320" cy="640080"/>
          </a:xfrm>
          <a:prstGeom prst="rect">
            <a:avLst/>
          </a:prstGeom>
          <a:noFill/>
          <a:ln/>
        </p:spPr>
        <p:txBody>
          <a:bodyPr wrap="square" lIns="0" tIns="0" rIns="0" bIns="0" rtlCol="0" anchor="t"/>
          <a:lstStyle/>
          <a:p>
            <a:pPr algn="l" indent="0" marL="0">
              <a:lnSpc>
                <a:spcPct val="115000"/>
              </a:lnSpc>
              <a:buNone/>
            </a:pPr>
            <a:r>
              <a:rPr lang="en-US" sz="1500" dirty="0">
                <a:solidFill>
                  <a:srgbClr val="93A5B6"/>
                </a:solidFill>
                <a:latin typeface="Calibri" pitchFamily="34" charset="0"/>
                <a:cs typeface="Calibri"/>
              </a:rPr>
              <a:t>Last time we said there was no relationship between the knock model and the car's spark retard. But the drive we compared with was logged with 26 channels, and knock lasts only a second or two.</a:t>
            </a:r>
            <a:endParaRPr lang="en-US" sz="1500" dirty="0"/>
          </a:p>
        </p:txBody>
      </p:sp>
      <p:sp>
        <p:nvSpPr>
          <p:cNvPr id="5" name="Shape 3"/>
          <p:cNvSpPr/>
          <p:nvPr/>
        </p:nvSpPr>
        <p:spPr>
          <a:xfrm>
            <a:off x="813816" y="2423160"/>
            <a:ext cx="3410712" cy="1783080"/>
          </a:xfrm>
          <a:prstGeom prst="roundRect">
            <a:avLst>
              <a:gd name="adj" fmla="val 4103"/>
            </a:avLst>
          </a:prstGeom>
          <a:solidFill>
            <a:srgbClr val="1C2A36"/>
          </a:solidFill>
          <a:ln w="9525">
            <a:solidFill>
              <a:srgbClr val="2D3E50"/>
            </a:solidFill>
            <a:prstDash val="solid"/>
          </a:ln>
        </p:spPr>
      </p:sp>
      <p:sp>
        <p:nvSpPr>
          <p:cNvPr id="6" name="Text 4"/>
          <p:cNvSpPr txBox="1"/>
          <p:nvPr/>
        </p:nvSpPr>
        <p:spPr>
          <a:xfrm>
            <a:off x="1014984" y="2606040"/>
            <a:ext cx="3008376" cy="502920"/>
          </a:xfrm>
          <a:prstGeom prst="rect">
            <a:avLst/>
          </a:prstGeom>
          <a:noFill/>
          <a:ln/>
        </p:spPr>
        <p:txBody>
          <a:bodyPr wrap="square" lIns="0" tIns="0" rIns="0" bIns="0" rtlCol="0" anchor="t"/>
          <a:lstStyle/>
          <a:p>
            <a:pPr algn="l" indent="0" marL="0">
              <a:lnSpc>
                <a:spcPct val="100000"/>
              </a:lnSpc>
              <a:buNone/>
            </a:pPr>
            <a:r>
              <a:rPr lang="en-US" sz="2600" b="1" dirty="0">
                <a:solidFill>
                  <a:srgbClr val="F2F4F6"/>
                </a:solidFill>
                <a:latin typeface="Calibri" pitchFamily="34" charset="0"/>
                <a:cs typeface="Calibri"/>
              </a:rPr>
              <a:t>404 and 410</a:t>
            </a:r>
            <a:endParaRPr lang="en-US" sz="2600" dirty="0"/>
          </a:p>
        </p:txBody>
      </p:sp>
      <p:sp>
        <p:nvSpPr>
          <p:cNvPr id="7" name="Text 5"/>
          <p:cNvSpPr txBox="1"/>
          <p:nvPr/>
        </p:nvSpPr>
        <p:spPr>
          <a:xfrm>
            <a:off x="1014984" y="3154680"/>
            <a:ext cx="3008376" cy="292608"/>
          </a:xfrm>
          <a:prstGeom prst="rect">
            <a:avLst/>
          </a:prstGeom>
          <a:noFill/>
          <a:ln/>
        </p:spPr>
        <p:txBody>
          <a:bodyPr wrap="square" lIns="0" tIns="0" rIns="0" bIns="0" rtlCol="0" anchor="t"/>
          <a:lstStyle/>
          <a:p>
            <a:pPr algn="l" indent="0" marL="0">
              <a:lnSpc>
                <a:spcPct val="115000"/>
              </a:lnSpc>
              <a:buNone/>
            </a:pPr>
            <a:r>
              <a:rPr lang="en-US" sz="1500" b="1" dirty="0">
                <a:solidFill>
                  <a:srgbClr val="F2F4F6"/>
                </a:solidFill>
                <a:latin typeface="Calibri" pitchFamily="34" charset="0"/>
                <a:cs typeface="Calibri"/>
              </a:rPr>
              <a:t>readings of the two spark angles</a:t>
            </a:r>
            <a:endParaRPr lang="en-US" sz="1500" dirty="0"/>
          </a:p>
        </p:txBody>
      </p:sp>
      <p:sp>
        <p:nvSpPr>
          <p:cNvPr id="8" name="Text 6"/>
          <p:cNvSpPr txBox="1"/>
          <p:nvPr/>
        </p:nvSpPr>
        <p:spPr>
          <a:xfrm>
            <a:off x="1014984" y="3474720"/>
            <a:ext cx="3008376" cy="64008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in 55 minutes — one every 8 seconds or so</a:t>
            </a:r>
            <a:endParaRPr lang="en-US" sz="1300" dirty="0"/>
          </a:p>
        </p:txBody>
      </p:sp>
      <p:sp>
        <p:nvSpPr>
          <p:cNvPr id="9" name="Shape 7"/>
          <p:cNvSpPr/>
          <p:nvPr/>
        </p:nvSpPr>
        <p:spPr>
          <a:xfrm>
            <a:off x="4389120" y="2423160"/>
            <a:ext cx="3410712" cy="1783080"/>
          </a:xfrm>
          <a:prstGeom prst="roundRect">
            <a:avLst>
              <a:gd name="adj" fmla="val 4103"/>
            </a:avLst>
          </a:prstGeom>
          <a:solidFill>
            <a:srgbClr val="1C2A36"/>
          </a:solidFill>
          <a:ln w="9525">
            <a:solidFill>
              <a:srgbClr val="2D3E50"/>
            </a:solidFill>
            <a:prstDash val="solid"/>
          </a:ln>
        </p:spPr>
      </p:sp>
      <p:sp>
        <p:nvSpPr>
          <p:cNvPr id="10" name="Text 8"/>
          <p:cNvSpPr txBox="1"/>
          <p:nvPr/>
        </p:nvSpPr>
        <p:spPr>
          <a:xfrm>
            <a:off x="4590288" y="2606040"/>
            <a:ext cx="3008376" cy="502920"/>
          </a:xfrm>
          <a:prstGeom prst="rect">
            <a:avLst/>
          </a:prstGeom>
          <a:noFill/>
          <a:ln/>
        </p:spPr>
        <p:txBody>
          <a:bodyPr wrap="square" lIns="0" tIns="0" rIns="0" bIns="0" rtlCol="0" anchor="t"/>
          <a:lstStyle/>
          <a:p>
            <a:pPr algn="l" indent="0" marL="0">
              <a:lnSpc>
                <a:spcPct val="100000"/>
              </a:lnSpc>
              <a:buNone/>
            </a:pPr>
            <a:r>
              <a:rPr lang="en-US" sz="2600" b="1" dirty="0">
                <a:solidFill>
                  <a:srgbClr val="F2F4F6"/>
                </a:solidFill>
                <a:latin typeface="Calibri" pitchFamily="34" charset="0"/>
                <a:cs typeface="Calibri"/>
              </a:rPr>
              <a:t>One third</a:t>
            </a:r>
            <a:endParaRPr lang="en-US" sz="2600" dirty="0"/>
          </a:p>
        </p:txBody>
      </p:sp>
      <p:sp>
        <p:nvSpPr>
          <p:cNvPr id="11" name="Text 9"/>
          <p:cNvSpPr txBox="1"/>
          <p:nvPr/>
        </p:nvSpPr>
        <p:spPr>
          <a:xfrm>
            <a:off x="4590288" y="3154680"/>
            <a:ext cx="3008376" cy="292608"/>
          </a:xfrm>
          <a:prstGeom prst="rect">
            <a:avLst/>
          </a:prstGeom>
          <a:noFill/>
          <a:ln/>
        </p:spPr>
        <p:txBody>
          <a:bodyPr wrap="square" lIns="0" tIns="0" rIns="0" bIns="0" rtlCol="0" anchor="t"/>
          <a:lstStyle/>
          <a:p>
            <a:pPr algn="l" indent="0" marL="0">
              <a:lnSpc>
                <a:spcPct val="115000"/>
              </a:lnSpc>
              <a:buNone/>
            </a:pPr>
            <a:r>
              <a:rPr lang="en-US" sz="1500" b="1" dirty="0">
                <a:solidFill>
                  <a:srgbClr val="F2F4F6"/>
                </a:solidFill>
                <a:latin typeface="Calibri" pitchFamily="34" charset="0"/>
                <a:cs typeface="Calibri"/>
              </a:rPr>
              <a:t>of the reading pairs</a:t>
            </a:r>
            <a:endParaRPr lang="en-US" sz="1500" dirty="0"/>
          </a:p>
        </p:txBody>
      </p:sp>
      <p:sp>
        <p:nvSpPr>
          <p:cNvPr id="12" name="Text 10"/>
          <p:cNvSpPr txBox="1"/>
          <p:nvPr/>
        </p:nvSpPr>
        <p:spPr>
          <a:xfrm>
            <a:off x="4590288" y="3474720"/>
            <a:ext cx="3008376" cy="64008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had their two halves read more than a second apart</a:t>
            </a:r>
            <a:endParaRPr lang="en-US" sz="1300" dirty="0"/>
          </a:p>
        </p:txBody>
      </p:sp>
      <p:sp>
        <p:nvSpPr>
          <p:cNvPr id="13" name="Shape 11"/>
          <p:cNvSpPr/>
          <p:nvPr/>
        </p:nvSpPr>
        <p:spPr>
          <a:xfrm>
            <a:off x="7964424" y="2423160"/>
            <a:ext cx="3410712" cy="1783080"/>
          </a:xfrm>
          <a:prstGeom prst="roundRect">
            <a:avLst>
              <a:gd name="adj" fmla="val 4103"/>
            </a:avLst>
          </a:prstGeom>
          <a:solidFill>
            <a:srgbClr val="1C2A36"/>
          </a:solidFill>
          <a:ln w="9525">
            <a:solidFill>
              <a:srgbClr val="2D3E50"/>
            </a:solidFill>
            <a:prstDash val="solid"/>
          </a:ln>
        </p:spPr>
      </p:sp>
      <p:sp>
        <p:nvSpPr>
          <p:cNvPr id="14" name="Text 12"/>
          <p:cNvSpPr txBox="1"/>
          <p:nvPr/>
        </p:nvSpPr>
        <p:spPr>
          <a:xfrm>
            <a:off x="8165592" y="2606040"/>
            <a:ext cx="3008376" cy="502920"/>
          </a:xfrm>
          <a:prstGeom prst="rect">
            <a:avLst/>
          </a:prstGeom>
          <a:noFill/>
          <a:ln/>
        </p:spPr>
        <p:txBody>
          <a:bodyPr wrap="square" lIns="0" tIns="0" rIns="0" bIns="0" rtlCol="0" anchor="t"/>
          <a:lstStyle/>
          <a:p>
            <a:pPr algn="l" indent="0" marL="0">
              <a:lnSpc>
                <a:spcPct val="100000"/>
              </a:lnSpc>
              <a:buNone/>
            </a:pPr>
            <a:r>
              <a:rPr lang="en-US" sz="2600" b="1" dirty="0">
                <a:solidFill>
                  <a:srgbClr val="E08A78"/>
                </a:solidFill>
                <a:latin typeface="Calibri" pitchFamily="34" charset="0"/>
                <a:cs typeface="Calibri"/>
              </a:rPr>
              <a:t>3–8°</a:t>
            </a:r>
            <a:endParaRPr lang="en-US" sz="2600" dirty="0"/>
          </a:p>
        </p:txBody>
      </p:sp>
      <p:sp>
        <p:nvSpPr>
          <p:cNvPr id="15" name="Text 13"/>
          <p:cNvSpPr txBox="1"/>
          <p:nvPr/>
        </p:nvSpPr>
        <p:spPr>
          <a:xfrm>
            <a:off x="8165592" y="3154680"/>
            <a:ext cx="3008376" cy="292608"/>
          </a:xfrm>
          <a:prstGeom prst="rect">
            <a:avLst/>
          </a:prstGeom>
          <a:noFill/>
          <a:ln/>
        </p:spPr>
        <p:txBody>
          <a:bodyPr wrap="square" lIns="0" tIns="0" rIns="0" bIns="0" rtlCol="0" anchor="t"/>
          <a:lstStyle/>
          <a:p>
            <a:pPr algn="l" indent="0" marL="0">
              <a:lnSpc>
                <a:spcPct val="115000"/>
              </a:lnSpc>
              <a:buNone/>
            </a:pPr>
            <a:r>
              <a:rPr lang="en-US" sz="1500" b="1" dirty="0">
                <a:solidFill>
                  <a:srgbClr val="F2F4F6"/>
                </a:solidFill>
                <a:latin typeface="Calibri" pitchFamily="34" charset="0"/>
                <a:cs typeface="Calibri"/>
              </a:rPr>
              <a:t>less advance in the real car</a:t>
            </a:r>
            <a:endParaRPr lang="en-US" sz="1500" dirty="0"/>
          </a:p>
        </p:txBody>
      </p:sp>
      <p:sp>
        <p:nvSpPr>
          <p:cNvPr id="16" name="Text 14"/>
          <p:cNvSpPr txBox="1"/>
          <p:nvPr/>
        </p:nvSpPr>
        <p:spPr>
          <a:xfrm>
            <a:off x="8165592" y="3474720"/>
            <a:ext cx="3008376" cy="64008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the car's spark under high boost is lower than our model's — only 31 readings, too few to calibrate</a:t>
            </a:r>
            <a:endParaRPr lang="en-US" sz="1300" dirty="0"/>
          </a:p>
        </p:txBody>
      </p:sp>
      <p:sp>
        <p:nvSpPr>
          <p:cNvPr id="17" name="Shape 15"/>
          <p:cNvSpPr/>
          <p:nvPr/>
        </p:nvSpPr>
        <p:spPr>
          <a:xfrm>
            <a:off x="813816" y="4434840"/>
            <a:ext cx="10561320" cy="1188720"/>
          </a:xfrm>
          <a:prstGeom prst="roundRect">
            <a:avLst>
              <a:gd name="adj" fmla="val 6154"/>
            </a:avLst>
          </a:prstGeom>
          <a:solidFill>
            <a:srgbClr val="172B3D"/>
          </a:solidFill>
          <a:ln w="9525">
            <a:solidFill>
              <a:srgbClr val="2F6FA8"/>
            </a:solidFill>
            <a:prstDash val="solid"/>
          </a:ln>
        </p:spPr>
      </p:sp>
      <p:sp>
        <p:nvSpPr>
          <p:cNvPr id="18" name="Text 16"/>
          <p:cNvSpPr txBox="1"/>
          <p:nvPr/>
        </p:nvSpPr>
        <p:spPr>
          <a:xfrm>
            <a:off x="1088136" y="4590288"/>
            <a:ext cx="10012680" cy="310896"/>
          </a:xfrm>
          <a:prstGeom prst="rect">
            <a:avLst/>
          </a:prstGeom>
          <a:noFill/>
          <a:ln/>
        </p:spPr>
        <p:txBody>
          <a:bodyPr wrap="square" lIns="0" tIns="0" rIns="0" bIns="0" rtlCol="0" anchor="t"/>
          <a:lstStyle/>
          <a:p>
            <a:pPr algn="l" indent="0" marL="0">
              <a:lnSpc>
                <a:spcPct val="115000"/>
              </a:lnSpc>
              <a:buNone/>
            </a:pPr>
            <a:r>
              <a:rPr lang="en-US" sz="1600" b="1" dirty="0">
                <a:solidFill>
                  <a:srgbClr val="7FB2DC"/>
                </a:solidFill>
                <a:latin typeface="Calibri" pitchFamily="34" charset="0"/>
                <a:cs typeface="Calibri"/>
              </a:rPr>
              <a:t>The fix: drive C</a:t>
            </a:r>
            <a:endParaRPr lang="en-US" sz="1600" dirty="0"/>
          </a:p>
        </p:txBody>
      </p:sp>
      <p:sp>
        <p:nvSpPr>
          <p:cNvPr id="19" name="Text 17"/>
          <p:cNvSpPr txBox="1"/>
          <p:nvPr/>
        </p:nvSpPr>
        <p:spPr>
          <a:xfrm>
            <a:off x="1088136" y="4956048"/>
            <a:ext cx="10012680" cy="548640"/>
          </a:xfrm>
          <a:prstGeom prst="rect">
            <a:avLst/>
          </a:prstGeom>
          <a:noFill/>
          <a:ln/>
        </p:spPr>
        <p:txBody>
          <a:bodyPr wrap="square" lIns="0" tIns="0" rIns="0" bIns="0" rtlCol="0" anchor="t"/>
          <a:lstStyle/>
          <a:p>
            <a:pPr algn="l" indent="0" marL="0">
              <a:lnSpc>
                <a:spcPct val="115000"/>
              </a:lnSpc>
              <a:buNone/>
            </a:pPr>
            <a:r>
              <a:rPr lang="en-US" sz="1450" dirty="0">
                <a:solidFill>
                  <a:srgbClr val="C9D3DD"/>
                </a:solidFill>
                <a:latin typeface="Calibri" pitchFamily="34" charset="0"/>
                <a:cs typeface="Calibri"/>
              </a:rPr>
              <a:t>Only 6 channels, so both angles are read about every 1.25 s · a held gear at 2000–3500 rpm · in the afternoon heat · and the decision rule written before the drive.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E08A78"/>
                </a:solidFill>
                <a:latin typeface="Calibri" pitchFamily="34" charset="0"/>
                <a:cs typeface="Calibri"/>
              </a:rPr>
              <a:t>A declared retraction</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Two defects in the simulator, found while reviewing the merge</a:t>
            </a:r>
            <a:endParaRPr lang="en-US" sz="3000" dirty="0"/>
          </a:p>
        </p:txBody>
      </p:sp>
      <p:sp>
        <p:nvSpPr>
          <p:cNvPr id="4" name="Shape 2"/>
          <p:cNvSpPr/>
          <p:nvPr/>
        </p:nvSpPr>
        <p:spPr>
          <a:xfrm>
            <a:off x="813816" y="1737360"/>
            <a:ext cx="5175504" cy="2606040"/>
          </a:xfrm>
          <a:prstGeom prst="roundRect">
            <a:avLst>
              <a:gd name="adj" fmla="val 2807"/>
            </a:avLst>
          </a:prstGeom>
          <a:solidFill>
            <a:srgbClr val="172B3D"/>
          </a:solidFill>
          <a:ln w="9525">
            <a:solidFill>
              <a:srgbClr val="2F6FA8"/>
            </a:solidFill>
            <a:prstDash val="solid"/>
          </a:ln>
        </p:spPr>
      </p:sp>
      <p:sp>
        <p:nvSpPr>
          <p:cNvPr id="5" name="Text 3"/>
          <p:cNvSpPr txBox="1"/>
          <p:nvPr/>
        </p:nvSpPr>
        <p:spPr>
          <a:xfrm>
            <a:off x="1069848" y="1956816"/>
            <a:ext cx="4663440" cy="329184"/>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Defect 1: the coolant calculation oscillates</a:t>
            </a:r>
            <a:endParaRPr lang="en-US" sz="1650" dirty="0"/>
          </a:p>
        </p:txBody>
      </p:sp>
      <p:sp>
        <p:nvSpPr>
          <p:cNvPr id="6" name="Text 4"/>
          <p:cNvSpPr txBox="1"/>
          <p:nvPr/>
        </p:nvSpPr>
        <p:spPr>
          <a:xfrm>
            <a:off x="1069848" y="2359152"/>
            <a:ext cx="4663440" cy="1325880"/>
          </a:xfrm>
          <a:prstGeom prst="rect">
            <a:avLst/>
          </a:prstGeom>
          <a:noFill/>
          <a:ln/>
        </p:spPr>
        <p:txBody>
          <a:bodyPr wrap="square" lIns="0" tIns="0" rIns="0" bIns="0" rtlCol="0" anchor="t"/>
          <a:lstStyle/>
          <a:p>
            <a:pPr algn="l" indent="0" marL="0">
              <a:lnSpc>
                <a:spcPct val="115000"/>
              </a:lnSpc>
              <a:buNone/>
            </a:pPr>
            <a:r>
              <a:rPr lang="en-US" sz="1350" dirty="0">
                <a:solidFill>
                  <a:srgbClr val="C9D3DD"/>
                </a:solidFill>
                <a:latin typeface="Calibri" pitchFamily="34" charset="0"/>
                <a:cs typeface="Calibri"/>
              </a:rPr>
              <a:t>The simulator updates temperatures once a second, and the model's coolant thermostat reacts faster than that step. So the coolant jumps about 2 °C every step, and with a 2-second step it swings between 85 and 95 °C and never settles.</a:t>
            </a:r>
            <a:endParaRPr lang="en-US" sz="1350" dirty="0"/>
          </a:p>
        </p:txBody>
      </p:sp>
      <p:sp>
        <p:nvSpPr>
          <p:cNvPr id="7" name="Text 5"/>
          <p:cNvSpPr txBox="1"/>
          <p:nvPr/>
        </p:nvSpPr>
        <p:spPr>
          <a:xfrm>
            <a:off x="1069848" y="3749040"/>
            <a:ext cx="4663440" cy="365760"/>
          </a:xfrm>
          <a:prstGeom prst="rect">
            <a:avLst/>
          </a:prstGeom>
          <a:noFill/>
          <a:ln/>
        </p:spPr>
        <p:txBody>
          <a:bodyPr wrap="square" lIns="0" tIns="0" rIns="0" bIns="0" rtlCol="0" anchor="t"/>
          <a:lstStyle/>
          <a:p>
            <a:pPr algn="l" indent="0" marL="0">
              <a:lnSpc>
                <a:spcPct val="115000"/>
              </a:lnSpc>
              <a:buNone/>
            </a:pPr>
            <a:r>
              <a:rPr lang="en-US" sz="1450" b="1" dirty="0">
                <a:solidFill>
                  <a:srgbClr val="7FB2DC"/>
                </a:solidFill>
                <a:latin typeface="Calibri" pitchFamily="34" charset="0"/>
                <a:cs typeface="Calibri"/>
              </a:rPr>
              <a:t>The fix: split every second into 10 small steps.</a:t>
            </a:r>
            <a:endParaRPr lang="en-US" sz="1450" dirty="0"/>
          </a:p>
        </p:txBody>
      </p:sp>
      <p:sp>
        <p:nvSpPr>
          <p:cNvPr id="8" name="Shape 6"/>
          <p:cNvSpPr/>
          <p:nvPr/>
        </p:nvSpPr>
        <p:spPr>
          <a:xfrm>
            <a:off x="6199632" y="1737360"/>
            <a:ext cx="5175504" cy="2606040"/>
          </a:xfrm>
          <a:prstGeom prst="roundRect">
            <a:avLst>
              <a:gd name="adj" fmla="val 2807"/>
            </a:avLst>
          </a:prstGeom>
          <a:solidFill>
            <a:srgbClr val="2B1F1D"/>
          </a:solidFill>
          <a:ln w="9525">
            <a:solidFill>
              <a:srgbClr val="7A4034"/>
            </a:solidFill>
            <a:prstDash val="solid"/>
          </a:ln>
        </p:spPr>
      </p:sp>
      <p:sp>
        <p:nvSpPr>
          <p:cNvPr id="9" name="Text 7"/>
          <p:cNvSpPr txBox="1"/>
          <p:nvPr/>
        </p:nvSpPr>
        <p:spPr>
          <a:xfrm>
            <a:off x="6455664" y="1956816"/>
            <a:ext cx="4663440" cy="329184"/>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Defect 2: a false one-second knock at each climb</a:t>
            </a:r>
            <a:endParaRPr lang="en-US" sz="1650" dirty="0"/>
          </a:p>
        </p:txBody>
      </p:sp>
      <p:sp>
        <p:nvSpPr>
          <p:cNvPr id="10" name="Text 8"/>
          <p:cNvSpPr txBox="1"/>
          <p:nvPr/>
        </p:nvSpPr>
        <p:spPr>
          <a:xfrm>
            <a:off x="6455664" y="2359152"/>
            <a:ext cx="4663440" cy="1325880"/>
          </a:xfrm>
          <a:prstGeom prst="rect">
            <a:avLst/>
          </a:prstGeom>
          <a:noFill/>
          <a:ln/>
        </p:spPr>
        <p:txBody>
          <a:bodyPr wrap="square" lIns="0" tIns="0" rIns="0" bIns="0" rtlCol="0" anchor="t"/>
          <a:lstStyle/>
          <a:p>
            <a:pPr algn="l" indent="0" marL="0">
              <a:lnSpc>
                <a:spcPct val="115000"/>
              </a:lnSpc>
              <a:buNone/>
            </a:pPr>
            <a:r>
              <a:rPr lang="en-US" sz="1350" dirty="0">
                <a:solidFill>
                  <a:srgbClr val="C9D3DD"/>
                </a:solidFill>
                <a:latin typeface="Calibri" pitchFamily="34" charset="0"/>
                <a:cs typeface="Calibri"/>
              </a:rPr>
              <a:t>When a climb starts abruptly, the engine controller picks the spark for the previous second's pressure, while the load jumps in the same second. That one second holds 58.6 of the trip's 60.6 knock-damage units.</a:t>
            </a:r>
            <a:endParaRPr lang="en-US" sz="1350" dirty="0"/>
          </a:p>
        </p:txBody>
      </p:sp>
      <p:sp>
        <p:nvSpPr>
          <p:cNvPr id="11" name="Text 9"/>
          <p:cNvSpPr txBox="1"/>
          <p:nvPr/>
        </p:nvSpPr>
        <p:spPr>
          <a:xfrm>
            <a:off x="6455664" y="3749040"/>
            <a:ext cx="4663440" cy="365760"/>
          </a:xfrm>
          <a:prstGeom prst="rect">
            <a:avLst/>
          </a:prstGeom>
          <a:noFill/>
          <a:ln/>
        </p:spPr>
        <p:txBody>
          <a:bodyPr wrap="square" lIns="0" tIns="0" rIns="0" bIns="0" rtlCol="0" anchor="t"/>
          <a:lstStyle/>
          <a:p>
            <a:pPr algn="l" indent="0" marL="0">
              <a:lnSpc>
                <a:spcPct val="115000"/>
              </a:lnSpc>
              <a:buNone/>
            </a:pPr>
            <a:r>
              <a:rPr lang="en-US" sz="1450" b="1" dirty="0">
                <a:solidFill>
                  <a:srgbClr val="E08A78"/>
                </a:solidFill>
                <a:latin typeface="Calibri" pitchFamily="34" charset="0"/>
                <a:cs typeface="Calibri"/>
              </a:rPr>
              <a:t>The fix: a climb that ramps in over 8 seconds brings it down to 2.4.</a:t>
            </a:r>
            <a:endParaRPr lang="en-US" sz="1450" dirty="0"/>
          </a:p>
        </p:txBody>
      </p:sp>
      <p:sp>
        <p:nvSpPr>
          <p:cNvPr id="12" name="Shape 10"/>
          <p:cNvSpPr/>
          <p:nvPr/>
        </p:nvSpPr>
        <p:spPr>
          <a:xfrm>
            <a:off x="813816" y="4572000"/>
            <a:ext cx="10561320" cy="1097280"/>
          </a:xfrm>
          <a:prstGeom prst="roundRect">
            <a:avLst>
              <a:gd name="adj" fmla="val 6667"/>
            </a:avLst>
          </a:prstGeom>
          <a:solidFill>
            <a:srgbClr val="22303F"/>
          </a:solidFill>
          <a:ln w="9525">
            <a:solidFill>
              <a:srgbClr val="2D3E50"/>
            </a:solidFill>
            <a:prstDash val="solid"/>
          </a:ln>
        </p:spPr>
      </p:sp>
      <p:sp>
        <p:nvSpPr>
          <p:cNvPr id="13" name="Text 11"/>
          <p:cNvSpPr txBox="1"/>
          <p:nvPr/>
        </p:nvSpPr>
        <p:spPr>
          <a:xfrm>
            <a:off x="1088136" y="4709160"/>
            <a:ext cx="10012680" cy="274320"/>
          </a:xfrm>
          <a:prstGeom prst="rect">
            <a:avLst/>
          </a:prstGeom>
          <a:noFill/>
          <a:ln/>
        </p:spPr>
        <p:txBody>
          <a:bodyPr wrap="square" lIns="0" tIns="0" rIns="0" bIns="0" rtlCol="0" anchor="t"/>
          <a:lstStyle/>
          <a:p>
            <a:pPr algn="l" indent="0" marL="0">
              <a:lnSpc>
                <a:spcPct val="115000"/>
              </a:lnSpc>
              <a:buNone/>
            </a:pPr>
            <a:r>
              <a:rPr lang="en-US" sz="1350" dirty="0">
                <a:solidFill>
                  <a:srgbClr val="E08A78"/>
                </a:solidFill>
                <a:latin typeface="Calibri" pitchFamily="34" charset="0"/>
                <a:cs typeface="Calibri"/>
              </a:rPr>
              <a:t>What it voids</a:t>
            </a:r>
            <a:endParaRPr lang="en-US" sz="1350" dirty="0"/>
          </a:p>
        </p:txBody>
      </p:sp>
      <p:sp>
        <p:nvSpPr>
          <p:cNvPr id="14" name="Text 12"/>
          <p:cNvSpPr txBox="1"/>
          <p:nvPr/>
        </p:nvSpPr>
        <p:spPr>
          <a:xfrm>
            <a:off x="1088136" y="5010912"/>
            <a:ext cx="10012680" cy="594360"/>
          </a:xfrm>
          <a:prstGeom prst="rect">
            <a:avLst/>
          </a:prstGeom>
          <a:noFill/>
          <a:ln/>
        </p:spPr>
        <p:txBody>
          <a:bodyPr wrap="square" lIns="0" tIns="0" rIns="0" bIns="0" rtlCol="0" anchor="t"/>
          <a:lstStyle/>
          <a:p>
            <a:pPr algn="l" indent="0" marL="0">
              <a:lnSpc>
                <a:spcPct val="115000"/>
              </a:lnSpc>
              <a:buNone/>
            </a:pPr>
            <a:r>
              <a:rPr lang="en-US" sz="1450" dirty="0">
                <a:solidFill>
                  <a:srgbClr val="F2F4F6"/>
                </a:solidFill>
                <a:latin typeface="Calibri" pitchFamily="34" charset="0"/>
                <a:cs typeface="Calibri"/>
              </a:rPr>
              <a:t>"Hand-written preview loses by 0.3 points" — the whole gap is this one second; on turbine and oil damage alone the two policies tie. And no H/τ curve is quotable until defect 1 is fixed.</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Numbers that changed since 20 September</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What we said last time, and what it is now</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3816" y="1691640"/>
          <a:ext cx="10561320" cy="914400"/>
        </p:xfrm>
        <a:graphic>
          <a:graphicData uri="http://schemas.openxmlformats.org/drawingml/2006/table">
            <a:tbl>
              <a:tblPr/>
              <a:tblGrid>
                <a:gridCol w="3611880"/>
                <a:gridCol w="2148840"/>
                <a:gridCol w="2148840"/>
                <a:gridCol w="2651760"/>
              </a:tblGrid>
              <a:tr h="411480">
                <a:tc>
                  <a:txBody>
                    <a:bodyPr/>
                    <a:lstStyle/>
                    <a:p>
                      <a:pPr algn="l" indent="0" marL="0">
                        <a:buNone/>
                      </a:pPr>
                      <a:r>
                        <a:rPr lang="en-US" sz="1300" b="1" dirty="0">
                          <a:solidFill>
                            <a:srgbClr val="F2F4F6"/>
                          </a:solidFill>
                          <a:latin typeface="Calibri" pitchFamily="34" charset="0"/>
                          <a:cs typeface="Calibri"/>
                        </a:rPr>
                        <a:t>Figure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On 20 September</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Now</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Why</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r>
              <a:tr h="457200">
                <a:tc>
                  <a:txBody>
                    <a:bodyPr/>
                    <a:lstStyle/>
                    <a:p>
                      <a:pPr algn="l" indent="0" marL="0">
                        <a:buNone/>
                      </a:pPr>
                      <a:r>
                        <a:rPr lang="en-US" sz="1350" b="1" dirty="0">
                          <a:solidFill>
                            <a:srgbClr val="F2F4F6"/>
                          </a:solidFill>
                          <a:latin typeface="Calibri" pitchFamily="34" charset="0"/>
                          <a:cs typeface="Calibri"/>
                        </a:rPr>
                        <a:t>Data logged</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295.0 min · 10 drives</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321.7 min · 11 drives</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drive B</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457200">
                <a:tc>
                  <a:txBody>
                    <a:bodyPr/>
                    <a:lstStyle/>
                    <a:p>
                      <a:pPr algn="l" indent="0" marL="0">
                        <a:buNone/>
                      </a:pPr>
                      <a:r>
                        <a:rPr lang="en-US" sz="1350" b="1" dirty="0">
                          <a:solidFill>
                            <a:srgbClr val="F2F4F6"/>
                          </a:solidFill>
                          <a:latin typeface="Calibri" pitchFamily="34" charset="0"/>
                          <a:cs typeface="Calibri"/>
                        </a:rPr>
                        <a:t>Peak temperature on the test climb</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884 °C</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883 °C</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two opposite corrections</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r h="457200">
                <a:tc>
                  <a:txBody>
                    <a:bodyPr/>
                    <a:lstStyle/>
                    <a:p>
                      <a:pPr algn="l" indent="0" marL="0">
                        <a:buNone/>
                      </a:pPr>
                      <a:r>
                        <a:rPr lang="en-US" sz="1350" b="1" dirty="0">
                          <a:solidFill>
                            <a:srgbClr val="F2F4F6"/>
                          </a:solidFill>
                          <a:latin typeface="Calibri" pitchFamily="34" charset="0"/>
                          <a:cs typeface="Calibri"/>
                        </a:rPr>
                        <a:t>Damage cut by protection</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34.0%</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43.4%</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exhaust flow corrected</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457200">
                <a:tc>
                  <a:txBody>
                    <a:bodyPr/>
                    <a:lstStyle/>
                    <a:p>
                      <a:pPr algn="l" indent="0" marL="0">
                        <a:buNone/>
                      </a:pPr>
                      <a:r>
                        <a:rPr lang="en-US" sz="1350" b="1" dirty="0">
                          <a:solidFill>
                            <a:srgbClr val="F2F4F6"/>
                          </a:solidFill>
                          <a:latin typeface="Calibri" pitchFamily="34" charset="0"/>
                          <a:cs typeface="Calibri"/>
                        </a:rPr>
                        <a:t>Peak estimated temperature, drive 7475b5d7</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890.6 °C</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873.1 °C</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exhaust flow corrected</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r h="457200">
                <a:tc>
                  <a:txBody>
                    <a:bodyPr/>
                    <a:lstStyle/>
                    <a:p>
                      <a:pPr algn="l" indent="0" marL="0">
                        <a:buNone/>
                      </a:pPr>
                      <a:r>
                        <a:rPr lang="en-US" sz="1350" b="1" dirty="0">
                          <a:solidFill>
                            <a:srgbClr val="F2F4F6"/>
                          </a:solidFill>
                          <a:latin typeface="Calibri" pitchFamily="34" charset="0"/>
                          <a:cs typeface="Calibri"/>
                        </a:rPr>
                        <a:t>Hand-written preview vs "current grade"</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minus 0.4 points</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minus 0.3 points</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all of it is the knock second</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457200">
                <a:tc>
                  <a:txBody>
                    <a:bodyPr/>
                    <a:lstStyle/>
                    <a:p>
                      <a:pPr algn="l" indent="0" marL="0">
                        <a:buNone/>
                      </a:pPr>
                      <a:r>
                        <a:rPr lang="en-US" sz="1350" b="1" dirty="0">
                          <a:solidFill>
                            <a:srgbClr val="F2F4F6"/>
                          </a:solidFill>
                          <a:latin typeface="Calibri" pitchFamily="34" charset="0"/>
                          <a:cs typeface="Calibri"/>
                        </a:rPr>
                        <a:t>Validation</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8 of 11</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8 of 11</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but 4 rows are now against our car</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bl>
          </a:graphicData>
        </a:graphic>
      </p:graphicFrame>
      <p:sp>
        <p:nvSpPr>
          <p:cNvPr id="5" name="Text 2"/>
          <p:cNvSpPr txBox="1"/>
          <p:nvPr/>
        </p:nvSpPr>
        <p:spPr>
          <a:xfrm>
            <a:off x="813816" y="5120640"/>
            <a:ext cx="10561320" cy="548640"/>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The 0.206% figure — 36 seconds above the limit — has not yet been re-measured on the corrected physics. And every number here will move again after the two fixes.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Tools we built</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Tools that make mistakes show instead of hide</a:t>
            </a:r>
            <a:endParaRPr lang="en-US" sz="3000" dirty="0"/>
          </a:p>
        </p:txBody>
      </p:sp>
      <p:sp>
        <p:nvSpPr>
          <p:cNvPr id="4" name="Shape 2"/>
          <p:cNvSpPr/>
          <p:nvPr/>
        </p:nvSpPr>
        <p:spPr>
          <a:xfrm>
            <a:off x="813816" y="1691640"/>
            <a:ext cx="3410712" cy="3246120"/>
          </a:xfrm>
          <a:prstGeom prst="roundRect">
            <a:avLst>
              <a:gd name="adj" fmla="val 2254"/>
            </a:avLst>
          </a:prstGeom>
          <a:solidFill>
            <a:srgbClr val="1C2A36"/>
          </a:solidFill>
          <a:ln w="9525">
            <a:solidFill>
              <a:srgbClr val="2D3E50"/>
            </a:solidFill>
            <a:prstDash val="solid"/>
          </a:ln>
        </p:spPr>
      </p:sp>
      <p:sp>
        <p:nvSpPr>
          <p:cNvPr id="5" name="Text 3"/>
          <p:cNvSpPr txBox="1"/>
          <p:nvPr/>
        </p:nvSpPr>
        <p:spPr>
          <a:xfrm>
            <a:off x="1014984" y="1911096"/>
            <a:ext cx="3008376" cy="365760"/>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3D drive-replay lab</a:t>
            </a:r>
            <a:endParaRPr lang="en-US" sz="1650" dirty="0"/>
          </a:p>
        </p:txBody>
      </p:sp>
      <p:sp>
        <p:nvSpPr>
          <p:cNvPr id="6" name="Text 4"/>
          <p:cNvSpPr txBox="1"/>
          <p:nvPr/>
        </p:nvSpPr>
        <p:spPr>
          <a:xfrm>
            <a:off x="1014984" y="2377440"/>
            <a:ext cx="3008376" cy="1097280"/>
          </a:xfrm>
          <a:prstGeom prst="rect">
            <a:avLst/>
          </a:prstGeom>
          <a:noFill/>
          <a:ln/>
        </p:spPr>
        <p:txBody>
          <a:bodyPr wrap="square" lIns="0" tIns="0" rIns="0" bIns="0" rtlCol="0" anchor="t"/>
          <a:lstStyle/>
          <a:p>
            <a:pPr algn="l" indent="0" marL="0">
              <a:lnSpc>
                <a:spcPct val="115000"/>
              </a:lnSpc>
              <a:buNone/>
            </a:pPr>
            <a:r>
              <a:rPr lang="en-US" sz="1350" dirty="0">
                <a:solidFill>
                  <a:srgbClr val="C9D3DD"/>
                </a:solidFill>
                <a:latin typeface="Calibri" pitchFamily="34" charset="0"/>
                <a:cs typeface="Calibri"/>
              </a:rPr>
              <a:t>Replays our logged drives in the browser: all eight gears, temperature curves, and H/τ moment by moment.</a:t>
            </a:r>
            <a:endParaRPr lang="en-US" sz="1350" dirty="0"/>
          </a:p>
        </p:txBody>
      </p:sp>
      <p:sp>
        <p:nvSpPr>
          <p:cNvPr id="7" name="Text 5"/>
          <p:cNvSpPr txBox="1"/>
          <p:nvPr/>
        </p:nvSpPr>
        <p:spPr>
          <a:xfrm>
            <a:off x="1014984" y="3520440"/>
            <a:ext cx="3008376" cy="132588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While building it we found the fifth channel on this car whose name does not match what it measures: the "internal gear" channel sits at 8, so 8th gear showed as "measured" on 62% of one drive.</a:t>
            </a:r>
            <a:endParaRPr lang="en-US" sz="1300" dirty="0"/>
          </a:p>
        </p:txBody>
      </p:sp>
      <p:sp>
        <p:nvSpPr>
          <p:cNvPr id="8" name="Shape 6"/>
          <p:cNvSpPr/>
          <p:nvPr/>
        </p:nvSpPr>
        <p:spPr>
          <a:xfrm>
            <a:off x="4389120" y="1691640"/>
            <a:ext cx="3410712" cy="3246120"/>
          </a:xfrm>
          <a:prstGeom prst="roundRect">
            <a:avLst>
              <a:gd name="adj" fmla="val 2254"/>
            </a:avLst>
          </a:prstGeom>
          <a:solidFill>
            <a:srgbClr val="1C2A36"/>
          </a:solidFill>
          <a:ln w="9525">
            <a:solidFill>
              <a:srgbClr val="2D3E50"/>
            </a:solidFill>
            <a:prstDash val="solid"/>
          </a:ln>
        </p:spPr>
      </p:sp>
      <p:sp>
        <p:nvSpPr>
          <p:cNvPr id="9" name="Text 7"/>
          <p:cNvSpPr txBox="1"/>
          <p:nvPr/>
        </p:nvSpPr>
        <p:spPr>
          <a:xfrm>
            <a:off x="4590288" y="1911096"/>
            <a:ext cx="3008376" cy="365760"/>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Document guard</a:t>
            </a:r>
            <a:endParaRPr lang="en-US" sz="1650" dirty="0"/>
          </a:p>
        </p:txBody>
      </p:sp>
      <p:sp>
        <p:nvSpPr>
          <p:cNvPr id="10" name="Text 8"/>
          <p:cNvSpPr txBox="1"/>
          <p:nvPr/>
        </p:nvSpPr>
        <p:spPr>
          <a:xfrm>
            <a:off x="4590288" y="2377440"/>
            <a:ext cx="3008376" cy="1097280"/>
          </a:xfrm>
          <a:prstGeom prst="rect">
            <a:avLst/>
          </a:prstGeom>
          <a:noFill/>
          <a:ln/>
        </p:spPr>
        <p:txBody>
          <a:bodyPr wrap="square" lIns="0" tIns="0" rIns="0" bIns="0" rtlCol="0" anchor="t"/>
          <a:lstStyle/>
          <a:p>
            <a:pPr algn="l" indent="0" marL="0">
              <a:lnSpc>
                <a:spcPct val="115000"/>
              </a:lnSpc>
              <a:buNone/>
            </a:pPr>
            <a:r>
              <a:rPr lang="en-US" sz="1350" dirty="0">
                <a:solidFill>
                  <a:srgbClr val="C9D3DD"/>
                </a:solidFill>
                <a:latin typeface="Calibri" pitchFamily="34" charset="0"/>
                <a:cs typeface="Calibri"/>
              </a:rPr>
              <a:t>A script that recomputes every published number and compares it with the documents, failing with the file and the line.</a:t>
            </a:r>
            <a:endParaRPr lang="en-US" sz="1350" dirty="0"/>
          </a:p>
        </p:txBody>
      </p:sp>
      <p:sp>
        <p:nvSpPr>
          <p:cNvPr id="11" name="Text 9"/>
          <p:cNvSpPr txBox="1"/>
          <p:nvPr/>
        </p:nvSpPr>
        <p:spPr>
          <a:xfrm>
            <a:off x="4590288" y="3520440"/>
            <a:ext cx="3008376" cy="132588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We cleaned 187 stale mentions down to zero. Now 73 checks and 837 number mentions all pass, and its self-test catches 16 of 16 planted errors.</a:t>
            </a:r>
            <a:endParaRPr lang="en-US" sz="1300" dirty="0"/>
          </a:p>
        </p:txBody>
      </p:sp>
      <p:sp>
        <p:nvSpPr>
          <p:cNvPr id="12" name="Shape 10"/>
          <p:cNvSpPr/>
          <p:nvPr/>
        </p:nvSpPr>
        <p:spPr>
          <a:xfrm>
            <a:off x="7964424" y="1691640"/>
            <a:ext cx="3410712" cy="3246120"/>
          </a:xfrm>
          <a:prstGeom prst="roundRect">
            <a:avLst>
              <a:gd name="adj" fmla="val 2254"/>
            </a:avLst>
          </a:prstGeom>
          <a:solidFill>
            <a:srgbClr val="1C2A36"/>
          </a:solidFill>
          <a:ln w="9525">
            <a:solidFill>
              <a:srgbClr val="2D3E50"/>
            </a:solidFill>
            <a:prstDash val="solid"/>
          </a:ln>
        </p:spPr>
      </p:sp>
      <p:sp>
        <p:nvSpPr>
          <p:cNvPr id="13" name="Text 11"/>
          <p:cNvSpPr txBox="1"/>
          <p:nvPr/>
        </p:nvSpPr>
        <p:spPr>
          <a:xfrm>
            <a:off x="8165592" y="1911096"/>
            <a:ext cx="3008376" cy="365760"/>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Merging the team's work</a:t>
            </a:r>
            <a:endParaRPr lang="en-US" sz="1650" dirty="0"/>
          </a:p>
        </p:txBody>
      </p:sp>
      <p:sp>
        <p:nvSpPr>
          <p:cNvPr id="14" name="Text 12"/>
          <p:cNvSpPr txBox="1"/>
          <p:nvPr/>
        </p:nvSpPr>
        <p:spPr>
          <a:xfrm>
            <a:off x="8165592" y="2377440"/>
            <a:ext cx="3008376" cy="1097280"/>
          </a:xfrm>
          <a:prstGeom prst="rect">
            <a:avLst/>
          </a:prstGeom>
          <a:noFill/>
          <a:ln/>
        </p:spPr>
        <p:txBody>
          <a:bodyPr wrap="square" lIns="0" tIns="0" rIns="0" bIns="0" rtlCol="0" anchor="t"/>
          <a:lstStyle/>
          <a:p>
            <a:pPr algn="l" indent="0" marL="0">
              <a:lnSpc>
                <a:spcPct val="115000"/>
              </a:lnSpc>
              <a:buNone/>
            </a:pPr>
            <a:r>
              <a:rPr lang="en-US" sz="1350" dirty="0">
                <a:solidFill>
                  <a:srgbClr val="C9D3DD"/>
                </a:solidFill>
                <a:latin typeface="Calibri" pitchFamily="34" charset="0"/>
                <a:cs typeface="Calibri"/>
              </a:rPr>
              <a:t>Ghassan's and Jad's branches are now one version, on the main branch.</a:t>
            </a:r>
            <a:endParaRPr lang="en-US" sz="1350" dirty="0"/>
          </a:p>
        </p:txBody>
      </p:sp>
      <p:sp>
        <p:nvSpPr>
          <p:cNvPr id="15" name="Text 13"/>
          <p:cNvSpPr txBox="1"/>
          <p:nvPr/>
        </p:nvSpPr>
        <p:spPr>
          <a:xfrm>
            <a:off x="8165592" y="3520440"/>
            <a:ext cx="3008376" cy="132588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15 conflicting files and 91 decisions, each one written down, and no file deleted: 454 of 454. The rule: Ghassan's physics, Jad's verification method.</a:t>
            </a:r>
            <a:endParaRPr lang="en-US" sz="1300" dirty="0"/>
          </a:p>
        </p:txBody>
      </p:sp>
      <p:sp>
        <p:nvSpPr>
          <p:cNvPr id="16" name="Text 14"/>
          <p:cNvSpPr txBox="1"/>
          <p:nvPr/>
        </p:nvSpPr>
        <p:spPr>
          <a:xfrm>
            <a:off x="813816" y="5257800"/>
            <a:ext cx="10561320" cy="320040"/>
          </a:xfrm>
          <a:prstGeom prst="rect">
            <a:avLst/>
          </a:prstGeom>
          <a:noFill/>
          <a:ln/>
        </p:spPr>
        <p:txBody>
          <a:bodyPr wrap="square" lIns="0" tIns="0" rIns="0" bIns="0" rtlCol="0" anchor="t"/>
          <a:lstStyle/>
          <a:p>
            <a:pPr algn="l" indent="0" marL="0">
              <a:lnSpc>
                <a:spcPct val="115000"/>
              </a:lnSpc>
              <a:buNone/>
            </a:pPr>
            <a:r>
              <a:rPr lang="en-US" sz="1400" dirty="0">
                <a:solidFill>
                  <a:srgbClr val="93A5B6"/>
                </a:solidFill>
                <a:latin typeface="Calibri" pitchFamily="34" charset="0"/>
                <a:cs typeface="Calibri"/>
              </a:rPr>
              <a:t>The live app and the replay lab are ready to demo if there is time.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Next step</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Fix the two defects, then measure everything again</a:t>
            </a:r>
            <a:endParaRPr lang="en-US" sz="3000" dirty="0"/>
          </a:p>
        </p:txBody>
      </p:sp>
      <p:sp>
        <p:nvSpPr>
          <p:cNvPr id="4" name="Shape 2"/>
          <p:cNvSpPr/>
          <p:nvPr/>
        </p:nvSpPr>
        <p:spPr>
          <a:xfrm>
            <a:off x="813816" y="1691640"/>
            <a:ext cx="5143500" cy="1143000"/>
          </a:xfrm>
          <a:prstGeom prst="roundRect">
            <a:avLst>
              <a:gd name="adj" fmla="val 6400"/>
            </a:avLst>
          </a:prstGeom>
          <a:solidFill>
            <a:srgbClr val="1C2A36"/>
          </a:solidFill>
          <a:ln w="9525">
            <a:solidFill>
              <a:srgbClr val="2D3E50"/>
            </a:solidFill>
            <a:prstDash val="solid"/>
          </a:ln>
        </p:spPr>
      </p:sp>
      <p:sp>
        <p:nvSpPr>
          <p:cNvPr id="5" name="Text 3"/>
          <p:cNvSpPr txBox="1"/>
          <p:nvPr/>
        </p:nvSpPr>
        <p:spPr>
          <a:xfrm>
            <a:off x="1042416" y="1892808"/>
            <a:ext cx="457200" cy="548640"/>
          </a:xfrm>
          <a:prstGeom prst="rect">
            <a:avLst/>
          </a:prstGeom>
          <a:noFill/>
          <a:ln/>
        </p:spPr>
        <p:txBody>
          <a:bodyPr wrap="square" lIns="0" tIns="0" rIns="0" bIns="0" rtlCol="0" anchor="t"/>
          <a:lstStyle/>
          <a:p>
            <a:pPr algn="l" indent="0" marL="0">
              <a:lnSpc>
                <a:spcPct val="100000"/>
              </a:lnSpc>
              <a:buNone/>
            </a:pPr>
            <a:r>
              <a:rPr lang="en-US" sz="3000" b="1" dirty="0">
                <a:solidFill>
                  <a:srgbClr val="7FB2DC"/>
                </a:solidFill>
                <a:latin typeface="Calibri" pitchFamily="34" charset="0"/>
                <a:cs typeface="Calibri"/>
              </a:rPr>
              <a:t>1</a:t>
            </a:r>
            <a:endParaRPr lang="en-US" sz="3000" dirty="0"/>
          </a:p>
        </p:txBody>
      </p:sp>
      <p:sp>
        <p:nvSpPr>
          <p:cNvPr id="6" name="Text 4"/>
          <p:cNvSpPr txBox="1"/>
          <p:nvPr/>
        </p:nvSpPr>
        <p:spPr>
          <a:xfrm>
            <a:off x="1591056" y="1874520"/>
            <a:ext cx="4137660" cy="329184"/>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Split the heat calculation</a:t>
            </a:r>
            <a:endParaRPr lang="en-US" sz="1650" dirty="0"/>
          </a:p>
        </p:txBody>
      </p:sp>
      <p:sp>
        <p:nvSpPr>
          <p:cNvPr id="7" name="Text 5"/>
          <p:cNvSpPr txBox="1"/>
          <p:nvPr/>
        </p:nvSpPr>
        <p:spPr>
          <a:xfrm>
            <a:off x="1591056" y="2221992"/>
            <a:ext cx="4137660" cy="566928"/>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Ten small steps inside every second, then re-fit the constants the same way and re-run every check.</a:t>
            </a:r>
            <a:endParaRPr lang="en-US" sz="1300" dirty="0"/>
          </a:p>
        </p:txBody>
      </p:sp>
      <p:sp>
        <p:nvSpPr>
          <p:cNvPr id="8" name="Shape 6"/>
          <p:cNvSpPr/>
          <p:nvPr/>
        </p:nvSpPr>
        <p:spPr>
          <a:xfrm>
            <a:off x="6231636" y="1691640"/>
            <a:ext cx="5143500" cy="1143000"/>
          </a:xfrm>
          <a:prstGeom prst="roundRect">
            <a:avLst>
              <a:gd name="adj" fmla="val 6400"/>
            </a:avLst>
          </a:prstGeom>
          <a:solidFill>
            <a:srgbClr val="1C2A36"/>
          </a:solidFill>
          <a:ln w="9525">
            <a:solidFill>
              <a:srgbClr val="2D3E50"/>
            </a:solidFill>
            <a:prstDash val="solid"/>
          </a:ln>
        </p:spPr>
      </p:sp>
      <p:sp>
        <p:nvSpPr>
          <p:cNvPr id="9" name="Text 7"/>
          <p:cNvSpPr txBox="1"/>
          <p:nvPr/>
        </p:nvSpPr>
        <p:spPr>
          <a:xfrm>
            <a:off x="6460236" y="1892808"/>
            <a:ext cx="457200" cy="548640"/>
          </a:xfrm>
          <a:prstGeom prst="rect">
            <a:avLst/>
          </a:prstGeom>
          <a:noFill/>
          <a:ln/>
        </p:spPr>
        <p:txBody>
          <a:bodyPr wrap="square" lIns="0" tIns="0" rIns="0" bIns="0" rtlCol="0" anchor="t"/>
          <a:lstStyle/>
          <a:p>
            <a:pPr algn="l" indent="0" marL="0">
              <a:lnSpc>
                <a:spcPct val="100000"/>
              </a:lnSpc>
              <a:buNone/>
            </a:pPr>
            <a:r>
              <a:rPr lang="en-US" sz="3000" b="1" dirty="0">
                <a:solidFill>
                  <a:srgbClr val="7FB2DC"/>
                </a:solidFill>
                <a:latin typeface="Calibri" pitchFamily="34" charset="0"/>
                <a:cs typeface="Calibri"/>
              </a:rPr>
              <a:t>2</a:t>
            </a:r>
            <a:endParaRPr lang="en-US" sz="3000" dirty="0"/>
          </a:p>
        </p:txBody>
      </p:sp>
      <p:sp>
        <p:nvSpPr>
          <p:cNvPr id="10" name="Text 8"/>
          <p:cNvSpPr txBox="1"/>
          <p:nvPr/>
        </p:nvSpPr>
        <p:spPr>
          <a:xfrm>
            <a:off x="7008876" y="1874520"/>
            <a:ext cx="4137660" cy="329184"/>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Ramped climbs</a:t>
            </a:r>
            <a:endParaRPr lang="en-US" sz="1650" dirty="0"/>
          </a:p>
        </p:txBody>
      </p:sp>
      <p:sp>
        <p:nvSpPr>
          <p:cNvPr id="11" name="Text 9"/>
          <p:cNvSpPr txBox="1"/>
          <p:nvPr/>
        </p:nvSpPr>
        <p:spPr>
          <a:xfrm>
            <a:off x="7008876" y="2221992"/>
            <a:ext cx="4137660" cy="566928"/>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Every change of grade ramps in over a few seconds, as on a real road.</a:t>
            </a:r>
            <a:endParaRPr lang="en-US" sz="1300" dirty="0"/>
          </a:p>
        </p:txBody>
      </p:sp>
      <p:sp>
        <p:nvSpPr>
          <p:cNvPr id="12" name="Shape 10"/>
          <p:cNvSpPr/>
          <p:nvPr/>
        </p:nvSpPr>
        <p:spPr>
          <a:xfrm>
            <a:off x="813816" y="2990088"/>
            <a:ext cx="5143500" cy="1143000"/>
          </a:xfrm>
          <a:prstGeom prst="roundRect">
            <a:avLst>
              <a:gd name="adj" fmla="val 6400"/>
            </a:avLst>
          </a:prstGeom>
          <a:solidFill>
            <a:srgbClr val="1C2A36"/>
          </a:solidFill>
          <a:ln w="9525">
            <a:solidFill>
              <a:srgbClr val="2D3E50"/>
            </a:solidFill>
            <a:prstDash val="solid"/>
          </a:ln>
        </p:spPr>
      </p:sp>
      <p:sp>
        <p:nvSpPr>
          <p:cNvPr id="13" name="Text 11"/>
          <p:cNvSpPr txBox="1"/>
          <p:nvPr/>
        </p:nvSpPr>
        <p:spPr>
          <a:xfrm>
            <a:off x="1042416" y="3191256"/>
            <a:ext cx="457200" cy="548640"/>
          </a:xfrm>
          <a:prstGeom prst="rect">
            <a:avLst/>
          </a:prstGeom>
          <a:noFill/>
          <a:ln/>
        </p:spPr>
        <p:txBody>
          <a:bodyPr wrap="square" lIns="0" tIns="0" rIns="0" bIns="0" rtlCol="0" anchor="t"/>
          <a:lstStyle/>
          <a:p>
            <a:pPr algn="l" indent="0" marL="0">
              <a:lnSpc>
                <a:spcPct val="100000"/>
              </a:lnSpc>
              <a:buNone/>
            </a:pPr>
            <a:r>
              <a:rPr lang="en-US" sz="3000" b="1" dirty="0">
                <a:solidFill>
                  <a:srgbClr val="7FB2DC"/>
                </a:solidFill>
                <a:latin typeface="Calibri" pitchFamily="34" charset="0"/>
                <a:cs typeface="Calibri"/>
              </a:rPr>
              <a:t>3</a:t>
            </a:r>
            <a:endParaRPr lang="en-US" sz="3000" dirty="0"/>
          </a:p>
        </p:txBody>
      </p:sp>
      <p:sp>
        <p:nvSpPr>
          <p:cNvPr id="14" name="Text 12"/>
          <p:cNvSpPr txBox="1"/>
          <p:nvPr/>
        </p:nvSpPr>
        <p:spPr>
          <a:xfrm>
            <a:off x="1591056" y="3172968"/>
            <a:ext cx="4137660" cy="329184"/>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Drive C, then drive A</a:t>
            </a:r>
            <a:endParaRPr lang="en-US" sz="1650" dirty="0"/>
          </a:p>
        </p:txBody>
      </p:sp>
      <p:sp>
        <p:nvSpPr>
          <p:cNvPr id="15" name="Text 13"/>
          <p:cNvSpPr txBox="1"/>
          <p:nvPr/>
        </p:nvSpPr>
        <p:spPr>
          <a:xfrm>
            <a:off x="1591056" y="3520440"/>
            <a:ext cx="4137660" cy="566928"/>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Drive C for knock: six channels, a held gear. Drive A: a long climb in the heat, then five minutes idling at the top.</a:t>
            </a:r>
            <a:endParaRPr lang="en-US" sz="1300" dirty="0"/>
          </a:p>
        </p:txBody>
      </p:sp>
      <p:sp>
        <p:nvSpPr>
          <p:cNvPr id="16" name="Shape 14"/>
          <p:cNvSpPr/>
          <p:nvPr/>
        </p:nvSpPr>
        <p:spPr>
          <a:xfrm>
            <a:off x="6231636" y="2990088"/>
            <a:ext cx="5143500" cy="1143000"/>
          </a:xfrm>
          <a:prstGeom prst="roundRect">
            <a:avLst>
              <a:gd name="adj" fmla="val 6400"/>
            </a:avLst>
          </a:prstGeom>
          <a:solidFill>
            <a:srgbClr val="1C2A36"/>
          </a:solidFill>
          <a:ln w="9525">
            <a:solidFill>
              <a:srgbClr val="2D3E50"/>
            </a:solidFill>
            <a:prstDash val="solid"/>
          </a:ln>
        </p:spPr>
      </p:sp>
      <p:sp>
        <p:nvSpPr>
          <p:cNvPr id="17" name="Text 15"/>
          <p:cNvSpPr txBox="1"/>
          <p:nvPr/>
        </p:nvSpPr>
        <p:spPr>
          <a:xfrm>
            <a:off x="6460236" y="3191256"/>
            <a:ext cx="457200" cy="548640"/>
          </a:xfrm>
          <a:prstGeom prst="rect">
            <a:avLst/>
          </a:prstGeom>
          <a:noFill/>
          <a:ln/>
        </p:spPr>
        <p:txBody>
          <a:bodyPr wrap="square" lIns="0" tIns="0" rIns="0" bIns="0" rtlCol="0" anchor="t"/>
          <a:lstStyle/>
          <a:p>
            <a:pPr algn="l" indent="0" marL="0">
              <a:lnSpc>
                <a:spcPct val="100000"/>
              </a:lnSpc>
              <a:buNone/>
            </a:pPr>
            <a:r>
              <a:rPr lang="en-US" sz="3000" b="1" dirty="0">
                <a:solidFill>
                  <a:srgbClr val="7FB2DC"/>
                </a:solidFill>
                <a:latin typeface="Calibri" pitchFamily="34" charset="0"/>
                <a:cs typeface="Calibri"/>
              </a:rPr>
              <a:t>4</a:t>
            </a:r>
            <a:endParaRPr lang="en-US" sz="3000" dirty="0"/>
          </a:p>
        </p:txBody>
      </p:sp>
      <p:sp>
        <p:nvSpPr>
          <p:cNvPr id="18" name="Text 16"/>
          <p:cNvSpPr txBox="1"/>
          <p:nvPr/>
        </p:nvSpPr>
        <p:spPr>
          <a:xfrm>
            <a:off x="7008876" y="3172968"/>
            <a:ext cx="4137660" cy="329184"/>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Update the numbers and documents</a:t>
            </a:r>
            <a:endParaRPr lang="en-US" sz="1650" dirty="0"/>
          </a:p>
        </p:txBody>
      </p:sp>
      <p:sp>
        <p:nvSpPr>
          <p:cNvPr id="19" name="Text 17"/>
          <p:cNvSpPr txBox="1"/>
          <p:nvPr/>
        </p:nvSpPr>
        <p:spPr>
          <a:xfrm>
            <a:off x="7008876" y="3520440"/>
            <a:ext cx="4137660" cy="566928"/>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After the fixes, re-run every number and update the documents and pages once.</a:t>
            </a:r>
            <a:endParaRPr lang="en-US" sz="1300" dirty="0"/>
          </a:p>
        </p:txBody>
      </p:sp>
      <p:sp>
        <p:nvSpPr>
          <p:cNvPr id="20" name="Shape 18"/>
          <p:cNvSpPr/>
          <p:nvPr/>
        </p:nvSpPr>
        <p:spPr>
          <a:xfrm>
            <a:off x="813816" y="4389120"/>
            <a:ext cx="10561320" cy="1325880"/>
          </a:xfrm>
          <a:prstGeom prst="roundRect">
            <a:avLst>
              <a:gd name="adj" fmla="val 5517"/>
            </a:avLst>
          </a:prstGeom>
          <a:solidFill>
            <a:srgbClr val="2A2318"/>
          </a:solidFill>
          <a:ln w="9525">
            <a:solidFill>
              <a:srgbClr val="6E5427"/>
            </a:solidFill>
            <a:prstDash val="solid"/>
          </a:ln>
        </p:spPr>
      </p:sp>
      <p:sp>
        <p:nvSpPr>
          <p:cNvPr id="21" name="Text 19"/>
          <p:cNvSpPr txBox="1"/>
          <p:nvPr/>
        </p:nvSpPr>
        <p:spPr>
          <a:xfrm>
            <a:off x="1088136" y="4526280"/>
            <a:ext cx="10012680" cy="292608"/>
          </a:xfrm>
          <a:prstGeom prst="rect">
            <a:avLst/>
          </a:prstGeom>
          <a:noFill/>
          <a:ln/>
        </p:spPr>
        <p:txBody>
          <a:bodyPr wrap="square" lIns="0" tIns="0" rIns="0" bIns="0" rtlCol="0" anchor="t"/>
          <a:lstStyle/>
          <a:p>
            <a:pPr algn="l" indent="0" marL="0">
              <a:lnSpc>
                <a:spcPct val="115000"/>
              </a:lnSpc>
              <a:buNone/>
            </a:pPr>
            <a:r>
              <a:rPr lang="en-US" sz="1450" b="1" dirty="0">
                <a:solidFill>
                  <a:srgbClr val="E3A857"/>
                </a:solidFill>
                <a:latin typeface="Calibri" pitchFamily="34" charset="0"/>
                <a:cs typeface="Calibri"/>
              </a:rPr>
              <a:t>Limits we write into the thesis instead of hiding them</a:t>
            </a:r>
            <a:endParaRPr lang="en-US" sz="1450" dirty="0"/>
          </a:p>
        </p:txBody>
      </p:sp>
      <p:sp>
        <p:nvSpPr>
          <p:cNvPr id="22" name="Text 20"/>
          <p:cNvSpPr txBox="1"/>
          <p:nvPr/>
        </p:nvSpPr>
        <p:spPr>
          <a:xfrm>
            <a:off x="1088136" y="4892040"/>
            <a:ext cx="3215640" cy="731520"/>
          </a:xfrm>
          <a:prstGeom prst="rect">
            <a:avLst/>
          </a:prstGeom>
          <a:noFill/>
          <a:ln/>
        </p:spPr>
        <p:txBody>
          <a:bodyPr wrap="square" lIns="0" tIns="0" rIns="0" bIns="0" rtlCol="0" anchor="t"/>
          <a:lstStyle/>
          <a:p>
            <a:pPr algn="l" indent="0" marL="0">
              <a:lnSpc>
                <a:spcPct val="115000"/>
              </a:lnSpc>
              <a:buNone/>
            </a:pPr>
            <a:r>
              <a:rPr lang="en-US" sz="1250" b="1" dirty="0">
                <a:solidFill>
                  <a:srgbClr val="C9D3DD"/>
                </a:solidFill>
                <a:latin typeface="Calibri" pitchFamily="34" charset="0"/>
                <a:cs typeface="Calibri"/>
              </a:rPr>
              <a:t>Altitude is not modelled: the test climb rises 2340 m while the engine breathes sea-level air</a:t>
            </a:r>
            <a:endParaRPr lang="en-US" sz="1250" dirty="0"/>
          </a:p>
        </p:txBody>
      </p:sp>
      <p:sp>
        <p:nvSpPr>
          <p:cNvPr id="23" name="Text 21"/>
          <p:cNvSpPr txBox="1"/>
          <p:nvPr/>
        </p:nvSpPr>
        <p:spPr>
          <a:xfrm>
            <a:off x="4486656" y="4892040"/>
            <a:ext cx="3215640" cy="731520"/>
          </a:xfrm>
          <a:prstGeom prst="rect">
            <a:avLst/>
          </a:prstGeom>
          <a:noFill/>
          <a:ln/>
        </p:spPr>
        <p:txBody>
          <a:bodyPr wrap="square" lIns="0" tIns="0" rIns="0" bIns="0" rtlCol="0" anchor="t"/>
          <a:lstStyle/>
          <a:p>
            <a:pPr algn="l" indent="0" marL="0">
              <a:lnSpc>
                <a:spcPct val="115000"/>
              </a:lnSpc>
              <a:buNone/>
            </a:pPr>
            <a:r>
              <a:rPr lang="en-US" sz="1250" b="1" dirty="0">
                <a:solidFill>
                  <a:srgbClr val="C9D3DD"/>
                </a:solidFill>
                <a:latin typeface="Calibri" pitchFamily="34" charset="0"/>
                <a:cs typeface="Calibri"/>
              </a:rPr>
              <a:t>The turbine housing's heat capacity is assumed, not measured</a:t>
            </a:r>
            <a:endParaRPr lang="en-US" sz="1250" dirty="0"/>
          </a:p>
        </p:txBody>
      </p:sp>
      <p:sp>
        <p:nvSpPr>
          <p:cNvPr id="24" name="Text 22"/>
          <p:cNvSpPr txBox="1"/>
          <p:nvPr/>
        </p:nvSpPr>
        <p:spPr>
          <a:xfrm>
            <a:off x="7885176" y="4892040"/>
            <a:ext cx="3215640" cy="731520"/>
          </a:xfrm>
          <a:prstGeom prst="rect">
            <a:avLst/>
          </a:prstGeom>
          <a:noFill/>
          <a:ln/>
        </p:spPr>
        <p:txBody>
          <a:bodyPr wrap="square" lIns="0" tIns="0" rIns="0" bIns="0" rtlCol="0" anchor="t"/>
          <a:lstStyle/>
          <a:p>
            <a:pPr algn="l" indent="0" marL="0">
              <a:lnSpc>
                <a:spcPct val="115000"/>
              </a:lnSpc>
              <a:buNone/>
            </a:pPr>
            <a:r>
              <a:rPr lang="en-US" sz="1250" b="1" dirty="0">
                <a:solidFill>
                  <a:srgbClr val="C9D3DD"/>
                </a:solidFill>
                <a:latin typeface="Calibri" pitchFamily="34" charset="0"/>
                <a:cs typeface="Calibri"/>
              </a:rPr>
              <a:t>The radiator's split between airflow and fan cannot be told apart from this car's data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Update — 1 October</dc:title>
  <dc:subject>PptxGenJS Presentation</dc:subject>
  <dc:creator>Graduation project team</dc:creator>
  <cp:lastModifiedBy>Graduation project team</cp:lastModifiedBy>
  <cp:revision>1</cp:revision>
  <dcterms:created xsi:type="dcterms:W3CDTF">2026-10-01T12:29:23Z</dcterms:created>
  <dcterms:modified xsi:type="dcterms:W3CDTF">2026-10-01T12:29:23Z</dcterms:modified>
</cp:coreProperties>
</file>