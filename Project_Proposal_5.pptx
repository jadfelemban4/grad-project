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Preview advantage</c:v>
                </c:pt>
              </c:strCache>
            </c:strRef>
          </c:tx>
          <c:spPr>
            <a:solidFill>
              <a:srgbClr val="E8871E"/>
            </a:solidFill>
            <a:effectLst/>
          </c:spPr>
          <c:invertIfNegative val="0"/>
          <c:dLbls>
            <c:numFmt formatCode="0.0&quot; pts&quot;" sourceLinked="0"/>
            <c:txPr>
              <a:bodyPr/>
              <a:lstStyle/>
              <a:p>
                <a:pPr>
                  <a:defRPr b="0" i="0" strike="noStrike" sz="1100" u="none">
                    <a:solidFill>
                      <a:srgbClr val="1B2127"/>
                    </a:solidFill>
                    <a:latin typeface="Calibri"/>
                  </a:defRPr>
                </a:pPr>
              </a:p>
            </c:txPr>
            <c:showLegendKey val="0"/>
            <c:showVal val="1"/>
            <c:showCatName val="0"/>
            <c:showSerName val="0"/>
            <c:showPercent val="0"/>
            <c:showBubbleSize val="0"/>
            <c:showLeaderLines val="0"/>
          </c:dLbls>
          <c:cat>
            <c:multiLvlStrRef>
              <c:f>Sheet1!$A$2:$A$4</c:f>
              <c:multiLvlStrCache>
                <c:ptCount val="3"/>
                <c:lvl>
                  <c:pt idx="0">
                    <c:v>H/τ = 4.47</c:v>
                  </c:pt>
                  <c:pt idx="1">
                    <c:v>H/τ = 1.43</c:v>
                  </c:pt>
                  <c:pt idx="2">
                    <c:v>H/τ = 0.60</c:v>
                  </c:pt>
                </c:lvl>
              </c:multiLvlStrCache>
            </c:multiLvlStrRef>
          </c:cat>
          <c:val>
            <c:numRef>
              <c:f>Sheet1!$B$2:$B$4</c:f>
              <c:numCache>
                <c:formatCode>General</c:formatCode>
                <c:ptCount val="3"/>
                <c:pt idx="0">
                  <c:v>16.5</c:v>
                </c:pt>
                <c:pt idx="1">
                  <c:v>18</c:v>
                </c:pt>
                <c:pt idx="2">
                  <c:v>26</c:v>
                </c:pt>
              </c:numCache>
            </c:numRef>
          </c:val>
        </c:ser>
        <c:dLbls>
          <c:numFmt formatCode="0.0&quot; pts&quot;" sourceLinked="0"/>
          <c:txPr>
            <a:bodyPr/>
            <a:lstStyle/>
            <a:p>
              <a:pPr>
                <a:defRPr b="0" i="0" strike="noStrike" sz="1100" u="none">
                  <a:solidFill>
                    <a:srgbClr val="1B2127"/>
                  </a:solidFill>
                  <a:latin typeface="Calibri"/>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E6C75"/>
                </a:solidFill>
                <a:latin typeface="Calibri"/>
              </a:defRPr>
            </a:pPr>
            <a:endParaRPr lang="en-US"/>
          </a:p>
        </c:txPr>
        <c:crossAx val="2094734552"/>
        <c:crosses val="autoZero"/>
        <c:auto val="1"/>
        <c:lblAlgn val="ctr"/>
        <c:noMultiLvlLbl val="1"/>
      </c:catAx>
      <c:valAx>
        <c:axId val="2094734552"/>
        <c:scaling>
          <c:orientation val="minMax"/>
          <c:max val="32"/>
          <c:min val="0"/>
        </c:scaling>
        <c:delete val="0"/>
        <c:axPos val="l"/>
        <c:majorGridlines>
          <c:spPr>
            <a:ln w="12700" cap="flat">
              <a:solidFill>
                <a:srgbClr val="EAEE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5E6C75"/>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Measured (ECU)</c:v>
                </c:pt>
              </c:strCache>
            </c:strRef>
          </c:tx>
          <c:spPr>
            <a:solidFill>
              <a:srgbClr val="1B2127"/>
            </a:solidFill>
            <a:ln w="31750" cap="flat">
              <a:solidFill>
                <a:srgbClr val="1B212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B2127"/>
              </a:solidFill>
              <a:ln w="9525" cap="flat">
                <a:solidFill>
                  <a:srgbClr val="1B2127"/>
                </a:solidFill>
                <a:prstDash val="solid"/>
                <a:round/>
              </a:ln>
              <a:effectLst/>
            </c:spPr>
          </c:marker>
          <c:cat>
            <c:multiLvlStrRef>
              <c:f>Sheet1!$A$2:$A$23</c:f>
              <c:multiLvlStrCache>
                <c:ptCount val="22"/>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lvl>
              </c:multiLvlStrCache>
            </c:multiLvlStrRef>
          </c:cat>
          <c:val>
            <c:numRef>
              <c:f>Sheet1!$B$2:$B$23</c:f>
              <c:numCache>
                <c:formatCode>General</c:formatCode>
                <c:ptCount val="22"/>
                <c:pt idx="0">
                  <c:v>20.4</c:v>
                </c:pt>
                <c:pt idx="1">
                  <c:v>22.6</c:v>
                </c:pt>
                <c:pt idx="2">
                  <c:v>23.9</c:v>
                </c:pt>
                <c:pt idx="3">
                  <c:v>24.7</c:v>
                </c:pt>
                <c:pt idx="4">
                  <c:v>26.6</c:v>
                </c:pt>
                <c:pt idx="5">
                  <c:v>27.8</c:v>
                </c:pt>
                <c:pt idx="6">
                  <c:v>29.5</c:v>
                </c:pt>
                <c:pt idx="7">
                  <c:v>29.7</c:v>
                </c:pt>
                <c:pt idx="8">
                  <c:v>30.2</c:v>
                </c:pt>
                <c:pt idx="9">
                  <c:v>30.3</c:v>
                </c:pt>
                <c:pt idx="10">
                  <c:v>31.8</c:v>
                </c:pt>
                <c:pt idx="11">
                  <c:v>32.5</c:v>
                </c:pt>
                <c:pt idx="12">
                  <c:v>33.4</c:v>
                </c:pt>
                <c:pt idx="13">
                  <c:v>34</c:v>
                </c:pt>
                <c:pt idx="14">
                  <c:v>35.5</c:v>
                </c:pt>
                <c:pt idx="15">
                  <c:v>36.4</c:v>
                </c:pt>
                <c:pt idx="16">
                  <c:v>37.8</c:v>
                </c:pt>
                <c:pt idx="17">
                  <c:v>44.3</c:v>
                </c:pt>
                <c:pt idx="18">
                  <c:v>44.7</c:v>
                </c:pt>
                <c:pt idx="19">
                  <c:v>45.8</c:v>
                </c:pt>
                <c:pt idx="20">
                  <c:v>49.2</c:v>
                </c:pt>
                <c:pt idx="21">
                  <c:v>52</c:v>
                </c:pt>
              </c:numCache>
            </c:numRef>
          </c:val>
          <c:smooth val="0"/>
        </c:ser>
        <c:ser>
          <c:idx val="1"/>
          <c:order val="1"/>
          <c:tx>
            <c:strRef>
              <c:f>Sheet1!$C$1</c:f>
              <c:strCache>
                <c:ptCount val="1"/>
                <c:pt idx="0">
                  <c:v>Model</c:v>
                </c:pt>
              </c:strCache>
            </c:strRef>
          </c:tx>
          <c:spPr>
            <a:solidFill>
              <a:srgbClr val="E8871E"/>
            </a:solidFill>
            <a:ln w="31750" cap="flat">
              <a:solidFill>
                <a:srgbClr val="E887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8871E"/>
              </a:solidFill>
              <a:ln w="9525" cap="flat">
                <a:solidFill>
                  <a:srgbClr val="E8871E"/>
                </a:solidFill>
                <a:prstDash val="solid"/>
                <a:round/>
              </a:ln>
              <a:effectLst/>
            </c:spPr>
          </c:marker>
          <c:cat>
            <c:multiLvlStrRef>
              <c:f>Sheet1!$A$2:$A$23</c:f>
              <c:multiLvlStrCache>
                <c:ptCount val="22"/>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lvl>
              </c:multiLvlStrCache>
            </c:multiLvlStrRef>
          </c:cat>
          <c:val>
            <c:numRef>
              <c:f>Sheet1!$C$2:$C$23</c:f>
              <c:numCache>
                <c:formatCode>General</c:formatCode>
                <c:ptCount val="22"/>
                <c:pt idx="0">
                  <c:v>19.5</c:v>
                </c:pt>
                <c:pt idx="1">
                  <c:v>21.7</c:v>
                </c:pt>
                <c:pt idx="2">
                  <c:v>23.7</c:v>
                </c:pt>
                <c:pt idx="3">
                  <c:v>23.6</c:v>
                </c:pt>
                <c:pt idx="4">
                  <c:v>25.3</c:v>
                </c:pt>
                <c:pt idx="5">
                  <c:v>26.2</c:v>
                </c:pt>
                <c:pt idx="6">
                  <c:v>29.5</c:v>
                </c:pt>
                <c:pt idx="7">
                  <c:v>28.7</c:v>
                </c:pt>
                <c:pt idx="8">
                  <c:v>31.3</c:v>
                </c:pt>
                <c:pt idx="9">
                  <c:v>29.9</c:v>
                </c:pt>
                <c:pt idx="10">
                  <c:v>30.4</c:v>
                </c:pt>
                <c:pt idx="11">
                  <c:v>32.3</c:v>
                </c:pt>
                <c:pt idx="12">
                  <c:v>33.3</c:v>
                </c:pt>
                <c:pt idx="13">
                  <c:v>33.2</c:v>
                </c:pt>
                <c:pt idx="14">
                  <c:v>35.4</c:v>
                </c:pt>
                <c:pt idx="15">
                  <c:v>33.3</c:v>
                </c:pt>
                <c:pt idx="16">
                  <c:v>38.5</c:v>
                </c:pt>
                <c:pt idx="17">
                  <c:v>45.4</c:v>
                </c:pt>
                <c:pt idx="18">
                  <c:v>45.7</c:v>
                </c:pt>
                <c:pt idx="19">
                  <c:v>46.6</c:v>
                </c:pt>
                <c:pt idx="20">
                  <c:v>50.1</c:v>
                </c:pt>
                <c:pt idx="21">
                  <c:v>54.4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C75"/>
                </a:solidFill>
                <a:latin typeface="Calibri"/>
              </a:defRPr>
            </a:pPr>
            <a:endParaRPr lang="en-US"/>
          </a:p>
        </c:txPr>
        <c:crossAx val="2094734552"/>
        <c:crosses val="autoZero"/>
        <c:auto val="1"/>
        <c:lblAlgn val="ctr"/>
        <c:noMultiLvlLbl val="1"/>
      </c:catAx>
      <c:valAx>
        <c:axId val="2094734552"/>
        <c:scaling>
          <c:orientation val="minMax"/>
          <c:max val="60"/>
          <c:min val="15"/>
        </c:scaling>
        <c:delete val="0"/>
        <c:axPos val="l"/>
        <c:majorGridlines>
          <c:spPr>
            <a:ln w="12700" cap="flat">
              <a:solidFill>
                <a:srgbClr val="EAEEF0"/>
              </a:solidFill>
              <a:prstDash val="solid"/>
              <a:round/>
            </a:ln>
          </c:spPr>
        </c:majorGridlines>
        <c:title>
          <c:tx>
            <c:rich>
              <a:bodyPr/>
              <a:lstStyle/>
              <a:p>
                <a:pPr>
                  <a:defRPr sz="1000" b="0" i="0" u="none" strike="noStrike">
                    <a:solidFill>
                      <a:srgbClr val="5E6C75"/>
                    </a:solidFill>
                    <a:latin typeface="Calibri"/>
                  </a:defRPr>
                </a:pPr>
                <a:r>
                  <a:rPr sz="1000" b="0" i="0" u="none" strike="noStrike">
                    <a:solidFill>
                      <a:srgbClr val="5E6C75"/>
                    </a:solidFill>
                    <a:latin typeface="Calibri"/>
                  </a:rPr>
                  <a:t>Engine load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C75"/>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E6C7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began with a predictive controller for engines and dropped it: Mercedes ships Predictive Powertrain Control commercially and RL for engine control is a published field. What is genuinely open is the prior question — when preview is worth acquiring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falsifiable claim: preview value should collapse onto one curve against H/tau regardless of which plant produced the point. If the two plants do not overlap, the criterion is wrong or incomplete — and saying so is still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HONESTY NOTE, say this before an examiner asks. The 1.4% load figure has zero fitted parameters, but it does NOT test the breathing model: manifold pressure is inverted from the same relation, so eta_v cancels. Perturbing eta_v from 0.5 to 1.2 leaves the number at 1.37%. What it DOES pin is the meaning of BMW's relative-filling channel and the engine displacement -- feed it a four-cylinder and it reads 48% instead of 1.4%. The number on this slide is the boosted comparison: the model's manifold pressure against the car's own boost sensor, 3.0% after the charge-temperature correction, 22.6% before it. The normalisation constant k is not tuned: our load is referenced to 100 kPa at the measured intake temperature, BMW's to the DIN state of 1013 mbar and 0 C, and the ratio of those two air densities is 269.6/T_intake by definition. Fitting it gives 0.784; deriving it gives 0.783. A 20 C reference would have given 0.840, which the data excludes -- so the agreement identifies BMW's reference state rather than hiding a knob. Limit to state: k now varies with the pre-throttle intake sensor, which lags under boost; all 22 points are 31-82 kPa where it tracks. Examiners respect a stated scope limit; what they punish is a validation table that implies coverage it does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nearest paper before an examiner does is worth more than claiming there is none. Liu and Seiler is the paper an examiner who knows preview control will think of first. Bedei is support, not a threat: the closest hardware-validated constrained-RL engine work, and it explicitly has no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last point out loud before the supervisor finds it. A student who reports a result that went against them is trusted on everything else they claim. The floor of this project — validated simulator, agent beating two baselines, and an ablation isolating the cause — is reachable regardless of how the H/tau curve comes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1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ctr"/>
          <a:lstStyle/>
          <a:p>
            <a:pPr indent="0" marL="0">
              <a:buNone/>
            </a:pPr>
            <a:r>
              <a:rPr lang="en-US" sz="1100" b="1" spc="240" kern="0" dirty="0">
                <a:solidFill>
                  <a:srgbClr val="E8871E"/>
                </a:solidFill>
                <a:latin typeface="Calibri" pitchFamily="34" charset="0"/>
                <a:ea typeface="Calibri" pitchFamily="34" charset="-122"/>
                <a:cs typeface="Calibri" pitchFamily="34" charset="-120"/>
              </a:rPr>
              <a:t>01  ·  PROBLEM DEFINITION</a:t>
            </a:r>
            <a:endParaRPr lang="en-US" sz="1100" dirty="0"/>
          </a:p>
        </p:txBody>
      </p:sp>
      <p:sp>
        <p:nvSpPr>
          <p:cNvPr id="3" name="Text 1"/>
          <p:cNvSpPr txBox="1"/>
          <p:nvPr/>
        </p:nvSpPr>
        <p:spPr>
          <a:xfrm>
            <a:off x="548640" y="777240"/>
            <a:ext cx="6492240" cy="1371600"/>
          </a:xfrm>
          <a:prstGeom prst="rect">
            <a:avLst/>
          </a:prstGeom>
          <a:noFill/>
          <a:ln/>
        </p:spPr>
        <p:txBody>
          <a:bodyPr wrap="square" lIns="0" tIns="0" rIns="0" bIns="0" rtlCol="0" anchor="ctr"/>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When is knowing the future</a:t>
            </a:r>
            <a:endParaRPr lang="en-US" sz="3400" dirty="0"/>
          </a:p>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worth what it costs to know?</a:t>
            </a:r>
            <a:endParaRPr lang="en-US" sz="3400" dirty="0"/>
          </a:p>
        </p:txBody>
      </p:sp>
      <p:sp>
        <p:nvSpPr>
          <p:cNvPr id="4" name="Text 2"/>
          <p:cNvSpPr txBox="1"/>
          <p:nvPr/>
        </p:nvSpPr>
        <p:spPr>
          <a:xfrm>
            <a:off x="548640" y="2286000"/>
            <a:ext cx="6309360" cy="685800"/>
          </a:xfrm>
          <a:prstGeom prst="rect">
            <a:avLst/>
          </a:prstGeom>
          <a:noFill/>
          <a:ln/>
        </p:spPr>
        <p:txBody>
          <a:bodyPr wrap="square" lIns="0" tIns="0" rIns="0" bIns="0" rtlCol="0" anchor="ctr"/>
          <a:lstStyle/>
          <a:p>
            <a:pPr indent="0" marL="0">
              <a:lnSpc>
                <a:spcPts val="2200"/>
              </a:lnSpc>
              <a:buNone/>
            </a:pPr>
            <a:r>
              <a:rPr lang="en-US" sz="1500" dirty="0">
                <a:solidFill>
                  <a:srgbClr val="C8D2D8"/>
                </a:solidFill>
                <a:latin typeface="Calibri" pitchFamily="34" charset="0"/>
                <a:ea typeface="Calibri" pitchFamily="34" charset="-122"/>
                <a:cs typeface="Calibri" pitchFamily="34" charset="-120"/>
              </a:rPr>
              <a:t>Every control engineer faces the same decision before building anything: </a:t>
            </a:r>
            <a:pPr indent="0" marL="0">
              <a:lnSpc>
                <a:spcPts val="2200"/>
              </a:lnSpc>
              <a:buNone/>
            </a:pPr>
            <a:r>
              <a:rPr lang="en-US" sz="1500" b="1" dirty="0">
                <a:solidFill>
                  <a:srgbClr val="FFFFFF"/>
                </a:solidFill>
                <a:latin typeface="Calibri" pitchFamily="34" charset="0"/>
                <a:ea typeface="Calibri" pitchFamily="34" charset="-122"/>
                <a:cs typeface="Calibri" pitchFamily="34" charset="-120"/>
              </a:rPr>
              <a:t>buy the map data, add the sensor, build the communication link — or not.</a:t>
            </a:r>
            <a:endParaRPr lang="en-US" sz="1500" dirty="0"/>
          </a:p>
        </p:txBody>
      </p:sp>
      <p:sp>
        <p:nvSpPr>
          <p:cNvPr id="5" name="Text 3"/>
          <p:cNvSpPr txBox="1"/>
          <p:nvPr/>
        </p:nvSpPr>
        <p:spPr>
          <a:xfrm>
            <a:off x="548640" y="3017520"/>
            <a:ext cx="6309360" cy="822960"/>
          </a:xfrm>
          <a:prstGeom prst="rect">
            <a:avLst/>
          </a:prstGeom>
          <a:noFill/>
          <a:ln/>
        </p:spPr>
        <p:txBody>
          <a:bodyPr wrap="square" lIns="0" tIns="0" rIns="0" bIns="0" rtlCol="0" anchor="ctr"/>
          <a:lstStyle/>
          <a:p>
            <a:pPr indent="0" marL="0">
              <a:lnSpc>
                <a:spcPts val="2200"/>
              </a:lnSpc>
              <a:buNone/>
            </a:pPr>
            <a:r>
              <a:rPr lang="en-US" sz="1500" dirty="0">
                <a:solidFill>
                  <a:srgbClr val="C8D2D8"/>
                </a:solidFill>
                <a:latin typeface="Calibri" pitchFamily="34" charset="0"/>
                <a:ea typeface="Calibri" pitchFamily="34" charset="-122"/>
                <a:cs typeface="Calibri" pitchFamily="34" charset="-120"/>
              </a:rPr>
              <a:t>The information is never free. Yet there is no published criterion that says when it pays for itself — so the decision is made by intuition, or by building it and finding out.</a:t>
            </a:r>
            <a:endParaRPr lang="en-US" sz="1500" dirty="0"/>
          </a:p>
        </p:txBody>
      </p:sp>
      <p:sp>
        <p:nvSpPr>
          <p:cNvPr id="6" name="Shape 4"/>
          <p:cNvSpPr/>
          <p:nvPr/>
        </p:nvSpPr>
        <p:spPr>
          <a:xfrm>
            <a:off x="566928" y="4169664"/>
            <a:ext cx="274320" cy="274320"/>
          </a:xfrm>
          <a:prstGeom prst="ellipse">
            <a:avLst/>
          </a:prstGeom>
          <a:solidFill>
            <a:srgbClr val="E8871E"/>
          </a:solidFill>
          <a:ln/>
        </p:spPr>
      </p:sp>
      <p:sp>
        <p:nvSpPr>
          <p:cNvPr id="7" name="Text 5"/>
          <p:cNvSpPr txBox="1"/>
          <p:nvPr/>
        </p:nvSpPr>
        <p:spPr>
          <a:xfrm>
            <a:off x="566928" y="4169664"/>
            <a:ext cx="274320" cy="274320"/>
          </a:xfrm>
          <a:prstGeom prst="rect">
            <a:avLst/>
          </a:prstGeom>
          <a:noFill/>
          <a:ln/>
        </p:spPr>
        <p:txBody>
          <a:bodyPr wrap="square" lIns="0" tIns="0" rIns="0" bIns="0" rtlCol="0" anchor="ctr"/>
          <a:lstStyle/>
          <a:p>
            <a:pPr algn="ctr" indent="0" marL="0">
              <a:buNone/>
            </a:pPr>
            <a:r>
              <a:rPr lang="en-US" sz="1200" b="1" dirty="0">
                <a:solidFill>
                  <a:srgbClr val="141A1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005840" y="4114800"/>
            <a:ext cx="173736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Over-invest</a:t>
            </a:r>
            <a:endParaRPr lang="en-US" sz="1400" dirty="0"/>
          </a:p>
        </p:txBody>
      </p:sp>
      <p:sp>
        <p:nvSpPr>
          <p:cNvPr id="9" name="Text 7"/>
          <p:cNvSpPr txBox="1"/>
          <p:nvPr/>
        </p:nvSpPr>
        <p:spPr>
          <a:xfrm>
            <a:off x="1005840" y="4370832"/>
            <a:ext cx="5669280" cy="320040"/>
          </a:xfrm>
          <a:prstGeom prst="rect">
            <a:avLst/>
          </a:prstGeom>
          <a:noFill/>
          <a:ln/>
        </p:spPr>
        <p:txBody>
          <a:bodyPr wrap="square" lIns="0" tIns="0" rIns="0" bIns="0" rtlCol="0" anchor="ctr"/>
          <a:lstStyle/>
          <a:p>
            <a:pPr indent="0" marL="0">
              <a:buNone/>
            </a:pPr>
            <a:r>
              <a:rPr lang="en-US" sz="1300" dirty="0">
                <a:solidFill>
                  <a:srgbClr val="9AA7AE"/>
                </a:solidFill>
                <a:latin typeface="Calibri" pitchFamily="34" charset="0"/>
                <a:ea typeface="Calibri" pitchFamily="34" charset="-122"/>
                <a:cs typeface="Calibri" pitchFamily="34" charset="-120"/>
              </a:rPr>
              <a:t>Pay for lookahead the system is too fast to use.</a:t>
            </a:r>
            <a:endParaRPr lang="en-US" sz="1300" dirty="0"/>
          </a:p>
        </p:txBody>
      </p:sp>
      <p:sp>
        <p:nvSpPr>
          <p:cNvPr id="10" name="Shape 8"/>
          <p:cNvSpPr/>
          <p:nvPr/>
        </p:nvSpPr>
        <p:spPr>
          <a:xfrm>
            <a:off x="566928" y="4828032"/>
            <a:ext cx="274320" cy="274320"/>
          </a:xfrm>
          <a:prstGeom prst="ellipse">
            <a:avLst/>
          </a:prstGeom>
          <a:solidFill>
            <a:srgbClr val="E8871E"/>
          </a:solidFill>
          <a:ln/>
        </p:spPr>
      </p:sp>
      <p:sp>
        <p:nvSpPr>
          <p:cNvPr id="11" name="Text 9"/>
          <p:cNvSpPr txBox="1"/>
          <p:nvPr/>
        </p:nvSpPr>
        <p:spPr>
          <a:xfrm>
            <a:off x="566928" y="4828032"/>
            <a:ext cx="274320" cy="274320"/>
          </a:xfrm>
          <a:prstGeom prst="rect">
            <a:avLst/>
          </a:prstGeom>
          <a:noFill/>
          <a:ln/>
        </p:spPr>
        <p:txBody>
          <a:bodyPr wrap="square" lIns="0" tIns="0" rIns="0" bIns="0" rtlCol="0" anchor="ctr"/>
          <a:lstStyle/>
          <a:p>
            <a:pPr algn="ctr" indent="0" marL="0">
              <a:buNone/>
            </a:pPr>
            <a:r>
              <a:rPr lang="en-US" sz="1200" b="1" dirty="0">
                <a:solidFill>
                  <a:srgbClr val="141A1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05840" y="4773168"/>
            <a:ext cx="173736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Under-invest</a:t>
            </a:r>
            <a:endParaRPr lang="en-US" sz="1400" dirty="0"/>
          </a:p>
        </p:txBody>
      </p:sp>
      <p:sp>
        <p:nvSpPr>
          <p:cNvPr id="13" name="Text 11"/>
          <p:cNvSpPr txBox="1"/>
          <p:nvPr/>
        </p:nvSpPr>
        <p:spPr>
          <a:xfrm>
            <a:off x="1005840" y="5029200"/>
            <a:ext cx="5669280" cy="320040"/>
          </a:xfrm>
          <a:prstGeom prst="rect">
            <a:avLst/>
          </a:prstGeom>
          <a:noFill/>
          <a:ln/>
        </p:spPr>
        <p:txBody>
          <a:bodyPr wrap="square" lIns="0" tIns="0" rIns="0" bIns="0" rtlCol="0" anchor="ctr"/>
          <a:lstStyle/>
          <a:p>
            <a:pPr indent="0" marL="0">
              <a:buNone/>
            </a:pPr>
            <a:r>
              <a:rPr lang="en-US" sz="1300" dirty="0">
                <a:solidFill>
                  <a:srgbClr val="9AA7AE"/>
                </a:solidFill>
                <a:latin typeface="Calibri" pitchFamily="34" charset="0"/>
                <a:ea typeface="Calibri" pitchFamily="34" charset="-122"/>
                <a:cs typeface="Calibri" pitchFamily="34" charset="-120"/>
              </a:rPr>
              <a:t>Protect a slow component with a horizon far too short.</a:t>
            </a:r>
            <a:endParaRPr lang="en-US" sz="1300" dirty="0"/>
          </a:p>
        </p:txBody>
      </p:sp>
      <p:sp>
        <p:nvSpPr>
          <p:cNvPr id="14" name="Shape 12"/>
          <p:cNvSpPr/>
          <p:nvPr/>
        </p:nvSpPr>
        <p:spPr>
          <a:xfrm>
            <a:off x="566928" y="5486400"/>
            <a:ext cx="274320" cy="274320"/>
          </a:xfrm>
          <a:prstGeom prst="ellipse">
            <a:avLst/>
          </a:prstGeom>
          <a:solidFill>
            <a:srgbClr val="E8871E"/>
          </a:solidFill>
          <a:ln/>
        </p:spPr>
      </p:sp>
      <p:sp>
        <p:nvSpPr>
          <p:cNvPr id="15" name="Text 13"/>
          <p:cNvSpPr txBox="1"/>
          <p:nvPr/>
        </p:nvSpPr>
        <p:spPr>
          <a:xfrm>
            <a:off x="566928" y="5486400"/>
            <a:ext cx="274320" cy="274320"/>
          </a:xfrm>
          <a:prstGeom prst="rect">
            <a:avLst/>
          </a:prstGeom>
          <a:noFill/>
          <a:ln/>
        </p:spPr>
        <p:txBody>
          <a:bodyPr wrap="square" lIns="0" tIns="0" rIns="0" bIns="0" rtlCol="0" anchor="ctr"/>
          <a:lstStyle/>
          <a:p>
            <a:pPr algn="ctr" indent="0" marL="0">
              <a:buNone/>
            </a:pPr>
            <a:r>
              <a:rPr lang="en-US" sz="1200" b="1" dirty="0">
                <a:solidFill>
                  <a:srgbClr val="141A1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005840" y="5431536"/>
            <a:ext cx="173736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 way to tell</a:t>
            </a:r>
            <a:endParaRPr lang="en-US" sz="1400" dirty="0"/>
          </a:p>
        </p:txBody>
      </p:sp>
      <p:sp>
        <p:nvSpPr>
          <p:cNvPr id="17" name="Text 15"/>
          <p:cNvSpPr txBox="1"/>
          <p:nvPr/>
        </p:nvSpPr>
        <p:spPr>
          <a:xfrm>
            <a:off x="1005840" y="5687568"/>
            <a:ext cx="5669280" cy="320040"/>
          </a:xfrm>
          <a:prstGeom prst="rect">
            <a:avLst/>
          </a:prstGeom>
          <a:noFill/>
          <a:ln/>
        </p:spPr>
        <p:txBody>
          <a:bodyPr wrap="square" lIns="0" tIns="0" rIns="0" bIns="0" rtlCol="0" anchor="ctr"/>
          <a:lstStyle/>
          <a:p>
            <a:pPr indent="0" marL="0">
              <a:buNone/>
            </a:pPr>
            <a:r>
              <a:rPr lang="en-US" sz="1300" dirty="0">
                <a:solidFill>
                  <a:srgbClr val="9AA7AE"/>
                </a:solidFill>
                <a:latin typeface="Calibri" pitchFamily="34" charset="0"/>
                <a:ea typeface="Calibri" pitchFamily="34" charset="-122"/>
                <a:cs typeface="Calibri" pitchFamily="34" charset="-120"/>
              </a:rPr>
              <a:t>Nobody has mapped the region in between.</a:t>
            </a:r>
            <a:endParaRPr lang="en-US" sz="1300" dirty="0"/>
          </a:p>
        </p:txBody>
      </p:sp>
      <p:sp>
        <p:nvSpPr>
          <p:cNvPr id="18" name="Shape 16"/>
          <p:cNvSpPr/>
          <p:nvPr/>
        </p:nvSpPr>
        <p:spPr>
          <a:xfrm>
            <a:off x="7452360" y="914400"/>
            <a:ext cx="4160520" cy="5120640"/>
          </a:xfrm>
          <a:prstGeom prst="roundRect">
            <a:avLst>
              <a:gd name="adj" fmla="val 2637"/>
            </a:avLst>
          </a:prstGeom>
          <a:solidFill>
            <a:srgbClr val="1E262D"/>
          </a:solidFill>
          <a:ln w="12700">
            <a:solidFill>
              <a:srgbClr val="2C3841"/>
            </a:solidFill>
            <a:prstDash val="solid"/>
          </a:ln>
        </p:spPr>
      </p:sp>
      <p:sp>
        <p:nvSpPr>
          <p:cNvPr id="19" name="Text 17"/>
          <p:cNvSpPr txBox="1"/>
          <p:nvPr/>
        </p:nvSpPr>
        <p:spPr>
          <a:xfrm>
            <a:off x="7772400" y="1234440"/>
            <a:ext cx="3566160" cy="256032"/>
          </a:xfrm>
          <a:prstGeom prst="rect">
            <a:avLst/>
          </a:prstGeom>
          <a:noFill/>
          <a:ln/>
        </p:spPr>
        <p:txBody>
          <a:bodyPr wrap="square" lIns="0" tIns="0" rIns="0" bIns="0" rtlCol="0" anchor="ctr"/>
          <a:lstStyle/>
          <a:p>
            <a:pPr indent="0" marL="0">
              <a:buNone/>
            </a:pPr>
            <a:r>
              <a:rPr lang="en-US" sz="1050" b="1" spc="200" kern="0" dirty="0">
                <a:solidFill>
                  <a:srgbClr val="E8871E"/>
                </a:solidFill>
                <a:latin typeface="Calibri" pitchFamily="34" charset="0"/>
                <a:ea typeface="Calibri" pitchFamily="34" charset="-122"/>
                <a:cs typeface="Calibri" pitchFamily="34" charset="-120"/>
              </a:rPr>
              <a:t>OUR HYPOTHESIS</a:t>
            </a:r>
            <a:endParaRPr lang="en-US" sz="1050" dirty="0"/>
          </a:p>
        </p:txBody>
      </p:sp>
      <p:sp>
        <p:nvSpPr>
          <p:cNvPr id="20" name="Text 18"/>
          <p:cNvSpPr txBox="1"/>
          <p:nvPr/>
        </p:nvSpPr>
        <p:spPr>
          <a:xfrm>
            <a:off x="7772400" y="1572768"/>
            <a:ext cx="3566160" cy="9144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H / τ</a:t>
            </a:r>
            <a:endParaRPr lang="en-US" sz="6000" dirty="0"/>
          </a:p>
        </p:txBody>
      </p:sp>
      <p:sp>
        <p:nvSpPr>
          <p:cNvPr id="21" name="Text 19"/>
          <p:cNvSpPr txBox="1"/>
          <p:nvPr/>
        </p:nvSpPr>
        <p:spPr>
          <a:xfrm>
            <a:off x="7772400" y="2542032"/>
            <a:ext cx="3566160" cy="365760"/>
          </a:xfrm>
          <a:prstGeom prst="rect">
            <a:avLst/>
          </a:prstGeom>
          <a:noFill/>
          <a:ln/>
        </p:spPr>
        <p:txBody>
          <a:bodyPr wrap="square" lIns="0" tIns="0" rIns="0" bIns="0" rtlCol="0" anchor="ctr"/>
          <a:lstStyle/>
          <a:p>
            <a:pPr indent="0" marL="0">
              <a:buNone/>
            </a:pPr>
            <a:r>
              <a:rPr lang="en-US" sz="1300" dirty="0">
                <a:solidFill>
                  <a:srgbClr val="C8D2D8"/>
                </a:solidFill>
                <a:latin typeface="Calibri" pitchFamily="34" charset="0"/>
                <a:ea typeface="Calibri" pitchFamily="34" charset="-122"/>
                <a:cs typeface="Calibri" pitchFamily="34" charset="-120"/>
              </a:rPr>
              <a:t>The answer is governed by one dimensionless ratio.</a:t>
            </a:r>
            <a:endParaRPr lang="en-US" sz="1300" dirty="0"/>
          </a:p>
        </p:txBody>
      </p:sp>
      <p:sp>
        <p:nvSpPr>
          <p:cNvPr id="22" name="Text 20"/>
          <p:cNvSpPr txBox="1"/>
          <p:nvPr/>
        </p:nvSpPr>
        <p:spPr>
          <a:xfrm>
            <a:off x="7772400" y="3063240"/>
            <a:ext cx="3566160" cy="274320"/>
          </a:xfrm>
          <a:prstGeom prst="rect">
            <a:avLst/>
          </a:prstGeom>
          <a:noFill/>
          <a:ln/>
        </p:spPr>
        <p:txBody>
          <a:bodyPr wrap="square" lIns="0" tIns="0" rIns="0" bIns="0" rtlCol="0" anchor="ctr"/>
          <a:lstStyle/>
          <a:p>
            <a:pPr indent="0" marL="0">
              <a:buNone/>
            </a:pPr>
            <a:r>
              <a:rPr lang="en-US" sz="1400" b="1" dirty="0">
                <a:solidFill>
                  <a:srgbClr val="E8871E"/>
                </a:solidFill>
                <a:latin typeface="Calibri" pitchFamily="34" charset="0"/>
                <a:ea typeface="Calibri" pitchFamily="34" charset="-122"/>
                <a:cs typeface="Calibri" pitchFamily="34" charset="-120"/>
              </a:rPr>
              <a:t>H</a:t>
            </a:r>
            <a:pPr indent="0" marL="0">
              <a:buNone/>
            </a:pPr>
            <a:r>
              <a:rPr lang="en-US" sz="1400" dirty="0">
                <a:solidFill>
                  <a:srgbClr val="FFFFFF"/>
                </a:solidFill>
                <a:latin typeface="Calibri" pitchFamily="34" charset="0"/>
                <a:ea typeface="Calibri" pitchFamily="34" charset="-122"/>
                <a:cs typeface="Calibri" pitchFamily="34" charset="-120"/>
              </a:rPr>
              <a:t>   how far ahead you can see</a:t>
            </a:r>
            <a:endParaRPr lang="en-US" sz="1400" dirty="0"/>
          </a:p>
        </p:txBody>
      </p:sp>
      <p:sp>
        <p:nvSpPr>
          <p:cNvPr id="23" name="Text 21"/>
          <p:cNvSpPr txBox="1"/>
          <p:nvPr/>
        </p:nvSpPr>
        <p:spPr>
          <a:xfrm>
            <a:off x="7772400" y="3401568"/>
            <a:ext cx="3566160" cy="502920"/>
          </a:xfrm>
          <a:prstGeom prst="rect">
            <a:avLst/>
          </a:prstGeom>
          <a:noFill/>
          <a:ln/>
        </p:spPr>
        <p:txBody>
          <a:bodyPr wrap="square" lIns="0" tIns="0" rIns="0" bIns="0" rtlCol="0" anchor="ctr"/>
          <a:lstStyle/>
          <a:p>
            <a:pPr indent="0" marL="0">
              <a:buNone/>
            </a:pPr>
            <a:r>
              <a:rPr lang="en-US" sz="1400" b="1" dirty="0">
                <a:solidFill>
                  <a:srgbClr val="E8871E"/>
                </a:solidFill>
                <a:latin typeface="Calibri" pitchFamily="34" charset="0"/>
                <a:ea typeface="Calibri" pitchFamily="34" charset="-122"/>
                <a:cs typeface="Calibri" pitchFamily="34" charset="-120"/>
              </a:rPr>
              <a:t>τ</a:t>
            </a:r>
            <a:pPr indent="0" marL="0">
              <a:buNone/>
            </a:pPr>
            <a:r>
              <a:rPr lang="en-US" sz="1400" dirty="0">
                <a:solidFill>
                  <a:srgbClr val="FFFFFF"/>
                </a:solidFill>
                <a:latin typeface="Calibri" pitchFamily="34" charset="0"/>
                <a:ea typeface="Calibri" pitchFamily="34" charset="-122"/>
                <a:cs typeface="Calibri" pitchFamily="34" charset="-120"/>
              </a:rPr>
              <a:t>    how slowly the protected component responds</a:t>
            </a:r>
            <a:endParaRPr lang="en-US" sz="1400" dirty="0"/>
          </a:p>
        </p:txBody>
      </p:sp>
      <p:sp>
        <p:nvSpPr>
          <p:cNvPr id="24" name="Shape 22"/>
          <p:cNvSpPr/>
          <p:nvPr/>
        </p:nvSpPr>
        <p:spPr>
          <a:xfrm>
            <a:off x="7772400" y="4069080"/>
            <a:ext cx="3566160" cy="0"/>
          </a:xfrm>
          <a:prstGeom prst="line">
            <a:avLst/>
          </a:prstGeom>
          <a:noFill/>
          <a:ln w="12700">
            <a:solidFill>
              <a:srgbClr val="2C3841"/>
            </a:solidFill>
            <a:prstDash val="solid"/>
          </a:ln>
        </p:spPr>
      </p:sp>
      <p:sp>
        <p:nvSpPr>
          <p:cNvPr id="25" name="Text 23"/>
          <p:cNvSpPr txBox="1"/>
          <p:nvPr/>
        </p:nvSpPr>
        <p:spPr>
          <a:xfrm>
            <a:off x="7772400" y="4279392"/>
            <a:ext cx="777240" cy="274320"/>
          </a:xfrm>
          <a:prstGeom prst="rect">
            <a:avLst/>
          </a:prstGeom>
          <a:noFill/>
          <a:ln/>
        </p:spPr>
        <p:txBody>
          <a:bodyPr wrap="square" lIns="0" tIns="0" rIns="0" bIns="0" rtlCol="0" anchor="ctr"/>
          <a:lstStyle/>
          <a:p>
            <a:pPr indent="0" marL="0">
              <a:buNone/>
            </a:pPr>
            <a:r>
              <a:rPr lang="en-US" sz="1300" b="1" dirty="0">
                <a:solidFill>
                  <a:srgbClr val="8FA0AA"/>
                </a:solidFill>
                <a:latin typeface="Calibri" pitchFamily="34" charset="0"/>
                <a:ea typeface="Calibri" pitchFamily="34" charset="-122"/>
                <a:cs typeface="Calibri" pitchFamily="34" charset="-120"/>
              </a:rPr>
              <a:t>τ ≫ H</a:t>
            </a:r>
            <a:endParaRPr lang="en-US" sz="1300" dirty="0"/>
          </a:p>
        </p:txBody>
      </p:sp>
      <p:sp>
        <p:nvSpPr>
          <p:cNvPr id="26" name="Text 24"/>
          <p:cNvSpPr txBox="1"/>
          <p:nvPr/>
        </p:nvSpPr>
        <p:spPr>
          <a:xfrm>
            <a:off x="8595360" y="4261104"/>
            <a:ext cx="2743200" cy="566928"/>
          </a:xfrm>
          <a:prstGeom prst="rect">
            <a:avLst/>
          </a:prstGeom>
          <a:noFill/>
          <a:ln/>
        </p:spPr>
        <p:txBody>
          <a:bodyPr wrap="square" lIns="0" tIns="0" rIns="0" bIns="0" rtlCol="0" anchor="t"/>
          <a:lstStyle/>
          <a:p>
            <a:pPr indent="0" marL="0">
              <a:lnSpc>
                <a:spcPts val="1400"/>
              </a:lnSpc>
              <a:buNone/>
            </a:pPr>
            <a:r>
              <a:rPr lang="en-US" sz="1150" dirty="0">
                <a:solidFill>
                  <a:srgbClr val="9AA7AE"/>
                </a:solidFill>
                <a:latin typeface="Calibri" pitchFamily="34" charset="0"/>
                <a:ea typeface="Calibri" pitchFamily="34" charset="-122"/>
                <a:cs typeface="Calibri" pitchFamily="34" charset="-120"/>
              </a:rPr>
              <a:t>You see 30 s into a problem that takes 10 minutes to build. Preview buys nothing.</a:t>
            </a:r>
            <a:endParaRPr lang="en-US" sz="1150" dirty="0"/>
          </a:p>
        </p:txBody>
      </p:sp>
      <p:sp>
        <p:nvSpPr>
          <p:cNvPr id="27" name="Text 25"/>
          <p:cNvSpPr txBox="1"/>
          <p:nvPr/>
        </p:nvSpPr>
        <p:spPr>
          <a:xfrm>
            <a:off x="7772400" y="4882896"/>
            <a:ext cx="777240" cy="274320"/>
          </a:xfrm>
          <a:prstGeom prst="rect">
            <a:avLst/>
          </a:prstGeom>
          <a:noFill/>
          <a:ln/>
        </p:spPr>
        <p:txBody>
          <a:bodyPr wrap="square" lIns="0" tIns="0" rIns="0" bIns="0" rtlCol="0" anchor="ctr"/>
          <a:lstStyle/>
          <a:p>
            <a:pPr indent="0" marL="0">
              <a:buNone/>
            </a:pPr>
            <a:r>
              <a:rPr lang="en-US" sz="1300" b="1" dirty="0">
                <a:solidFill>
                  <a:srgbClr val="8FA0AA"/>
                </a:solidFill>
                <a:latin typeface="Calibri" pitchFamily="34" charset="0"/>
                <a:ea typeface="Calibri" pitchFamily="34" charset="-122"/>
                <a:cs typeface="Calibri" pitchFamily="34" charset="-120"/>
              </a:rPr>
              <a:t>τ ≪ H</a:t>
            </a:r>
            <a:endParaRPr lang="en-US" sz="1300" dirty="0"/>
          </a:p>
        </p:txBody>
      </p:sp>
      <p:sp>
        <p:nvSpPr>
          <p:cNvPr id="28" name="Text 26"/>
          <p:cNvSpPr txBox="1"/>
          <p:nvPr/>
        </p:nvSpPr>
        <p:spPr>
          <a:xfrm>
            <a:off x="8595360" y="4864608"/>
            <a:ext cx="2743200" cy="566928"/>
          </a:xfrm>
          <a:prstGeom prst="rect">
            <a:avLst/>
          </a:prstGeom>
          <a:noFill/>
          <a:ln/>
        </p:spPr>
        <p:txBody>
          <a:bodyPr wrap="square" lIns="0" tIns="0" rIns="0" bIns="0" rtlCol="0" anchor="t"/>
          <a:lstStyle/>
          <a:p>
            <a:pPr indent="0" marL="0">
              <a:lnSpc>
                <a:spcPts val="1400"/>
              </a:lnSpc>
              <a:buNone/>
            </a:pPr>
            <a:r>
              <a:rPr lang="en-US" sz="1150" dirty="0">
                <a:solidFill>
                  <a:srgbClr val="9AA7AE"/>
                </a:solidFill>
                <a:latin typeface="Calibri" pitchFamily="34" charset="0"/>
                <a:ea typeface="Calibri" pitchFamily="34" charset="-122"/>
                <a:cs typeface="Calibri" pitchFamily="34" charset="-120"/>
              </a:rPr>
              <a:t>The system reacts faster than you can anticipate. Preview is redundant.</a:t>
            </a:r>
            <a:endParaRPr lang="en-US" sz="1150" dirty="0"/>
          </a:p>
        </p:txBody>
      </p:sp>
      <p:sp>
        <p:nvSpPr>
          <p:cNvPr id="29" name="Text 27"/>
          <p:cNvSpPr txBox="1"/>
          <p:nvPr/>
        </p:nvSpPr>
        <p:spPr>
          <a:xfrm>
            <a:off x="7772400" y="5486400"/>
            <a:ext cx="777240" cy="274320"/>
          </a:xfrm>
          <a:prstGeom prst="rect">
            <a:avLst/>
          </a:prstGeom>
          <a:noFill/>
          <a:ln/>
        </p:spPr>
        <p:txBody>
          <a:bodyPr wrap="square" lIns="0" tIns="0" rIns="0" bIns="0" rtlCol="0" anchor="ctr"/>
          <a:lstStyle/>
          <a:p>
            <a:pPr indent="0" marL="0">
              <a:buNone/>
            </a:pPr>
            <a:r>
              <a:rPr lang="en-US" sz="1300" b="1" dirty="0">
                <a:solidFill>
                  <a:srgbClr val="E8871E"/>
                </a:solidFill>
                <a:latin typeface="Calibri" pitchFamily="34" charset="0"/>
                <a:ea typeface="Calibri" pitchFamily="34" charset="-122"/>
                <a:cs typeface="Calibri" pitchFamily="34" charset="-120"/>
              </a:rPr>
              <a:t>τ ≈ H</a:t>
            </a:r>
            <a:endParaRPr lang="en-US" sz="1300" dirty="0"/>
          </a:p>
        </p:txBody>
      </p:sp>
      <p:sp>
        <p:nvSpPr>
          <p:cNvPr id="30" name="Text 28"/>
          <p:cNvSpPr txBox="1"/>
          <p:nvPr/>
        </p:nvSpPr>
        <p:spPr>
          <a:xfrm>
            <a:off x="8595360" y="5468112"/>
            <a:ext cx="2743200" cy="566928"/>
          </a:xfrm>
          <a:prstGeom prst="rect">
            <a:avLst/>
          </a:prstGeom>
          <a:noFill/>
          <a:ln/>
        </p:spPr>
        <p:txBody>
          <a:bodyPr wrap="square" lIns="0" tIns="0" rIns="0" bIns="0" rtlCol="0" anchor="t"/>
          <a:lstStyle/>
          <a:p>
            <a:pPr indent="0" marL="0">
              <a:lnSpc>
                <a:spcPts val="1400"/>
              </a:lnSpc>
              <a:buNone/>
            </a:pPr>
            <a:r>
              <a:rPr lang="en-US" sz="1150" dirty="0">
                <a:solidFill>
                  <a:srgbClr val="FFFFFF"/>
                </a:solidFill>
                <a:latin typeface="Calibri" pitchFamily="34" charset="0"/>
                <a:ea typeface="Calibri" pitchFamily="34" charset="-122"/>
                <a:cs typeface="Calibri" pitchFamily="34" charset="-120"/>
              </a:rPr>
              <a:t>The useful region — and it is unmapped.</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ctr"/>
          <a:lstStyle/>
          <a:p>
            <a:pPr indent="0" marL="0">
              <a:buNone/>
            </a:pPr>
            <a:r>
              <a:rPr lang="en-US" sz="1100" b="1" spc="240" kern="0" dirty="0">
                <a:solidFill>
                  <a:srgbClr val="2E7D8F"/>
                </a:solidFill>
                <a:latin typeface="Calibri" pitchFamily="34" charset="0"/>
                <a:ea typeface="Calibri" pitchFamily="34" charset="-122"/>
                <a:cs typeface="Calibri" pitchFamily="34" charset="-120"/>
              </a:rPr>
              <a:t>02  ·  PROPOSED SOLUTION</a:t>
            </a:r>
            <a:endParaRPr lang="en-US" sz="1100" dirty="0"/>
          </a:p>
        </p:txBody>
      </p:sp>
      <p:sp>
        <p:nvSpPr>
          <p:cNvPr id="3" name="Text 1"/>
          <p:cNvSpPr txBox="1"/>
          <p:nvPr/>
        </p:nvSpPr>
        <p:spPr>
          <a:xfrm>
            <a:off x="548640" y="731520"/>
            <a:ext cx="7589520" cy="914400"/>
          </a:xfrm>
          <a:prstGeom prst="rect">
            <a:avLst/>
          </a:prstGeom>
          <a:noFill/>
          <a:ln/>
        </p:spPr>
        <p:txBody>
          <a:bodyPr wrap="square" lIns="0" tIns="0" rIns="0" bIns="0" rtlCol="0" anchor="ctr"/>
          <a:lstStyle/>
          <a:p>
            <a:pPr indent="0" marL="0">
              <a:lnSpc>
                <a:spcPts val="3400"/>
              </a:lnSpc>
              <a:buNone/>
            </a:pPr>
            <a:r>
              <a:rPr lang="en-US" sz="2800" b="1" dirty="0">
                <a:solidFill>
                  <a:srgbClr val="1B2127"/>
                </a:solidFill>
                <a:latin typeface="Cambria" pitchFamily="34" charset="0"/>
                <a:ea typeface="Cambria" pitchFamily="34" charset="-122"/>
                <a:cs typeface="Cambria" pitchFamily="34" charset="-120"/>
              </a:rPr>
              <a:t>Measure the value of preview across two</a:t>
            </a:r>
            <a:endParaRPr lang="en-US" sz="2800" dirty="0"/>
          </a:p>
          <a:p>
            <a:pPr indent="0" marL="0">
              <a:lnSpc>
                <a:spcPts val="3400"/>
              </a:lnSpc>
              <a:buNone/>
            </a:pPr>
            <a:r>
              <a:rPr lang="en-US" sz="2800" b="1" dirty="0">
                <a:solidFill>
                  <a:srgbClr val="1B2127"/>
                </a:solidFill>
                <a:latin typeface="Cambria" pitchFamily="34" charset="0"/>
                <a:ea typeface="Cambria" pitchFamily="34" charset="-122"/>
                <a:cs typeface="Cambria" pitchFamily="34" charset="-120"/>
              </a:rPr>
              <a:t>physically unrelated systems</a:t>
            </a:r>
            <a:endParaRPr lang="en-US" sz="2800" dirty="0"/>
          </a:p>
        </p:txBody>
      </p:sp>
      <p:sp>
        <p:nvSpPr>
          <p:cNvPr id="4" name="Text 2"/>
          <p:cNvSpPr txBox="1"/>
          <p:nvPr/>
        </p:nvSpPr>
        <p:spPr>
          <a:xfrm>
            <a:off x="548640" y="1783080"/>
            <a:ext cx="5943600" cy="731520"/>
          </a:xfrm>
          <a:prstGeom prst="rect">
            <a:avLst/>
          </a:prstGeom>
          <a:noFill/>
          <a:ln/>
        </p:spPr>
        <p:txBody>
          <a:bodyPr wrap="square" lIns="0" tIns="0" rIns="0" bIns="0" rtlCol="0" anchor="ctr"/>
          <a:lstStyle/>
          <a:p>
            <a:pPr indent="0" marL="0">
              <a:lnSpc>
                <a:spcPts val="2000"/>
              </a:lnSpc>
              <a:buNone/>
            </a:pPr>
            <a:r>
              <a:rPr lang="en-US" sz="1400" dirty="0">
                <a:solidFill>
                  <a:srgbClr val="5E6C75"/>
                </a:solidFill>
                <a:latin typeface="Calibri" pitchFamily="34" charset="0"/>
                <a:ea typeface="Calibri" pitchFamily="34" charset="-122"/>
                <a:cs typeface="Calibri" pitchFamily="34" charset="-120"/>
              </a:rPr>
              <a:t>We do not propose a better controller. We propose a criterion — and the way to test one is to sweep the ratio it depends on and see whether the measurements collapse onto a single curve.</a:t>
            </a:r>
            <a:endParaRPr lang="en-US" sz="1400" dirty="0"/>
          </a:p>
        </p:txBody>
      </p:sp>
      <p:sp>
        <p:nvSpPr>
          <p:cNvPr id="5" name="Shape 3"/>
          <p:cNvSpPr/>
          <p:nvPr/>
        </p:nvSpPr>
        <p:spPr>
          <a:xfrm>
            <a:off x="566928" y="2670048"/>
            <a:ext cx="310896" cy="310896"/>
          </a:xfrm>
          <a:prstGeom prst="ellipse">
            <a:avLst/>
          </a:prstGeom>
          <a:solidFill>
            <a:srgbClr val="E4EFF2"/>
          </a:solidFill>
          <a:ln/>
        </p:spPr>
      </p:sp>
      <p:sp>
        <p:nvSpPr>
          <p:cNvPr id="6" name="Text 4"/>
          <p:cNvSpPr txBox="1"/>
          <p:nvPr/>
        </p:nvSpPr>
        <p:spPr>
          <a:xfrm>
            <a:off x="566928" y="2670048"/>
            <a:ext cx="310896" cy="310896"/>
          </a:xfrm>
          <a:prstGeom prst="rect">
            <a:avLst/>
          </a:prstGeom>
          <a:noFill/>
          <a:ln/>
        </p:spPr>
        <p:txBody>
          <a:bodyPr wrap="square" lIns="0" tIns="0" rIns="0" bIns="0" rtlCol="0" anchor="ctr"/>
          <a:lstStyle/>
          <a:p>
            <a:pPr algn="ctr" indent="0" marL="0">
              <a:buNone/>
            </a:pPr>
            <a:r>
              <a:rPr lang="en-US" sz="1300" b="1" dirty="0">
                <a:solidFill>
                  <a:srgbClr val="2E7D8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024128" y="2651760"/>
            <a:ext cx="4937760" cy="274320"/>
          </a:xfrm>
          <a:prstGeom prst="rect">
            <a:avLst/>
          </a:prstGeom>
          <a:noFill/>
          <a:ln/>
        </p:spPr>
        <p:txBody>
          <a:bodyPr wrap="square" lIns="0" tIns="0" rIns="0" bIns="0" rtlCol="0" anchor="ctr"/>
          <a:lstStyle/>
          <a:p>
            <a:pPr indent="0" marL="0">
              <a:buNone/>
            </a:pPr>
            <a:r>
              <a:rPr lang="en-US" sz="1500" b="1" dirty="0">
                <a:solidFill>
                  <a:srgbClr val="1B2127"/>
                </a:solidFill>
                <a:latin typeface="Calibri" pitchFamily="34" charset="0"/>
                <a:ea typeface="Calibri" pitchFamily="34" charset="-122"/>
                <a:cs typeface="Calibri" pitchFamily="34" charset="-120"/>
              </a:rPr>
              <a:t>Validated plant</a:t>
            </a:r>
            <a:endParaRPr lang="en-US" sz="1500" dirty="0"/>
          </a:p>
        </p:txBody>
      </p:sp>
      <p:sp>
        <p:nvSpPr>
          <p:cNvPr id="8" name="Text 6"/>
          <p:cNvSpPr txBox="1"/>
          <p:nvPr/>
        </p:nvSpPr>
        <p:spPr>
          <a:xfrm>
            <a:off x="1024128" y="2926080"/>
            <a:ext cx="4937760" cy="548640"/>
          </a:xfrm>
          <a:prstGeom prst="rect">
            <a:avLst/>
          </a:prstGeom>
          <a:noFill/>
          <a:ln/>
        </p:spPr>
        <p:txBody>
          <a:bodyPr wrap="square" lIns="0" tIns="0" rIns="0" bIns="0" rtlCol="0" anchor="ctr"/>
          <a:lstStyle/>
          <a:p>
            <a:pPr indent="0" marL="0">
              <a:lnSpc>
                <a:spcPts val="1600"/>
              </a:lnSpc>
              <a:buNone/>
            </a:pPr>
            <a:r>
              <a:rPr lang="en-US" sz="1250" dirty="0">
                <a:solidFill>
                  <a:srgbClr val="5E6C75"/>
                </a:solidFill>
                <a:latin typeface="Calibri" pitchFamily="34" charset="0"/>
                <a:ea typeface="Calibri" pitchFamily="34" charset="-122"/>
                <a:cs typeface="Calibri" pitchFamily="34" charset="-120"/>
              </a:rPr>
              <a:t>A 0-D inline-six cycle model, 8 of 11 published quantities inside band, and a boosted manifold pressure now within 3% of the car's own sensor.</a:t>
            </a:r>
            <a:endParaRPr lang="en-US" sz="1250" dirty="0"/>
          </a:p>
        </p:txBody>
      </p:sp>
      <p:sp>
        <p:nvSpPr>
          <p:cNvPr id="9" name="Shape 7"/>
          <p:cNvSpPr/>
          <p:nvPr/>
        </p:nvSpPr>
        <p:spPr>
          <a:xfrm>
            <a:off x="566928" y="3566160"/>
            <a:ext cx="310896" cy="310896"/>
          </a:xfrm>
          <a:prstGeom prst="ellipse">
            <a:avLst/>
          </a:prstGeom>
          <a:solidFill>
            <a:srgbClr val="E4EFF2"/>
          </a:solidFill>
          <a:ln/>
        </p:spPr>
      </p:sp>
      <p:sp>
        <p:nvSpPr>
          <p:cNvPr id="10" name="Text 8"/>
          <p:cNvSpPr txBox="1"/>
          <p:nvPr/>
        </p:nvSpPr>
        <p:spPr>
          <a:xfrm>
            <a:off x="566928" y="3566160"/>
            <a:ext cx="310896" cy="310896"/>
          </a:xfrm>
          <a:prstGeom prst="rect">
            <a:avLst/>
          </a:prstGeom>
          <a:noFill/>
          <a:ln/>
        </p:spPr>
        <p:txBody>
          <a:bodyPr wrap="square" lIns="0" tIns="0" rIns="0" bIns="0" rtlCol="0" anchor="ctr"/>
          <a:lstStyle/>
          <a:p>
            <a:pPr algn="ctr" indent="0" marL="0">
              <a:buNone/>
            </a:pPr>
            <a:r>
              <a:rPr lang="en-US" sz="1300" b="1" dirty="0">
                <a:solidFill>
                  <a:srgbClr val="2E7D8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024128" y="3547872"/>
            <a:ext cx="4937760" cy="274320"/>
          </a:xfrm>
          <a:prstGeom prst="rect">
            <a:avLst/>
          </a:prstGeom>
          <a:noFill/>
          <a:ln/>
        </p:spPr>
        <p:txBody>
          <a:bodyPr wrap="square" lIns="0" tIns="0" rIns="0" bIns="0" rtlCol="0" anchor="ctr"/>
          <a:lstStyle/>
          <a:p>
            <a:pPr indent="0" marL="0">
              <a:buNone/>
            </a:pPr>
            <a:r>
              <a:rPr lang="en-US" sz="1500" b="1" dirty="0">
                <a:solidFill>
                  <a:srgbClr val="1B2127"/>
                </a:solidFill>
                <a:latin typeface="Calibri" pitchFamily="34" charset="0"/>
                <a:ea typeface="Calibri" pitchFamily="34" charset="-122"/>
                <a:cs typeface="Calibri" pitchFamily="34" charset="-120"/>
              </a:rPr>
              <a:t>Constrained RL agent</a:t>
            </a:r>
            <a:endParaRPr lang="en-US" sz="1500" dirty="0"/>
          </a:p>
        </p:txBody>
      </p:sp>
      <p:sp>
        <p:nvSpPr>
          <p:cNvPr id="12" name="Text 10"/>
          <p:cNvSpPr txBox="1"/>
          <p:nvPr/>
        </p:nvSpPr>
        <p:spPr>
          <a:xfrm>
            <a:off x="1024128" y="3822192"/>
            <a:ext cx="4937760" cy="548640"/>
          </a:xfrm>
          <a:prstGeom prst="rect">
            <a:avLst/>
          </a:prstGeom>
          <a:noFill/>
          <a:ln/>
        </p:spPr>
        <p:txBody>
          <a:bodyPr wrap="square" lIns="0" tIns="0" rIns="0" bIns="0" rtlCol="0" anchor="ctr"/>
          <a:lstStyle/>
          <a:p>
            <a:pPr indent="0" marL="0">
              <a:lnSpc>
                <a:spcPts val="1600"/>
              </a:lnSpc>
              <a:buNone/>
            </a:pPr>
            <a:r>
              <a:rPr lang="en-US" sz="1250" dirty="0">
                <a:solidFill>
                  <a:srgbClr val="5E6C75"/>
                </a:solidFill>
                <a:latin typeface="Calibri" pitchFamily="34" charset="0"/>
                <a:ea typeface="Calibri" pitchFamily="34" charset="-122"/>
                <a:cs typeface="Calibri" pitchFamily="34" charset="-120"/>
              </a:rPr>
              <a:t>Measured against three baselines — stock, a reactive rule, and the same agent with preview switched off.</a:t>
            </a:r>
            <a:endParaRPr lang="en-US" sz="1250" dirty="0"/>
          </a:p>
        </p:txBody>
      </p:sp>
      <p:sp>
        <p:nvSpPr>
          <p:cNvPr id="13" name="Shape 11"/>
          <p:cNvSpPr/>
          <p:nvPr/>
        </p:nvSpPr>
        <p:spPr>
          <a:xfrm>
            <a:off x="566928" y="4462272"/>
            <a:ext cx="310896" cy="310896"/>
          </a:xfrm>
          <a:prstGeom prst="ellipse">
            <a:avLst/>
          </a:prstGeom>
          <a:solidFill>
            <a:srgbClr val="E4EFF2"/>
          </a:solidFill>
          <a:ln/>
        </p:spPr>
      </p:sp>
      <p:sp>
        <p:nvSpPr>
          <p:cNvPr id="14" name="Text 12"/>
          <p:cNvSpPr txBox="1"/>
          <p:nvPr/>
        </p:nvSpPr>
        <p:spPr>
          <a:xfrm>
            <a:off x="566928" y="4462272"/>
            <a:ext cx="310896" cy="310896"/>
          </a:xfrm>
          <a:prstGeom prst="rect">
            <a:avLst/>
          </a:prstGeom>
          <a:noFill/>
          <a:ln/>
        </p:spPr>
        <p:txBody>
          <a:bodyPr wrap="square" lIns="0" tIns="0" rIns="0" bIns="0" rtlCol="0" anchor="ctr"/>
          <a:lstStyle/>
          <a:p>
            <a:pPr algn="ctr" indent="0" marL="0">
              <a:buNone/>
            </a:pPr>
            <a:r>
              <a:rPr lang="en-US" sz="1300" b="1" dirty="0">
                <a:solidFill>
                  <a:srgbClr val="2E7D8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024128" y="4443984"/>
            <a:ext cx="4937760" cy="274320"/>
          </a:xfrm>
          <a:prstGeom prst="rect">
            <a:avLst/>
          </a:prstGeom>
          <a:noFill/>
          <a:ln/>
        </p:spPr>
        <p:txBody>
          <a:bodyPr wrap="square" lIns="0" tIns="0" rIns="0" bIns="0" rtlCol="0" anchor="ctr"/>
          <a:lstStyle/>
          <a:p>
            <a:pPr indent="0" marL="0">
              <a:buNone/>
            </a:pPr>
            <a:r>
              <a:rPr lang="en-US" sz="1500" b="1" dirty="0">
                <a:solidFill>
                  <a:srgbClr val="1B2127"/>
                </a:solidFill>
                <a:latin typeface="Calibri" pitchFamily="34" charset="0"/>
                <a:ea typeface="Calibri" pitchFamily="34" charset="-122"/>
                <a:cs typeface="Calibri" pitchFamily="34" charset="-120"/>
              </a:rPr>
              <a:t>Second plant</a:t>
            </a:r>
            <a:endParaRPr lang="en-US" sz="1500" dirty="0"/>
          </a:p>
        </p:txBody>
      </p:sp>
      <p:sp>
        <p:nvSpPr>
          <p:cNvPr id="16" name="Text 14"/>
          <p:cNvSpPr txBox="1"/>
          <p:nvPr/>
        </p:nvSpPr>
        <p:spPr>
          <a:xfrm>
            <a:off x="1024128" y="4718304"/>
            <a:ext cx="4937760" cy="548640"/>
          </a:xfrm>
          <a:prstGeom prst="rect">
            <a:avLst/>
          </a:prstGeom>
          <a:noFill/>
          <a:ln/>
        </p:spPr>
        <p:txBody>
          <a:bodyPr wrap="square" lIns="0" tIns="0" rIns="0" bIns="0" rtlCol="0" anchor="ctr"/>
          <a:lstStyle/>
          <a:p>
            <a:pPr indent="0" marL="0">
              <a:lnSpc>
                <a:spcPts val="1600"/>
              </a:lnSpc>
              <a:buNone/>
            </a:pPr>
            <a:r>
              <a:rPr lang="en-US" sz="1250" dirty="0">
                <a:solidFill>
                  <a:srgbClr val="5E6C75"/>
                </a:solidFill>
                <a:latin typeface="Calibri" pitchFamily="34" charset="0"/>
                <a:ea typeface="Calibri" pitchFamily="34" charset="-122"/>
                <a:cs typeface="Calibri" pitchFamily="34" charset="-120"/>
              </a:rPr>
              <a:t>An EV battery pack, driven by the identical agent code, reaching H/τ two orders of magnitude away.</a:t>
            </a:r>
            <a:endParaRPr lang="en-US" sz="1250" dirty="0"/>
          </a:p>
        </p:txBody>
      </p:sp>
      <p:sp>
        <p:nvSpPr>
          <p:cNvPr id="17" name="Shape 15"/>
          <p:cNvSpPr/>
          <p:nvPr/>
        </p:nvSpPr>
        <p:spPr>
          <a:xfrm>
            <a:off x="566928" y="5358384"/>
            <a:ext cx="310896" cy="310896"/>
          </a:xfrm>
          <a:prstGeom prst="ellipse">
            <a:avLst/>
          </a:prstGeom>
          <a:solidFill>
            <a:srgbClr val="E4EFF2"/>
          </a:solidFill>
          <a:ln/>
        </p:spPr>
      </p:sp>
      <p:sp>
        <p:nvSpPr>
          <p:cNvPr id="18" name="Text 16"/>
          <p:cNvSpPr txBox="1"/>
          <p:nvPr/>
        </p:nvSpPr>
        <p:spPr>
          <a:xfrm>
            <a:off x="566928" y="5358384"/>
            <a:ext cx="310896" cy="310896"/>
          </a:xfrm>
          <a:prstGeom prst="rect">
            <a:avLst/>
          </a:prstGeom>
          <a:noFill/>
          <a:ln/>
        </p:spPr>
        <p:txBody>
          <a:bodyPr wrap="square" lIns="0" tIns="0" rIns="0" bIns="0" rtlCol="0" anchor="ctr"/>
          <a:lstStyle/>
          <a:p>
            <a:pPr algn="ctr" indent="0" marL="0">
              <a:buNone/>
            </a:pPr>
            <a:r>
              <a:rPr lang="en-US" sz="1300" b="1" dirty="0">
                <a:solidFill>
                  <a:srgbClr val="2E7D8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024128" y="5340096"/>
            <a:ext cx="4937760" cy="274320"/>
          </a:xfrm>
          <a:prstGeom prst="rect">
            <a:avLst/>
          </a:prstGeom>
          <a:noFill/>
          <a:ln/>
        </p:spPr>
        <p:txBody>
          <a:bodyPr wrap="square" lIns="0" tIns="0" rIns="0" bIns="0" rtlCol="0" anchor="ctr"/>
          <a:lstStyle/>
          <a:p>
            <a:pPr indent="0" marL="0">
              <a:buNone/>
            </a:pPr>
            <a:r>
              <a:rPr lang="en-US" sz="1500" b="1" dirty="0">
                <a:solidFill>
                  <a:srgbClr val="1B2127"/>
                </a:solidFill>
                <a:latin typeface="Calibri" pitchFamily="34" charset="0"/>
                <a:ea typeface="Calibri" pitchFamily="34" charset="-122"/>
                <a:cs typeface="Calibri" pitchFamily="34" charset="-120"/>
              </a:rPr>
              <a:t>The sweep</a:t>
            </a:r>
            <a:endParaRPr lang="en-US" sz="1500" dirty="0"/>
          </a:p>
        </p:txBody>
      </p:sp>
      <p:sp>
        <p:nvSpPr>
          <p:cNvPr id="20" name="Text 18"/>
          <p:cNvSpPr txBox="1"/>
          <p:nvPr/>
        </p:nvSpPr>
        <p:spPr>
          <a:xfrm>
            <a:off x="1024128" y="5614416"/>
            <a:ext cx="4937760" cy="548640"/>
          </a:xfrm>
          <a:prstGeom prst="rect">
            <a:avLst/>
          </a:prstGeom>
          <a:noFill/>
          <a:ln/>
        </p:spPr>
        <p:txBody>
          <a:bodyPr wrap="square" lIns="0" tIns="0" rIns="0" bIns="0" rtlCol="0" anchor="ctr"/>
          <a:lstStyle/>
          <a:p>
            <a:pPr indent="0" marL="0">
              <a:lnSpc>
                <a:spcPts val="1600"/>
              </a:lnSpc>
              <a:buNone/>
            </a:pPr>
            <a:r>
              <a:rPr lang="en-US" sz="1250" dirty="0">
                <a:solidFill>
                  <a:srgbClr val="5E6C75"/>
                </a:solidFill>
                <a:latin typeface="Calibri" pitchFamily="34" charset="0"/>
                <a:ea typeface="Calibri" pitchFamily="34" charset="-122"/>
                <a:cs typeface="Calibri" pitchFamily="34" charset="-120"/>
              </a:rPr>
              <a:t>Vary horizon H and time constant τ; plot the value of preview against their ratio.</a:t>
            </a:r>
            <a:endParaRPr lang="en-US" sz="1250" dirty="0"/>
          </a:p>
        </p:txBody>
      </p:sp>
      <p:sp>
        <p:nvSpPr>
          <p:cNvPr id="21" name="Shape 19"/>
          <p:cNvSpPr/>
          <p:nvPr/>
        </p:nvSpPr>
        <p:spPr>
          <a:xfrm>
            <a:off x="6720840" y="1783080"/>
            <a:ext cx="4892040" cy="3794760"/>
          </a:xfrm>
          <a:prstGeom prst="roundRect">
            <a:avLst>
              <a:gd name="adj" fmla="val 2410"/>
            </a:avLst>
          </a:prstGeom>
          <a:solidFill>
            <a:srgbClr val="FAFBFC"/>
          </a:solidFill>
          <a:ln w="12700">
            <a:solidFill>
              <a:srgbClr val="DDE3E6"/>
            </a:solidFill>
            <a:prstDash val="solid"/>
          </a:ln>
        </p:spPr>
      </p:sp>
      <p:sp>
        <p:nvSpPr>
          <p:cNvPr id="22" name="Text 20"/>
          <p:cNvSpPr txBox="1"/>
          <p:nvPr/>
        </p:nvSpPr>
        <p:spPr>
          <a:xfrm>
            <a:off x="6995160" y="1965960"/>
            <a:ext cx="4389120" cy="237744"/>
          </a:xfrm>
          <a:prstGeom prst="rect">
            <a:avLst/>
          </a:prstGeom>
          <a:noFill/>
          <a:ln/>
        </p:spPr>
        <p:txBody>
          <a:bodyPr wrap="square" lIns="0" tIns="0" rIns="0" bIns="0" rtlCol="0" anchor="ctr"/>
          <a:lstStyle/>
          <a:p>
            <a:pPr indent="0" marL="0">
              <a:buNone/>
            </a:pPr>
            <a:r>
              <a:rPr lang="en-US" sz="1000" b="1" spc="200" kern="0" dirty="0">
                <a:solidFill>
                  <a:srgbClr val="2E7D8F"/>
                </a:solidFill>
                <a:latin typeface="Calibri" pitchFamily="34" charset="0"/>
                <a:ea typeface="Calibri" pitchFamily="34" charset="-122"/>
                <a:cs typeface="Calibri" pitchFamily="34" charset="-120"/>
              </a:rPr>
              <a:t>PRELIMINARY EVIDENCE</a:t>
            </a:r>
            <a:endParaRPr lang="en-US" sz="1000" dirty="0"/>
          </a:p>
        </p:txBody>
      </p:sp>
      <p:graphicFrame>
        <p:nvGraphicFramePr>
          <p:cNvPr id="23" name="Chart 0" descr=""/>
          <p:cNvGraphicFramePr/>
          <p:nvPr/>
        </p:nvGraphicFramePr>
        <p:xfrm>
          <a:off x="6903720" y="2267712"/>
          <a:ext cx="4526280" cy="2377440"/>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6995160" y="4773168"/>
            <a:ext cx="4343400" cy="685800"/>
          </a:xfrm>
          <a:prstGeom prst="rect">
            <a:avLst/>
          </a:prstGeom>
          <a:noFill/>
          <a:ln/>
        </p:spPr>
        <p:txBody>
          <a:bodyPr wrap="square" lIns="0" tIns="0" rIns="0" bIns="0" rtlCol="0" anchor="ctr"/>
          <a:lstStyle/>
          <a:p>
            <a:pPr indent="0" marL="0">
              <a:lnSpc>
                <a:spcPts val="1500"/>
              </a:lnSpc>
              <a:buNone/>
            </a:pPr>
            <a:r>
              <a:rPr lang="en-US" sz="1150" dirty="0">
                <a:solidFill>
                  <a:srgbClr val="5E6C75"/>
                </a:solidFill>
                <a:latin typeface="Calibri" pitchFamily="34" charset="0"/>
                <a:ea typeface="Calibri" pitchFamily="34" charset="-122"/>
                <a:cs typeface="Calibri" pitchFamily="34" charset="-120"/>
              </a:rPr>
              <a:t>Holding the preview horizon fixed at 30 s and changing only the turbine's thermal mass moved the value of preview from 16.5 to 26.0 points. Same policies, same actuators — one ratio.</a:t>
            </a:r>
            <a:endParaRPr lang="en-US" sz="1150" dirty="0"/>
          </a:p>
        </p:txBody>
      </p:sp>
      <p:sp>
        <p:nvSpPr>
          <p:cNvPr id="25" name="Text 22"/>
          <p:cNvSpPr txBox="1"/>
          <p:nvPr/>
        </p:nvSpPr>
        <p:spPr>
          <a:xfrm>
            <a:off x="548640" y="6309360"/>
            <a:ext cx="11064240" cy="274320"/>
          </a:xfrm>
          <a:prstGeom prst="rect">
            <a:avLst/>
          </a:prstGeom>
          <a:noFill/>
          <a:ln/>
        </p:spPr>
        <p:txBody>
          <a:bodyPr wrap="square" lIns="0" tIns="0" rIns="0" bIns="0" rtlCol="0" anchor="ctr"/>
          <a:lstStyle/>
          <a:p>
            <a:pPr indent="0" marL="0">
              <a:buNone/>
            </a:pPr>
            <a:r>
              <a:rPr lang="en-US" sz="1100" i="1" dirty="0">
                <a:solidFill>
                  <a:srgbClr val="9AA7AE"/>
                </a:solidFill>
                <a:latin typeface="Calibri" pitchFamily="34" charset="0"/>
                <a:ea typeface="Calibri" pitchFamily="34" charset="-122"/>
                <a:cs typeface="Calibri" pitchFamily="34" charset="-120"/>
              </a:rPr>
              <a:t>Read-only OBD-II logging throughout. The project never writes to the engine control unit.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ctr"/>
          <a:lstStyle/>
          <a:p>
            <a:pPr indent="0" marL="0">
              <a:buNone/>
            </a:pPr>
            <a:r>
              <a:rPr lang="en-US" sz="1100" b="1" spc="240" kern="0" dirty="0">
                <a:solidFill>
                  <a:srgbClr val="E8871E"/>
                </a:solidFill>
                <a:latin typeface="Calibri" pitchFamily="34" charset="0"/>
                <a:ea typeface="Calibri" pitchFamily="34" charset="-122"/>
                <a:cs typeface="Calibri" pitchFamily="34" charset="-120"/>
              </a:rPr>
              <a:t>03  ·  DATA SETS  —  RECORDED REAL-WORLD DATA</a:t>
            </a:r>
            <a:endParaRPr lang="en-US" sz="1100" dirty="0"/>
          </a:p>
        </p:txBody>
      </p:sp>
      <p:sp>
        <p:nvSpPr>
          <p:cNvPr id="3" name="Text 1"/>
          <p:cNvSpPr txBox="1"/>
          <p:nvPr/>
        </p:nvSpPr>
        <p:spPr>
          <a:xfrm>
            <a:off x="548640" y="731520"/>
            <a:ext cx="10515600" cy="502920"/>
          </a:xfrm>
          <a:prstGeom prst="rect">
            <a:avLst/>
          </a:prstGeom>
          <a:noFill/>
          <a:ln/>
        </p:spPr>
        <p:txBody>
          <a:bodyPr wrap="square" lIns="0" tIns="0" rIns="0" bIns="0" rtlCol="0" anchor="ctr"/>
          <a:lstStyle/>
          <a:p>
            <a:pPr indent="0" marL="0">
              <a:lnSpc>
                <a:spcPts val="3300"/>
              </a:lnSpc>
              <a:buNone/>
            </a:pPr>
            <a:r>
              <a:rPr lang="en-US" sz="2700" b="1" dirty="0">
                <a:solidFill>
                  <a:srgbClr val="1B2127"/>
                </a:solidFill>
                <a:latin typeface="Cambria" pitchFamily="34" charset="0"/>
                <a:ea typeface="Cambria" pitchFamily="34" charset="-122"/>
                <a:cs typeface="Cambria" pitchFamily="34" charset="-120"/>
              </a:rPr>
              <a:t>Logged from our own vehicle, over eight sessions</a:t>
            </a:r>
            <a:endParaRPr lang="en-US" sz="2700" dirty="0"/>
          </a:p>
        </p:txBody>
      </p:sp>
      <p:sp>
        <p:nvSpPr>
          <p:cNvPr id="4" name="Text 2"/>
          <p:cNvSpPr txBox="1"/>
          <p:nvPr/>
        </p:nvSpPr>
        <p:spPr>
          <a:xfrm>
            <a:off x="548640" y="1353312"/>
            <a:ext cx="11064240" cy="274320"/>
          </a:xfrm>
          <a:prstGeom prst="rect">
            <a:avLst/>
          </a:prstGeom>
          <a:noFill/>
          <a:ln/>
        </p:spPr>
        <p:txBody>
          <a:bodyPr wrap="square" lIns="0" tIns="0" rIns="0" bIns="0" rtlCol="0" anchor="ctr"/>
          <a:lstStyle/>
          <a:p>
            <a:pPr indent="0" marL="0">
              <a:buNone/>
            </a:pPr>
            <a:r>
              <a:rPr lang="en-US" sz="1300" dirty="0">
                <a:solidFill>
                  <a:srgbClr val="5E6C75"/>
                </a:solidFill>
                <a:latin typeface="Calibri" pitchFamily="34" charset="0"/>
                <a:ea typeface="Calibri" pitchFamily="34" charset="-122"/>
                <a:cs typeface="Calibri" pitchFamily="34" charset="-120"/>
              </a:rPr>
              <a:t>2023 Toyota GR Supra  ·  BMW B58B30O1 inline-six, 2997.5 cc  ·  6–8 September 2026  ·  BimmerLink over OBD-II, read only</a:t>
            </a:r>
            <a:endParaRPr lang="en-US" sz="1300" dirty="0"/>
          </a:p>
        </p:txBody>
      </p:sp>
      <p:sp>
        <p:nvSpPr>
          <p:cNvPr id="5" name="Shape 3"/>
          <p:cNvSpPr/>
          <p:nvPr/>
        </p:nvSpPr>
        <p:spPr>
          <a:xfrm>
            <a:off x="548640" y="1828800"/>
            <a:ext cx="2606040" cy="1234440"/>
          </a:xfrm>
          <a:prstGeom prst="roundRect">
            <a:avLst>
              <a:gd name="adj" fmla="val 5926"/>
            </a:avLst>
          </a:prstGeom>
          <a:solidFill>
            <a:srgbClr val="FBEEDF"/>
          </a:solidFill>
          <a:ln w="12700">
            <a:solidFill>
              <a:srgbClr val="F3DFC8"/>
            </a:solidFill>
            <a:prstDash val="solid"/>
          </a:ln>
        </p:spPr>
      </p:sp>
      <p:sp>
        <p:nvSpPr>
          <p:cNvPr id="6" name="Text 4"/>
          <p:cNvSpPr txBox="1"/>
          <p:nvPr/>
        </p:nvSpPr>
        <p:spPr>
          <a:xfrm>
            <a:off x="777240" y="1975104"/>
            <a:ext cx="2194560" cy="502920"/>
          </a:xfrm>
          <a:prstGeom prst="rect">
            <a:avLst/>
          </a:prstGeom>
          <a:noFill/>
          <a:ln/>
        </p:spPr>
        <p:txBody>
          <a:bodyPr wrap="square" lIns="0" tIns="0" rIns="0" bIns="0" rtlCol="0" anchor="ctr"/>
          <a:lstStyle/>
          <a:p>
            <a:pPr indent="0" marL="0">
              <a:buNone/>
            </a:pPr>
            <a:r>
              <a:rPr lang="en-US" sz="3000" b="1" dirty="0">
                <a:solidFill>
                  <a:srgbClr val="E8871E"/>
                </a:solidFill>
                <a:latin typeface="Cambria" pitchFamily="34" charset="0"/>
                <a:ea typeface="Cambria" pitchFamily="34" charset="-122"/>
                <a:cs typeface="Cambria" pitchFamily="34" charset="-120"/>
              </a:rPr>
              <a:t>168</a:t>
            </a:r>
            <a:endParaRPr lang="en-US" sz="3000" dirty="0"/>
          </a:p>
        </p:txBody>
      </p:sp>
      <p:sp>
        <p:nvSpPr>
          <p:cNvPr id="7" name="Text 5"/>
          <p:cNvSpPr txBox="1"/>
          <p:nvPr/>
        </p:nvSpPr>
        <p:spPr>
          <a:xfrm>
            <a:off x="777240" y="2487168"/>
            <a:ext cx="2194560" cy="256032"/>
          </a:xfrm>
          <a:prstGeom prst="rect">
            <a:avLst/>
          </a:prstGeom>
          <a:noFill/>
          <a:ln/>
        </p:spPr>
        <p:txBody>
          <a:bodyPr wrap="square" lIns="0" tIns="0" rIns="0" bIns="0" rtlCol="0" anchor="ctr"/>
          <a:lstStyle/>
          <a:p>
            <a:pPr indent="0" marL="0">
              <a:buNone/>
            </a:pPr>
            <a:r>
              <a:rPr lang="en-US" sz="1350" b="1" dirty="0">
                <a:solidFill>
                  <a:srgbClr val="1B2127"/>
                </a:solidFill>
                <a:latin typeface="Calibri" pitchFamily="34" charset="0"/>
                <a:ea typeface="Calibri" pitchFamily="34" charset="-122"/>
                <a:cs typeface="Calibri" pitchFamily="34" charset="-120"/>
              </a:rPr>
              <a:t>minutes</a:t>
            </a:r>
            <a:endParaRPr lang="en-US" sz="1350" dirty="0"/>
          </a:p>
        </p:txBody>
      </p:sp>
      <p:sp>
        <p:nvSpPr>
          <p:cNvPr id="8" name="Text 6"/>
          <p:cNvSpPr txBox="1"/>
          <p:nvPr/>
        </p:nvSpPr>
        <p:spPr>
          <a:xfrm>
            <a:off x="777240" y="2734056"/>
            <a:ext cx="2194560" cy="256032"/>
          </a:xfrm>
          <a:prstGeom prst="rect">
            <a:avLst/>
          </a:prstGeom>
          <a:noFill/>
          <a:ln/>
        </p:spPr>
        <p:txBody>
          <a:bodyPr wrap="square" lIns="0" tIns="0" rIns="0" bIns="0" rtlCol="0" anchor="ctr"/>
          <a:lstStyle/>
          <a:p>
            <a:pPr indent="0" marL="0">
              <a:buNone/>
            </a:pPr>
            <a:r>
              <a:rPr lang="en-US" sz="1150" dirty="0">
                <a:solidFill>
                  <a:srgbClr val="5E6C75"/>
                </a:solidFill>
                <a:latin typeface="Calibri" pitchFamily="34" charset="0"/>
                <a:ea typeface="Calibri" pitchFamily="34" charset="-122"/>
                <a:cs typeface="Calibri" pitchFamily="34" charset="-120"/>
              </a:rPr>
              <a:t>8 drives, 3.5 – 6.6 Hz</a:t>
            </a:r>
            <a:endParaRPr lang="en-US" sz="1150" dirty="0"/>
          </a:p>
        </p:txBody>
      </p:sp>
      <p:sp>
        <p:nvSpPr>
          <p:cNvPr id="9" name="Shape 7"/>
          <p:cNvSpPr/>
          <p:nvPr/>
        </p:nvSpPr>
        <p:spPr>
          <a:xfrm>
            <a:off x="3383280" y="1828800"/>
            <a:ext cx="2606040" cy="1234440"/>
          </a:xfrm>
          <a:prstGeom prst="roundRect">
            <a:avLst>
              <a:gd name="adj" fmla="val 5926"/>
            </a:avLst>
          </a:prstGeom>
          <a:solidFill>
            <a:srgbClr val="FBEEDF"/>
          </a:solidFill>
          <a:ln w="12700">
            <a:solidFill>
              <a:srgbClr val="F3DFC8"/>
            </a:solidFill>
            <a:prstDash val="solid"/>
          </a:ln>
        </p:spPr>
      </p:sp>
      <p:sp>
        <p:nvSpPr>
          <p:cNvPr id="10" name="Text 8"/>
          <p:cNvSpPr txBox="1"/>
          <p:nvPr/>
        </p:nvSpPr>
        <p:spPr>
          <a:xfrm>
            <a:off x="3611880" y="1975104"/>
            <a:ext cx="2194560" cy="502920"/>
          </a:xfrm>
          <a:prstGeom prst="rect">
            <a:avLst/>
          </a:prstGeom>
          <a:noFill/>
          <a:ln/>
        </p:spPr>
        <p:txBody>
          <a:bodyPr wrap="square" lIns="0" tIns="0" rIns="0" bIns="0" rtlCol="0" anchor="ctr"/>
          <a:lstStyle/>
          <a:p>
            <a:pPr indent="0" marL="0">
              <a:buNone/>
            </a:pPr>
            <a:r>
              <a:rPr lang="en-US" sz="3000" b="1" dirty="0">
                <a:solidFill>
                  <a:srgbClr val="E8871E"/>
                </a:solidFill>
                <a:latin typeface="Cambria" pitchFamily="34" charset="0"/>
                <a:ea typeface="Cambria" pitchFamily="34" charset="-122"/>
                <a:cs typeface="Cambria" pitchFamily="34" charset="-120"/>
              </a:rPr>
              <a:t>25</a:t>
            </a:r>
            <a:endParaRPr lang="en-US" sz="3000" dirty="0"/>
          </a:p>
        </p:txBody>
      </p:sp>
      <p:sp>
        <p:nvSpPr>
          <p:cNvPr id="11" name="Text 9"/>
          <p:cNvSpPr txBox="1"/>
          <p:nvPr/>
        </p:nvSpPr>
        <p:spPr>
          <a:xfrm>
            <a:off x="3611880" y="2487168"/>
            <a:ext cx="2194560" cy="256032"/>
          </a:xfrm>
          <a:prstGeom prst="rect">
            <a:avLst/>
          </a:prstGeom>
          <a:noFill/>
          <a:ln/>
        </p:spPr>
        <p:txBody>
          <a:bodyPr wrap="square" lIns="0" tIns="0" rIns="0" bIns="0" rtlCol="0" anchor="ctr"/>
          <a:lstStyle/>
          <a:p>
            <a:pPr indent="0" marL="0">
              <a:buNone/>
            </a:pPr>
            <a:r>
              <a:rPr lang="en-US" sz="1350" b="1" dirty="0">
                <a:solidFill>
                  <a:srgbClr val="1B2127"/>
                </a:solidFill>
                <a:latin typeface="Calibri" pitchFamily="34" charset="0"/>
                <a:ea typeface="Calibri" pitchFamily="34" charset="-122"/>
                <a:cs typeface="Calibri" pitchFamily="34" charset="-120"/>
              </a:rPr>
              <a:t>channels</a:t>
            </a:r>
            <a:endParaRPr lang="en-US" sz="1350" dirty="0"/>
          </a:p>
        </p:txBody>
      </p:sp>
      <p:sp>
        <p:nvSpPr>
          <p:cNvPr id="12" name="Text 10"/>
          <p:cNvSpPr txBox="1"/>
          <p:nvPr/>
        </p:nvSpPr>
        <p:spPr>
          <a:xfrm>
            <a:off x="3611880" y="2734056"/>
            <a:ext cx="2194560" cy="256032"/>
          </a:xfrm>
          <a:prstGeom prst="rect">
            <a:avLst/>
          </a:prstGeom>
          <a:noFill/>
          <a:ln/>
        </p:spPr>
        <p:txBody>
          <a:bodyPr wrap="square" lIns="0" tIns="0" rIns="0" bIns="0" rtlCol="0" anchor="ctr"/>
          <a:lstStyle/>
          <a:p>
            <a:pPr indent="0" marL="0">
              <a:buNone/>
            </a:pPr>
            <a:r>
              <a:rPr lang="en-US" sz="1150" dirty="0">
                <a:solidFill>
                  <a:srgbClr val="5E6C75"/>
                </a:solidFill>
                <a:latin typeface="Calibri" pitchFamily="34" charset="0"/>
                <a:ea typeface="Calibri" pitchFamily="34" charset="-122"/>
                <a:cs typeface="Calibri" pitchFamily="34" charset="-120"/>
              </a:rPr>
              <a:t>all confirmed live</a:t>
            </a:r>
            <a:endParaRPr lang="en-US" sz="1150" dirty="0"/>
          </a:p>
        </p:txBody>
      </p:sp>
      <p:sp>
        <p:nvSpPr>
          <p:cNvPr id="13" name="Shape 11"/>
          <p:cNvSpPr/>
          <p:nvPr/>
        </p:nvSpPr>
        <p:spPr>
          <a:xfrm>
            <a:off x="6217920" y="1828800"/>
            <a:ext cx="2606040" cy="1234440"/>
          </a:xfrm>
          <a:prstGeom prst="roundRect">
            <a:avLst>
              <a:gd name="adj" fmla="val 5926"/>
            </a:avLst>
          </a:prstGeom>
          <a:solidFill>
            <a:srgbClr val="FBEEDF"/>
          </a:solidFill>
          <a:ln w="12700">
            <a:solidFill>
              <a:srgbClr val="F3DFC8"/>
            </a:solidFill>
            <a:prstDash val="solid"/>
          </a:ln>
        </p:spPr>
      </p:sp>
      <p:sp>
        <p:nvSpPr>
          <p:cNvPr id="14" name="Text 12"/>
          <p:cNvSpPr txBox="1"/>
          <p:nvPr/>
        </p:nvSpPr>
        <p:spPr>
          <a:xfrm>
            <a:off x="6446520" y="1975104"/>
            <a:ext cx="2194560" cy="502920"/>
          </a:xfrm>
          <a:prstGeom prst="rect">
            <a:avLst/>
          </a:prstGeom>
          <a:noFill/>
          <a:ln/>
        </p:spPr>
        <p:txBody>
          <a:bodyPr wrap="square" lIns="0" tIns="0" rIns="0" bIns="0" rtlCol="0" anchor="ctr"/>
          <a:lstStyle/>
          <a:p>
            <a:pPr indent="0" marL="0">
              <a:buNone/>
            </a:pPr>
            <a:r>
              <a:rPr lang="en-US" sz="3000" b="1" dirty="0">
                <a:solidFill>
                  <a:srgbClr val="E8871E"/>
                </a:solidFill>
                <a:latin typeface="Cambria" pitchFamily="34" charset="0"/>
                <a:ea typeface="Cambria" pitchFamily="34" charset="-122"/>
                <a:cs typeface="Cambria" pitchFamily="34" charset="-120"/>
              </a:rPr>
              <a:t>22</a:t>
            </a:r>
            <a:endParaRPr lang="en-US" sz="3000" dirty="0"/>
          </a:p>
        </p:txBody>
      </p:sp>
      <p:sp>
        <p:nvSpPr>
          <p:cNvPr id="15" name="Text 13"/>
          <p:cNvSpPr txBox="1"/>
          <p:nvPr/>
        </p:nvSpPr>
        <p:spPr>
          <a:xfrm>
            <a:off x="6446520" y="2487168"/>
            <a:ext cx="2194560" cy="256032"/>
          </a:xfrm>
          <a:prstGeom prst="rect">
            <a:avLst/>
          </a:prstGeom>
          <a:noFill/>
          <a:ln/>
        </p:spPr>
        <p:txBody>
          <a:bodyPr wrap="square" lIns="0" tIns="0" rIns="0" bIns="0" rtlCol="0" anchor="ctr"/>
          <a:lstStyle/>
          <a:p>
            <a:pPr indent="0" marL="0">
              <a:buNone/>
            </a:pPr>
            <a:r>
              <a:rPr lang="en-US" sz="1350" b="1" dirty="0">
                <a:solidFill>
                  <a:srgbClr val="1B2127"/>
                </a:solidFill>
                <a:latin typeface="Calibri" pitchFamily="34" charset="0"/>
                <a:ea typeface="Calibri" pitchFamily="34" charset="-122"/>
                <a:cs typeface="Calibri" pitchFamily="34" charset="-120"/>
              </a:rPr>
              <a:t>operating points</a:t>
            </a:r>
            <a:endParaRPr lang="en-US" sz="1350" dirty="0"/>
          </a:p>
        </p:txBody>
      </p:sp>
      <p:sp>
        <p:nvSpPr>
          <p:cNvPr id="16" name="Text 14"/>
          <p:cNvSpPr txBox="1"/>
          <p:nvPr/>
        </p:nvSpPr>
        <p:spPr>
          <a:xfrm>
            <a:off x="6446520" y="2734056"/>
            <a:ext cx="2194560" cy="256032"/>
          </a:xfrm>
          <a:prstGeom prst="rect">
            <a:avLst/>
          </a:prstGeom>
          <a:noFill/>
          <a:ln/>
        </p:spPr>
        <p:txBody>
          <a:bodyPr wrap="square" lIns="0" tIns="0" rIns="0" bIns="0" rtlCol="0" anchor="ctr"/>
          <a:lstStyle/>
          <a:p>
            <a:pPr indent="0" marL="0">
              <a:buNone/>
            </a:pPr>
            <a:r>
              <a:rPr lang="en-US" sz="1150" dirty="0">
                <a:solidFill>
                  <a:srgbClr val="5E6C75"/>
                </a:solidFill>
                <a:latin typeface="Calibri" pitchFamily="34" charset="0"/>
                <a:ea typeface="Calibri" pitchFamily="34" charset="-122"/>
                <a:cs typeface="Calibri" pitchFamily="34" charset="-120"/>
              </a:rPr>
              <a:t>1551 – 5053 rpm</a:t>
            </a:r>
            <a:endParaRPr lang="en-US" sz="1150" dirty="0"/>
          </a:p>
        </p:txBody>
      </p:sp>
      <p:sp>
        <p:nvSpPr>
          <p:cNvPr id="17" name="Shape 15"/>
          <p:cNvSpPr/>
          <p:nvPr/>
        </p:nvSpPr>
        <p:spPr>
          <a:xfrm>
            <a:off x="9052560" y="1828800"/>
            <a:ext cx="2606040" cy="1234440"/>
          </a:xfrm>
          <a:prstGeom prst="roundRect">
            <a:avLst>
              <a:gd name="adj" fmla="val 5926"/>
            </a:avLst>
          </a:prstGeom>
          <a:solidFill>
            <a:srgbClr val="FBEEDF"/>
          </a:solidFill>
          <a:ln w="12700">
            <a:solidFill>
              <a:srgbClr val="F3DFC8"/>
            </a:solidFill>
            <a:prstDash val="solid"/>
          </a:ln>
        </p:spPr>
      </p:sp>
      <p:sp>
        <p:nvSpPr>
          <p:cNvPr id="18" name="Text 16"/>
          <p:cNvSpPr txBox="1"/>
          <p:nvPr/>
        </p:nvSpPr>
        <p:spPr>
          <a:xfrm>
            <a:off x="9281160" y="1975104"/>
            <a:ext cx="2194560" cy="502920"/>
          </a:xfrm>
          <a:prstGeom prst="rect">
            <a:avLst/>
          </a:prstGeom>
          <a:noFill/>
          <a:ln/>
        </p:spPr>
        <p:txBody>
          <a:bodyPr wrap="square" lIns="0" tIns="0" rIns="0" bIns="0" rtlCol="0" anchor="ctr"/>
          <a:lstStyle/>
          <a:p>
            <a:pPr indent="0" marL="0">
              <a:buNone/>
            </a:pPr>
            <a:r>
              <a:rPr lang="en-US" sz="3000" b="1" dirty="0">
                <a:solidFill>
                  <a:srgbClr val="E8871E"/>
                </a:solidFill>
                <a:latin typeface="Cambria" pitchFamily="34" charset="0"/>
                <a:ea typeface="Cambria" pitchFamily="34" charset="-122"/>
                <a:cs typeface="Cambria" pitchFamily="34" charset="-120"/>
              </a:rPr>
              <a:t>3.0%</a:t>
            </a:r>
            <a:endParaRPr lang="en-US" sz="3000" dirty="0"/>
          </a:p>
        </p:txBody>
      </p:sp>
      <p:sp>
        <p:nvSpPr>
          <p:cNvPr id="19" name="Text 17"/>
          <p:cNvSpPr txBox="1"/>
          <p:nvPr/>
        </p:nvSpPr>
        <p:spPr>
          <a:xfrm>
            <a:off x="9281160" y="2487168"/>
            <a:ext cx="2194560" cy="256032"/>
          </a:xfrm>
          <a:prstGeom prst="rect">
            <a:avLst/>
          </a:prstGeom>
          <a:noFill/>
          <a:ln/>
        </p:spPr>
        <p:txBody>
          <a:bodyPr wrap="square" lIns="0" tIns="0" rIns="0" bIns="0" rtlCol="0" anchor="ctr"/>
          <a:lstStyle/>
          <a:p>
            <a:pPr indent="0" marL="0">
              <a:buNone/>
            </a:pPr>
            <a:r>
              <a:rPr lang="en-US" sz="1350" b="1" dirty="0">
                <a:solidFill>
                  <a:srgbClr val="1B2127"/>
                </a:solidFill>
                <a:latin typeface="Calibri" pitchFamily="34" charset="0"/>
                <a:ea typeface="Calibri" pitchFamily="34" charset="-122"/>
                <a:cs typeface="Calibri" pitchFamily="34" charset="-120"/>
              </a:rPr>
              <a:t>boost error</a:t>
            </a:r>
            <a:endParaRPr lang="en-US" sz="1350" dirty="0"/>
          </a:p>
        </p:txBody>
      </p:sp>
      <p:sp>
        <p:nvSpPr>
          <p:cNvPr id="20" name="Text 18"/>
          <p:cNvSpPr txBox="1"/>
          <p:nvPr/>
        </p:nvSpPr>
        <p:spPr>
          <a:xfrm>
            <a:off x="9281160" y="2734056"/>
            <a:ext cx="2194560" cy="256032"/>
          </a:xfrm>
          <a:prstGeom prst="rect">
            <a:avLst/>
          </a:prstGeom>
          <a:noFill/>
          <a:ln/>
        </p:spPr>
        <p:txBody>
          <a:bodyPr wrap="square" lIns="0" tIns="0" rIns="0" bIns="0" rtlCol="0" anchor="ctr"/>
          <a:lstStyle/>
          <a:p>
            <a:pPr indent="0" marL="0">
              <a:buNone/>
            </a:pPr>
            <a:r>
              <a:rPr lang="en-US" sz="1150" dirty="0">
                <a:solidFill>
                  <a:srgbClr val="5E6C75"/>
                </a:solidFill>
                <a:latin typeface="Calibri" pitchFamily="34" charset="0"/>
                <a:ea typeface="Calibri" pitchFamily="34" charset="-122"/>
                <a:cs typeface="Calibri" pitchFamily="34" charset="-120"/>
              </a:rPr>
              <a:t>vs the car, was 22.6%</a:t>
            </a:r>
            <a:endParaRPr lang="en-US" sz="1150" dirty="0"/>
          </a:p>
        </p:txBody>
      </p:sp>
      <p:sp>
        <p:nvSpPr>
          <p:cNvPr id="21" name="Text 19"/>
          <p:cNvSpPr txBox="1"/>
          <p:nvPr/>
        </p:nvSpPr>
        <p:spPr>
          <a:xfrm>
            <a:off x="548640" y="3337560"/>
            <a:ext cx="6675120" cy="256032"/>
          </a:xfrm>
          <a:prstGeom prst="rect">
            <a:avLst/>
          </a:prstGeom>
          <a:noFill/>
          <a:ln/>
        </p:spPr>
        <p:txBody>
          <a:bodyPr wrap="square" lIns="0" tIns="0" rIns="0" bIns="0" rtlCol="0" anchor="ctr"/>
          <a:lstStyle/>
          <a:p>
            <a:pPr indent="0" marL="0">
              <a:buNone/>
            </a:pPr>
            <a:r>
              <a:rPr lang="en-US" sz="1000" b="1" spc="160" kern="0" dirty="0">
                <a:solidFill>
                  <a:srgbClr val="2E7D8F"/>
                </a:solidFill>
                <a:latin typeface="Calibri" pitchFamily="34" charset="0"/>
                <a:ea typeface="Calibri" pitchFamily="34" charset="-122"/>
                <a:cs typeface="Calibri" pitchFamily="34" charset="-120"/>
              </a:rPr>
              <a:t>MODEL AGAINST MEASUREMENT — 22 STEADY OPERATING POINTS</a:t>
            </a:r>
            <a:endParaRPr lang="en-US" sz="1000" dirty="0"/>
          </a:p>
        </p:txBody>
      </p:sp>
      <p:graphicFrame>
        <p:nvGraphicFramePr>
          <p:cNvPr id="22" name="Chart 0" descr=""/>
          <p:cNvGraphicFramePr/>
          <p:nvPr/>
        </p:nvGraphicFramePr>
        <p:xfrm>
          <a:off x="457200" y="3611880"/>
          <a:ext cx="6766560" cy="2377440"/>
        </p:xfrm>
        <a:graphic xmlns:a="http://schemas.openxmlformats.org/drawingml/2006/main">
          <a:graphicData uri="http://schemas.openxmlformats.org/drawingml/2006/chart">
            <c:chart xmlns:c="http://schemas.openxmlformats.org/drawingml/2006/chart" r:id="rId1"/>
          </a:graphicData>
        </a:graphic>
      </p:graphicFrame>
      <p:sp>
        <p:nvSpPr>
          <p:cNvPr id="23" name="Shape 20"/>
          <p:cNvSpPr/>
          <p:nvPr/>
        </p:nvSpPr>
        <p:spPr>
          <a:xfrm>
            <a:off x="7589520" y="3337560"/>
            <a:ext cx="4023360" cy="1298448"/>
          </a:xfrm>
          <a:prstGeom prst="roundRect">
            <a:avLst>
              <a:gd name="adj" fmla="val 5634"/>
            </a:avLst>
          </a:prstGeom>
          <a:solidFill>
            <a:srgbClr val="E4EFF2"/>
          </a:solidFill>
          <a:ln w="12700">
            <a:solidFill>
              <a:srgbClr val="CFE2E7"/>
            </a:solidFill>
            <a:prstDash val="solid"/>
          </a:ln>
        </p:spPr>
      </p:sp>
      <p:sp>
        <p:nvSpPr>
          <p:cNvPr id="24" name="Text 21"/>
          <p:cNvSpPr txBox="1"/>
          <p:nvPr/>
        </p:nvSpPr>
        <p:spPr>
          <a:xfrm>
            <a:off x="7818120" y="3493008"/>
            <a:ext cx="3566160" cy="1005840"/>
          </a:xfrm>
          <a:prstGeom prst="rect">
            <a:avLst/>
          </a:prstGeom>
          <a:noFill/>
          <a:ln/>
        </p:spPr>
        <p:txBody>
          <a:bodyPr wrap="square" lIns="0" tIns="0" rIns="0" bIns="0" rtlCol="0" anchor="ctr"/>
          <a:lstStyle/>
          <a:p>
            <a:pPr indent="0" marL="0">
              <a:lnSpc>
                <a:spcPts val="1500"/>
              </a:lnSpc>
              <a:buNone/>
            </a:pPr>
            <a:r>
              <a:rPr lang="en-US" sz="1150" b="1" dirty="0">
                <a:solidFill>
                  <a:srgbClr val="2E7D8F"/>
                </a:solidFill>
                <a:latin typeface="Calibri" pitchFamily="34" charset="0"/>
                <a:ea typeface="Calibri" pitchFamily="34" charset="-122"/>
                <a:cs typeface="Calibri" pitchFamily="34" charset="-120"/>
              </a:rPr>
              <a:t>What the data settled. </a:t>
            </a:r>
            <a:pPr indent="0" marL="0">
              <a:lnSpc>
                <a:spcPts val="1500"/>
              </a:lnSpc>
              <a:buNone/>
            </a:pPr>
            <a:r>
              <a:rPr lang="en-US" sz="1150" dirty="0">
                <a:solidFill>
                  <a:srgbClr val="1B2127"/>
                </a:solidFill>
                <a:latin typeface="Calibri" pitchFamily="34" charset="0"/>
                <a:ea typeface="Calibri" pitchFamily="34" charset="-122"/>
                <a:cs typeface="Calibri" pitchFamily="34" charset="-120"/>
              </a:rPr>
              <a:t>Sixty seconds of parked idle proved the channel labelled "manifold pressure" is a pre-throttle sensor. Using it gives 75% error; inverting the air-mass channel gives 1.4% over 22 points — a channel-definition check, not a test of the breathing model.</a:t>
            </a:r>
            <a:endParaRPr lang="en-US" sz="1150" dirty="0"/>
          </a:p>
        </p:txBody>
      </p:sp>
      <p:sp>
        <p:nvSpPr>
          <p:cNvPr id="25" name="Text 22"/>
          <p:cNvSpPr txBox="1"/>
          <p:nvPr/>
        </p:nvSpPr>
        <p:spPr>
          <a:xfrm>
            <a:off x="7589520" y="4846320"/>
            <a:ext cx="4023360" cy="237744"/>
          </a:xfrm>
          <a:prstGeom prst="rect">
            <a:avLst/>
          </a:prstGeom>
          <a:noFill/>
          <a:ln/>
        </p:spPr>
        <p:txBody>
          <a:bodyPr wrap="square" lIns="0" tIns="0" rIns="0" bIns="0" rtlCol="0" anchor="ctr"/>
          <a:lstStyle/>
          <a:p>
            <a:pPr indent="0" marL="0">
              <a:buNone/>
            </a:pPr>
            <a:r>
              <a:rPr lang="en-US" sz="1000" b="1" spc="160" kern="0" dirty="0">
                <a:solidFill>
                  <a:srgbClr val="E8871E"/>
                </a:solidFill>
                <a:latin typeface="Calibri" pitchFamily="34" charset="0"/>
                <a:ea typeface="Calibri" pitchFamily="34" charset="-122"/>
                <a:cs typeface="Calibri" pitchFamily="34" charset="-120"/>
              </a:rPr>
              <a:t>COVERAGE, STATED HONESTLY</a:t>
            </a:r>
            <a:endParaRPr lang="en-US" sz="1000" dirty="0"/>
          </a:p>
        </p:txBody>
      </p:sp>
      <p:sp>
        <p:nvSpPr>
          <p:cNvPr id="26" name="Text 23"/>
          <p:cNvSpPr txBox="1"/>
          <p:nvPr/>
        </p:nvSpPr>
        <p:spPr>
          <a:xfrm>
            <a:off x="7589520" y="5120640"/>
            <a:ext cx="4023360" cy="1371600"/>
          </a:xfrm>
          <a:prstGeom prst="rect">
            <a:avLst/>
          </a:prstGeom>
          <a:noFill/>
          <a:ln/>
        </p:spPr>
        <p:txBody>
          <a:bodyPr wrap="square" lIns="0" tIns="0" rIns="0" bIns="0" rtlCol="0" anchor="ctr"/>
          <a:lstStyle/>
          <a:p>
            <a:pPr indent="0" marL="0">
              <a:lnSpc>
                <a:spcPts val="1500"/>
              </a:lnSpc>
              <a:buNone/>
            </a:pPr>
            <a:r>
              <a:rPr lang="en-US" sz="1150" b="1" dirty="0">
                <a:solidFill>
                  <a:srgbClr val="1B2127"/>
                </a:solidFill>
                <a:latin typeface="Calibri" pitchFamily="34" charset="0"/>
                <a:ea typeface="Calibri" pitchFamily="34" charset="-122"/>
                <a:cs typeface="Calibri" pitchFamily="34" charset="-120"/>
              </a:rPr>
              <a:t>Validated:  </a:t>
            </a:r>
            <a:pPr indent="0" marL="0">
              <a:lnSpc>
                <a:spcPts val="1500"/>
              </a:lnSpc>
              <a:buNone/>
            </a:pPr>
            <a:r>
              <a:rPr lang="en-US" sz="1150" dirty="0">
                <a:solidFill>
                  <a:srgbClr val="5E6C75"/>
                </a:solidFill>
                <a:latin typeface="Calibri" pitchFamily="34" charset="0"/>
                <a:ea typeface="Calibri" pitchFamily="34" charset="-122"/>
                <a:cs typeface="Calibri" pitchFamily="34" charset="-120"/>
              </a:rPr>
              <a:t>31 – 82 kPa manifold pressure, stoichiometric, naturally aspirated.
</a:t>
            </a:r>
            <a:pPr indent="0" marL="0">
              <a:lnSpc>
                <a:spcPts val="1500"/>
              </a:lnSpc>
              <a:buNone/>
            </a:pPr>
            <a:r>
              <a:rPr lang="en-US" sz="1150" b="1" dirty="0">
                <a:solidFill>
                  <a:srgbClr val="1B2127"/>
                </a:solidFill>
                <a:latin typeface="Calibri" pitchFamily="34" charset="0"/>
                <a:ea typeface="Calibri" pitchFamily="34" charset="-122"/>
                <a:cs typeface="Calibri" pitchFamily="34" charset="-120"/>
              </a:rPr>
              <a:t>Not validated:  </a:t>
            </a:r>
            <a:pPr indent="0" marL="0">
              <a:lnSpc>
                <a:spcPts val="1500"/>
              </a:lnSpc>
              <a:buNone/>
            </a:pPr>
            <a:r>
              <a:rPr lang="en-US" sz="1150" dirty="0">
                <a:solidFill>
                  <a:srgbClr val="5E6C75"/>
                </a:solidFill>
                <a:latin typeface="Calibri" pitchFamily="34" charset="0"/>
                <a:ea typeface="Calibri" pitchFamily="34" charset="-122"/>
                <a:cs typeface="Calibri" pitchFamily="34" charset="-120"/>
              </a:rPr>
              <a:t>the boosted region. The drives reached 191% load and 6784 rpm, but only in transients — steady points need steady driving, and steady driving is light-load driving.</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ctr"/>
          <a:lstStyle/>
          <a:p>
            <a:pPr indent="0" marL="0">
              <a:buNone/>
            </a:pPr>
            <a:r>
              <a:rPr lang="en-US" sz="1100" b="1" spc="240" kern="0" dirty="0">
                <a:solidFill>
                  <a:srgbClr val="2E7D8F"/>
                </a:solidFill>
                <a:latin typeface="Calibri" pitchFamily="34" charset="0"/>
                <a:ea typeface="Calibri" pitchFamily="34" charset="-122"/>
                <a:cs typeface="Calibri" pitchFamily="34" charset="-120"/>
              </a:rPr>
              <a:t>04  ·  PAPER REVIEW  —  PRIOR WORK</a:t>
            </a:r>
            <a:endParaRPr lang="en-US" sz="1100" dirty="0"/>
          </a:p>
        </p:txBody>
      </p:sp>
      <p:sp>
        <p:nvSpPr>
          <p:cNvPr id="3" name="Text 1"/>
          <p:cNvSpPr txBox="1"/>
          <p:nvPr/>
        </p:nvSpPr>
        <p:spPr>
          <a:xfrm>
            <a:off x="548640" y="731520"/>
            <a:ext cx="10881360" cy="914400"/>
          </a:xfrm>
          <a:prstGeom prst="rect">
            <a:avLst/>
          </a:prstGeom>
          <a:noFill/>
          <a:ln/>
        </p:spPr>
        <p:txBody>
          <a:bodyPr wrap="square" lIns="0" tIns="0" rIns="0" bIns="0" rtlCol="0" anchor="ctr"/>
          <a:lstStyle/>
          <a:p>
            <a:pPr indent="0" marL="0">
              <a:lnSpc>
                <a:spcPts val="3000"/>
              </a:lnSpc>
              <a:buNone/>
            </a:pPr>
            <a:r>
              <a:rPr lang="en-US" sz="2400" b="1" dirty="0">
                <a:solidFill>
                  <a:srgbClr val="1B2127"/>
                </a:solidFill>
                <a:latin typeface="Cambria" pitchFamily="34" charset="0"/>
                <a:ea typeface="Cambria" pitchFamily="34" charset="-122"/>
                <a:cs typeface="Cambria" pitchFamily="34" charset="-120"/>
              </a:rPr>
              <a:t>Preview control is solved for linear systems and sold commercially.</a:t>
            </a:r>
            <a:endParaRPr lang="en-US" sz="2400" dirty="0"/>
          </a:p>
          <a:p>
            <a:pPr indent="0" marL="0">
              <a:lnSpc>
                <a:spcPts val="3000"/>
              </a:lnSpc>
              <a:buNone/>
            </a:pPr>
            <a:r>
              <a:rPr lang="en-US" sz="2400" b="1" dirty="0">
                <a:solidFill>
                  <a:srgbClr val="1B2127"/>
                </a:solidFill>
                <a:latin typeface="Cambria" pitchFamily="34" charset="0"/>
                <a:ea typeface="Cambria" pitchFamily="34" charset="-122"/>
                <a:cs typeface="Cambria" pitchFamily="34" charset="-120"/>
              </a:rPr>
              <a:t>Nobody has priced the information.</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7086600" cy="914400"/>
        </p:xfrm>
        <a:graphic>
          <a:graphicData uri="http://schemas.openxmlformats.org/drawingml/2006/table">
            <a:tbl>
              <a:tblPr/>
              <a:tblGrid>
                <a:gridCol w="1783080"/>
                <a:gridCol w="2651760"/>
                <a:gridCol w="2651760"/>
              </a:tblGrid>
              <a:tr h="256032">
                <a:tc>
                  <a:txBody>
                    <a:bodyPr/>
                    <a:lstStyle/>
                    <a:p>
                      <a:pPr indent="0" marL="0">
                        <a:buNone/>
                      </a:pPr>
                      <a:r>
                        <a:rPr lang="en-US" sz="1050" b="1" dirty="0">
                          <a:solidFill>
                            <a:srgbClr val="5E6C75"/>
                          </a:solidFill>
                          <a:latin typeface="Calibri" pitchFamily="34" charset="0"/>
                          <a:ea typeface="Calibri" pitchFamily="34" charset="-122"/>
                          <a:cs typeface="Calibri" pitchFamily="34" charset="-120"/>
                        </a:rPr>
                        <a:t>Work</a:t>
                      </a:r>
                      <a:endParaRPr lang="en-US" sz="1050" dirty="0">
                        <a:latin typeface="Calibri" charset="0"/>
                        <a:ea typeface="Calibri" charset="0"/>
                        <a:cs typeface="Calibri" charset="0"/>
                      </a:endParaRPr>
                    </a:p>
                  </a:txBody>
                  <a:tcPr marL="91440" marR="91440" marT="45720" marB="45720" anchor="t">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50" b="1" dirty="0">
                          <a:solidFill>
                            <a:srgbClr val="5E6C75"/>
                          </a:solidFill>
                          <a:latin typeface="Calibri" pitchFamily="34" charset="0"/>
                          <a:ea typeface="Calibri" pitchFamily="34" charset="-122"/>
                          <a:cs typeface="Calibri" pitchFamily="34" charset="-120"/>
                        </a:rPr>
                        <a:t>What it establishes</a:t>
                      </a:r>
                      <a:endParaRPr lang="en-US" sz="1050" dirty="0">
                        <a:latin typeface="Calibri" charset="0"/>
                        <a:ea typeface="Calibri" charset="0"/>
                        <a:cs typeface="Calibri" charset="0"/>
                      </a:endParaRPr>
                    </a:p>
                  </a:txBody>
                  <a:tcPr marL="91440" marR="91440" marT="45720" marB="45720" anchor="t">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50" b="1" dirty="0">
                          <a:solidFill>
                            <a:srgbClr val="5E6C75"/>
                          </a:solidFill>
                          <a:latin typeface="Calibri" pitchFamily="34" charset="0"/>
                          <a:ea typeface="Calibri" pitchFamily="34" charset="-122"/>
                          <a:cs typeface="Calibri" pitchFamily="34" charset="-120"/>
                        </a:rPr>
                        <a:t>What it leaves open</a:t>
                      </a:r>
                      <a:endParaRPr lang="en-US" sz="1050" dirty="0">
                        <a:latin typeface="Calibri" charset="0"/>
                        <a:ea typeface="Calibri" charset="0"/>
                        <a:cs typeface="Calibri" charset="0"/>
                      </a:endParaRPr>
                    </a:p>
                  </a:txBody>
                  <a:tcPr marL="91440" marR="91440" marT="45720" marB="45720" anchor="t">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r>
              <a:tr h="749808">
                <a:tc>
                  <a:txBody>
                    <a:bodyPr/>
                    <a:lstStyle/>
                    <a:p>
                      <a:pPr indent="0" marL="0">
                        <a:buNone/>
                      </a:pPr>
                      <a:r>
                        <a:rPr lang="en-US" sz="1000" b="1" dirty="0">
                          <a:solidFill>
                            <a:srgbClr val="1B2127"/>
                          </a:solidFill>
                          <a:latin typeface="Calibri" pitchFamily="34" charset="0"/>
                          <a:ea typeface="Calibri" pitchFamily="34" charset="-122"/>
                          <a:cs typeface="Calibri" pitchFamily="34" charset="-120"/>
                        </a:rPr>
                        <a:t>Liu &amp; Seiler, 2026</a:t>
                      </a:r>
                      <a:endParaRPr lang="en-US" sz="1000" dirty="0">
                        <a:latin typeface="Calibri" charset="0"/>
                        <a:ea typeface="Calibri" charset="0"/>
                        <a:cs typeface="Calibri" charset="0"/>
                      </a:endParaRPr>
                    </a:p>
                    <a:p>
                      <a:pPr indent="0" marL="0">
                        <a:buNone/>
                      </a:pPr>
                      <a:r>
                        <a:rPr lang="en-US" sz="1000" b="1" dirty="0">
                          <a:solidFill>
                            <a:srgbClr val="1B2127"/>
                          </a:solidFill>
                          <a:latin typeface="Calibri" pitchFamily="34" charset="0"/>
                          <a:ea typeface="Calibri" pitchFamily="34" charset="-122"/>
                          <a:cs typeface="Calibri" pitchFamily="34" charset="-120"/>
                        </a:rPr>
                        <a:t>arXiv:2602.01420</a:t>
                      </a:r>
                      <a:endParaRPr lang="en-US" sz="1000" dirty="0">
                        <a:latin typeface="Calibri" charset="0"/>
                        <a:ea typeface="Calibri" charset="0"/>
                        <a:cs typeface="Calibri" charset="0"/>
                      </a:endParaRPr>
                    </a:p>
                    <a:p>
                      <a:pPr indent="0" marL="0">
                        <a:buNone/>
                      </a:pPr>
                      <a:r>
                        <a:rPr lang="en-US" sz="1000" b="1" dirty="0">
                          <a:solidFill>
                            <a:srgbClr val="1B2127"/>
                          </a:solidFill>
                          <a:latin typeface="Calibri" pitchFamily="34" charset="0"/>
                          <a:ea typeface="Calibri" pitchFamily="34" charset="-122"/>
                          <a:cs typeface="Calibri" pitchFamily="34" charset="-120"/>
                        </a:rPr>
                        <a:t>Univ. of Michigan</a:t>
                      </a:r>
                      <a:endParaRPr lang="en-US" sz="1000" dirty="0">
                        <a:latin typeface="Calibri" charset="0"/>
                        <a:ea typeface="Calibri" charset="0"/>
                        <a:cs typeface="Calibri" charset="0"/>
                      </a:endParaRPr>
                    </a:p>
                  </a:txBody>
                  <a:tcPr marL="91440" marR="91440" marT="45720" marB="45720" anchor="t">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5E6C75"/>
                          </a:solidFill>
                          <a:latin typeface="Calibri" pitchFamily="34" charset="0"/>
                          <a:ea typeface="Calibri" pitchFamily="34" charset="-122"/>
                          <a:cs typeface="Calibri" pitchFamily="34" charset="-120"/>
                        </a:rPr>
                        <a:t>Regret bounds for H∞ preview controllers. Proves preview benefit converges as the horizon grows, decaying with the closed-loop spectral radius.</a:t>
                      </a:r>
                      <a:endParaRPr lang="en-US" sz="1000" dirty="0">
                        <a:latin typeface="Calibri" charset="0"/>
                        <a:ea typeface="Calibri" charset="0"/>
                        <a:cs typeface="Calibri" charset="0"/>
                      </a:endParaRPr>
                    </a:p>
                  </a:txBody>
                  <a:tcPr marL="91440" marR="91440" marT="45720" marB="45720" anchor="t">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1B2127"/>
                          </a:solidFill>
                          <a:latin typeface="Calibri" pitchFamily="34" charset="0"/>
                          <a:ea typeface="Calibri" pitchFamily="34" charset="-122"/>
                          <a:cs typeface="Calibri" pitchFamily="34" charset="-120"/>
                        </a:rPr>
                        <a:t>Linear time-invariant only. Proves convergence exists; gives no decay rate and no magnitude at a given horizon.</a:t>
                      </a:r>
                      <a:endParaRPr lang="en-US" sz="1000" dirty="0">
                        <a:latin typeface="Calibri" charset="0"/>
                        <a:ea typeface="Calibri" charset="0"/>
                        <a:cs typeface="Calibri" charset="0"/>
                      </a:endParaRPr>
                    </a:p>
                  </a:txBody>
                  <a:tcPr marL="91440" marR="91440" marT="45720" marB="45720" anchor="t">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r>
              <a:tr h="749808">
                <a:tc>
                  <a:txBody>
                    <a:bodyPr/>
                    <a:lstStyle/>
                    <a:p>
                      <a:pPr indent="0" marL="0">
                        <a:buNone/>
                      </a:pPr>
                      <a:r>
                        <a:rPr lang="en-US" sz="1000" b="1" dirty="0">
                          <a:solidFill>
                            <a:srgbClr val="1B2127"/>
                          </a:solidFill>
                          <a:latin typeface="Calibri" pitchFamily="34" charset="0"/>
                          <a:ea typeface="Calibri" pitchFamily="34" charset="-122"/>
                          <a:cs typeface="Calibri" pitchFamily="34" charset="-120"/>
                        </a:rPr>
                        <a:t>Daimler Truck AG</a:t>
                      </a:r>
                      <a:endParaRPr lang="en-US" sz="1000" dirty="0">
                        <a:latin typeface="Calibri" charset="0"/>
                        <a:ea typeface="Calibri" charset="0"/>
                        <a:cs typeface="Calibri" charset="0"/>
                      </a:endParaRPr>
                    </a:p>
                    <a:p>
                      <a:pPr indent="0" marL="0">
                        <a:buNone/>
                      </a:pPr>
                      <a:r>
                        <a:rPr lang="en-US" sz="1000" b="1" dirty="0">
                          <a:solidFill>
                            <a:srgbClr val="1B2127"/>
                          </a:solidFill>
                          <a:latin typeface="Calibri" pitchFamily="34" charset="0"/>
                          <a:ea typeface="Calibri" pitchFamily="34" charset="-122"/>
                          <a:cs typeface="Calibri" pitchFamily="34" charset="-120"/>
                        </a:rPr>
                        <a:t>PPC (shipping product)</a:t>
                      </a:r>
                      <a:endParaRPr lang="en-US" sz="1000" dirty="0">
                        <a:latin typeface="Calibri" charset="0"/>
                        <a:ea typeface="Calibri" charset="0"/>
                        <a:cs typeface="Calibri" charset="0"/>
                      </a:endParaRPr>
                    </a:p>
                  </a:txBody>
                  <a:tcPr marL="91440" marR="91440" marT="45720" marB="45720" anchor="t">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5E6C75"/>
                          </a:solidFill>
                          <a:latin typeface="Calibri" pitchFamily="34" charset="0"/>
                          <a:ea typeface="Calibri" pitchFamily="34" charset="-122"/>
                          <a:cs typeface="Calibri" pitchFamily="34" charset="-120"/>
                        </a:rPr>
                        <a:t>Map- and GPS-based lookahead controlling cruise speed and gear selection on heavy trucks. Preview control is commercially viable.</a:t>
                      </a:r>
                      <a:endParaRPr lang="en-US" sz="1000" dirty="0">
                        <a:latin typeface="Calibri" charset="0"/>
                        <a:ea typeface="Calibri" charset="0"/>
                        <a:cs typeface="Calibri" charset="0"/>
                      </a:endParaRPr>
                    </a:p>
                  </a:txBody>
                  <a:tcPr marL="91440" marR="91440" marT="45720" marB="45720" anchor="t">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1B2127"/>
                          </a:solidFill>
                          <a:latin typeface="Calibri" pitchFamily="34" charset="0"/>
                          <a:ea typeface="Calibri" pitchFamily="34" charset="-122"/>
                          <a:cs typeface="Calibri" pitchFamily="34" charset="-120"/>
                        </a:rPr>
                        <a:t>Ships the controller, never publishes the decision rule — at what point preview stops paying for itself.</a:t>
                      </a:r>
                      <a:endParaRPr lang="en-US" sz="1000" dirty="0">
                        <a:latin typeface="Calibri" charset="0"/>
                        <a:ea typeface="Calibri" charset="0"/>
                        <a:cs typeface="Calibri" charset="0"/>
                      </a:endParaRPr>
                    </a:p>
                  </a:txBody>
                  <a:tcPr marL="91440" marR="91440" marT="45720" marB="45720" anchor="t">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r>
              <a:tr h="749808">
                <a:tc>
                  <a:txBody>
                    <a:bodyPr/>
                    <a:lstStyle/>
                    <a:p>
                      <a:pPr indent="0" marL="0">
                        <a:buNone/>
                      </a:pPr>
                      <a:r>
                        <a:rPr lang="en-US" sz="1000" b="1" dirty="0">
                          <a:solidFill>
                            <a:srgbClr val="1B2127"/>
                          </a:solidFill>
                          <a:latin typeface="Calibri" pitchFamily="34" charset="0"/>
                          <a:ea typeface="Calibri" pitchFamily="34" charset="-122"/>
                          <a:cs typeface="Calibri" pitchFamily="34" charset="-120"/>
                        </a:rPr>
                        <a:t>Bedei et al., 2025</a:t>
                      </a:r>
                      <a:endParaRPr lang="en-US" sz="1000" dirty="0">
                        <a:latin typeface="Calibri" charset="0"/>
                        <a:ea typeface="Calibri" charset="0"/>
                        <a:cs typeface="Calibri" charset="0"/>
                      </a:endParaRPr>
                    </a:p>
                    <a:p>
                      <a:pPr indent="0" marL="0">
                        <a:buNone/>
                      </a:pPr>
                      <a:r>
                        <a:rPr lang="en-US" sz="1000" b="1" dirty="0">
                          <a:solidFill>
                            <a:srgbClr val="1B2127"/>
                          </a:solidFill>
                          <a:latin typeface="Calibri" pitchFamily="34" charset="0"/>
                          <a:ea typeface="Calibri" pitchFamily="34" charset="-122"/>
                          <a:cs typeface="Calibri" pitchFamily="34" charset="-120"/>
                        </a:rPr>
                        <a:t>arXiv:2501.16613</a:t>
                      </a:r>
                      <a:endParaRPr lang="en-US" sz="1000" dirty="0">
                        <a:latin typeface="Calibri" charset="0"/>
                        <a:ea typeface="Calibri" charset="0"/>
                        <a:cs typeface="Calibri" charset="0"/>
                      </a:endParaRPr>
                    </a:p>
                    <a:p>
                      <a:pPr indent="0" marL="0">
                        <a:buNone/>
                      </a:pPr>
                      <a:r>
                        <a:rPr lang="en-US" sz="1000" b="1" dirty="0">
                          <a:solidFill>
                            <a:srgbClr val="1B2127"/>
                          </a:solidFill>
                          <a:latin typeface="Calibri" pitchFamily="34" charset="0"/>
                          <a:ea typeface="Calibri" pitchFamily="34" charset="-122"/>
                          <a:cs typeface="Calibri" pitchFamily="34" charset="-120"/>
                        </a:rPr>
                        <a:t>RWTH Aachen</a:t>
                      </a:r>
                      <a:endParaRPr lang="en-US" sz="1000" dirty="0">
                        <a:latin typeface="Calibri" charset="0"/>
                        <a:ea typeface="Calibri" charset="0"/>
                        <a:cs typeface="Calibri" charset="0"/>
                      </a:endParaRPr>
                    </a:p>
                  </a:txBody>
                  <a:tcPr marL="91440" marR="91440" marT="45720" marB="45720" anchor="t">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5E6C75"/>
                          </a:solidFill>
                          <a:latin typeface="Calibri" pitchFamily="34" charset="0"/>
                          <a:ea typeface="Calibri" pitchFamily="34" charset="-122"/>
                          <a:cs typeface="Calibri" pitchFamily="34" charset="-120"/>
                        </a:rPr>
                        <a:t>Safe RL on a real single-cylinder HCCI testbench, with kNN safety monitoring. Constrained RL on engine hardware works.</a:t>
                      </a:r>
                      <a:endParaRPr lang="en-US" sz="1000" dirty="0">
                        <a:latin typeface="Calibri" charset="0"/>
                        <a:ea typeface="Calibri" charset="0"/>
                        <a:cs typeface="Calibri" charset="0"/>
                      </a:endParaRPr>
                    </a:p>
                  </a:txBody>
                  <a:tcPr marL="91440" marR="91440" marT="45720" marB="45720" anchor="t">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1B2127"/>
                          </a:solidFill>
                          <a:latin typeface="Calibri" pitchFamily="34" charset="0"/>
                          <a:ea typeface="Calibri" pitchFamily="34" charset="-122"/>
                          <a:cs typeface="Calibri" pitchFamily="34" charset="-120"/>
                        </a:rPr>
                        <a:t>The agent observes the current cycle only. The closest hardware-validated work explicitly has no preview.</a:t>
                      </a:r>
                      <a:endParaRPr lang="en-US" sz="1000" dirty="0">
                        <a:latin typeface="Calibri" charset="0"/>
                        <a:ea typeface="Calibri" charset="0"/>
                        <a:cs typeface="Calibri" charset="0"/>
                      </a:endParaRPr>
                    </a:p>
                  </a:txBody>
                  <a:tcPr marL="91440" marR="91440" marT="45720" marB="45720" anchor="t">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r>
              <a:tr h="566928">
                <a:tc>
                  <a:txBody>
                    <a:bodyPr/>
                    <a:lstStyle/>
                    <a:p>
                      <a:pPr indent="0" marL="0">
                        <a:buNone/>
                      </a:pPr>
                      <a:r>
                        <a:rPr lang="en-US" sz="1000" b="1" dirty="0">
                          <a:solidFill>
                            <a:srgbClr val="1B2127"/>
                          </a:solidFill>
                          <a:latin typeface="Calibri" pitchFamily="34" charset="0"/>
                          <a:ea typeface="Calibri" pitchFamily="34" charset="-122"/>
                          <a:cs typeface="Calibri" pitchFamily="34" charset="-120"/>
                        </a:rPr>
                        <a:t>Maldonado et al., 2024</a:t>
                      </a:r>
                      <a:endParaRPr lang="en-US" sz="1000" dirty="0">
                        <a:latin typeface="Calibri" charset="0"/>
                        <a:ea typeface="Calibri" charset="0"/>
                        <a:cs typeface="Calibri" charset="0"/>
                      </a:endParaRPr>
                    </a:p>
                    <a:p>
                      <a:pPr indent="0" marL="0">
                        <a:buNone/>
                      </a:pPr>
                      <a:r>
                        <a:rPr lang="en-US" sz="1000" b="1" dirty="0">
                          <a:solidFill>
                            <a:srgbClr val="1B2127"/>
                          </a:solidFill>
                          <a:latin typeface="Calibri" pitchFamily="34" charset="0"/>
                          <a:ea typeface="Calibri" pitchFamily="34" charset="-122"/>
                          <a:cs typeface="Calibri" pitchFamily="34" charset="-120"/>
                        </a:rPr>
                        <a:t>Int. J. Engine Research 25(6)</a:t>
                      </a:r>
                      <a:endParaRPr lang="en-US" sz="1000" dirty="0">
                        <a:latin typeface="Calibri" charset="0"/>
                        <a:ea typeface="Calibri" charset="0"/>
                        <a:cs typeface="Calibri" charset="0"/>
                      </a:endParaRPr>
                    </a:p>
                  </a:txBody>
                  <a:tcPr marL="91440" marR="91440" marT="45720" marB="45720" anchor="t">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5E6C75"/>
                          </a:solidFill>
                          <a:latin typeface="Calibri" pitchFamily="34" charset="0"/>
                          <a:ea typeface="Calibri" pitchFamily="34" charset="-122"/>
                          <a:cs typeface="Calibri" pitchFamily="34" charset="-120"/>
                        </a:rPr>
                        <a:t>RL applied to dilute combustion control raises fuel efficiency on a real engine.</a:t>
                      </a:r>
                      <a:endParaRPr lang="en-US" sz="1000" dirty="0">
                        <a:latin typeface="Calibri" charset="0"/>
                        <a:ea typeface="Calibri" charset="0"/>
                        <a:cs typeface="Calibri" charset="0"/>
                      </a:endParaRPr>
                    </a:p>
                  </a:txBody>
                  <a:tcPr marL="91440" marR="91440" marT="45720" marB="45720" anchor="t">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1B2127"/>
                          </a:solidFill>
                          <a:latin typeface="Calibri" pitchFamily="34" charset="0"/>
                          <a:ea typeface="Calibri" pitchFamily="34" charset="-122"/>
                          <a:cs typeface="Calibri" pitchFamily="34" charset="-120"/>
                        </a:rPr>
                        <a:t>Optimises a controller. Does not ask what the information feeding it is worth.</a:t>
                      </a:r>
                      <a:endParaRPr lang="en-US" sz="1000" dirty="0">
                        <a:latin typeface="Calibri" charset="0"/>
                        <a:ea typeface="Calibri" charset="0"/>
                        <a:cs typeface="Calibri" charset="0"/>
                      </a:endParaRPr>
                    </a:p>
                  </a:txBody>
                  <a:tcPr marL="91440" marR="91440" marT="45720" marB="45720" anchor="t">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r>
              <a:tr h="566928">
                <a:tc>
                  <a:txBody>
                    <a:bodyPr/>
                    <a:lstStyle/>
                    <a:p>
                      <a:pPr indent="0" marL="0">
                        <a:buNone/>
                      </a:pPr>
                      <a:r>
                        <a:rPr lang="en-US" sz="1000" b="1" dirty="0">
                          <a:solidFill>
                            <a:srgbClr val="1B2127"/>
                          </a:solidFill>
                          <a:latin typeface="Calibri" pitchFamily="34" charset="0"/>
                          <a:ea typeface="Calibri" pitchFamily="34" charset="-122"/>
                          <a:cs typeface="Calibri" pitchFamily="34" charset="-120"/>
                        </a:rPr>
                        <a:t>ARAI Journal, 2026</a:t>
                      </a:r>
                      <a:endParaRPr lang="en-US" sz="1000" dirty="0">
                        <a:latin typeface="Calibri" charset="0"/>
                        <a:ea typeface="Calibri" charset="0"/>
                        <a:cs typeface="Calibri" charset="0"/>
                      </a:endParaRPr>
                    </a:p>
                    <a:p>
                      <a:pPr indent="0" marL="0">
                        <a:buNone/>
                      </a:pPr>
                      <a:r>
                        <a:rPr lang="en-US" sz="1000" b="1" dirty="0">
                          <a:solidFill>
                            <a:srgbClr val="1B2127"/>
                          </a:solidFill>
                          <a:latin typeface="Calibri" pitchFamily="34" charset="0"/>
                          <a:ea typeface="Calibri" pitchFamily="34" charset="-122"/>
                          <a:cs typeface="Calibri" pitchFamily="34" charset="-120"/>
                        </a:rPr>
                        <a:t>survey</a:t>
                      </a:r>
                      <a:endParaRPr lang="en-US" sz="1000" dirty="0">
                        <a:latin typeface="Calibri" charset="0"/>
                        <a:ea typeface="Calibri" charset="0"/>
                        <a:cs typeface="Calibri" charset="0"/>
                      </a:endParaRPr>
                    </a:p>
                  </a:txBody>
                  <a:tcPr marL="91440" marR="91440" marT="45720" marB="45720" anchor="t">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5E6C75"/>
                          </a:solidFill>
                          <a:latin typeface="Calibri" pitchFamily="34" charset="0"/>
                          <a:ea typeface="Calibri" pitchFamily="34" charset="-122"/>
                          <a:cs typeface="Calibri" pitchFamily="34" charset="-120"/>
                        </a:rPr>
                        <a:t>Surveys machine-learning methods for engine calibration and real-time control.</a:t>
                      </a:r>
                      <a:endParaRPr lang="en-US" sz="1000" dirty="0">
                        <a:latin typeface="Calibri" charset="0"/>
                        <a:ea typeface="Calibri" charset="0"/>
                        <a:cs typeface="Calibri" charset="0"/>
                      </a:endParaRPr>
                    </a:p>
                  </a:txBody>
                  <a:tcPr marL="91440" marR="91440" marT="45720" marB="45720" anchor="t">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1B2127"/>
                          </a:solidFill>
                          <a:latin typeface="Calibri" pitchFamily="34" charset="0"/>
                          <a:ea typeface="Calibri" pitchFamily="34" charset="-122"/>
                          <a:cs typeface="Calibri" pitchFamily="34" charset="-120"/>
                        </a:rPr>
                        <a:t>No criterion for the value of lookahead appears anywhere in the field it surveys.</a:t>
                      </a:r>
                      <a:endParaRPr lang="en-US" sz="1000" dirty="0">
                        <a:latin typeface="Calibri" charset="0"/>
                        <a:ea typeface="Calibri" charset="0"/>
                        <a:cs typeface="Calibri" charset="0"/>
                      </a:endParaRPr>
                    </a:p>
                  </a:txBody>
                  <a:tcPr marL="91440" marR="91440" marT="45720" marB="45720" anchor="t">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r>
            </a:tbl>
          </a:graphicData>
        </a:graphic>
      </p:graphicFrame>
      <p:sp>
        <p:nvSpPr>
          <p:cNvPr id="5" name="Shape 2"/>
          <p:cNvSpPr/>
          <p:nvPr/>
        </p:nvSpPr>
        <p:spPr>
          <a:xfrm>
            <a:off x="8001000" y="1920240"/>
            <a:ext cx="3611880" cy="3703320"/>
          </a:xfrm>
          <a:prstGeom prst="roundRect">
            <a:avLst>
              <a:gd name="adj" fmla="val 2532"/>
            </a:avLst>
          </a:prstGeom>
          <a:solidFill>
            <a:srgbClr val="1E262D"/>
          </a:solidFill>
          <a:ln w="12700">
            <a:solidFill>
              <a:srgbClr val="2C3841"/>
            </a:solidFill>
            <a:prstDash val="solid"/>
          </a:ln>
        </p:spPr>
      </p:sp>
      <p:sp>
        <p:nvSpPr>
          <p:cNvPr id="6" name="Text 3"/>
          <p:cNvSpPr txBox="1"/>
          <p:nvPr/>
        </p:nvSpPr>
        <p:spPr>
          <a:xfrm>
            <a:off x="8229600" y="2148840"/>
            <a:ext cx="3154680" cy="502920"/>
          </a:xfrm>
          <a:prstGeom prst="rect">
            <a:avLst/>
          </a:prstGeom>
          <a:noFill/>
          <a:ln/>
        </p:spPr>
        <p:txBody>
          <a:bodyPr wrap="square" lIns="0" tIns="0" rIns="0" bIns="0" rtlCol="0" anchor="ctr"/>
          <a:lstStyle/>
          <a:p>
            <a:pPr indent="0" marL="0">
              <a:lnSpc>
                <a:spcPts val="1400"/>
              </a:lnSpc>
              <a:buNone/>
            </a:pPr>
            <a:r>
              <a:rPr lang="en-US" sz="1000" b="1" spc="160" kern="0" dirty="0">
                <a:solidFill>
                  <a:srgbClr val="E8871E"/>
                </a:solidFill>
                <a:latin typeface="Calibri" pitchFamily="34" charset="0"/>
                <a:ea typeface="Calibri" pitchFamily="34" charset="-122"/>
                <a:cs typeface="Calibri" pitchFamily="34" charset="-120"/>
              </a:rPr>
              <a:t>HOW WE DIFFER FROM THE</a:t>
            </a:r>
            <a:endParaRPr lang="en-US" sz="1000" dirty="0"/>
          </a:p>
          <a:p>
            <a:pPr indent="0" marL="0">
              <a:lnSpc>
                <a:spcPts val="1400"/>
              </a:lnSpc>
              <a:buNone/>
            </a:pPr>
            <a:r>
              <a:rPr lang="en-US" sz="1000" b="1" spc="160" kern="0" dirty="0">
                <a:solidFill>
                  <a:srgbClr val="E8871E"/>
                </a:solidFill>
                <a:latin typeface="Calibri" pitchFamily="34" charset="0"/>
                <a:ea typeface="Calibri" pitchFamily="34" charset="-122"/>
                <a:cs typeface="Calibri" pitchFamily="34" charset="-120"/>
              </a:rPr>
              <a:t>NEAREST RESULT</a:t>
            </a:r>
            <a:endParaRPr lang="en-US" sz="1000" dirty="0"/>
          </a:p>
        </p:txBody>
      </p:sp>
      <p:sp>
        <p:nvSpPr>
          <p:cNvPr id="7" name="Text 4"/>
          <p:cNvSpPr txBox="1"/>
          <p:nvPr/>
        </p:nvSpPr>
        <p:spPr>
          <a:xfrm>
            <a:off x="8229600" y="2788920"/>
            <a:ext cx="3154680" cy="219456"/>
          </a:xfrm>
          <a:prstGeom prst="rect">
            <a:avLst/>
          </a:prstGeom>
          <a:noFill/>
          <a:ln/>
        </p:spPr>
        <p:txBody>
          <a:bodyPr wrap="square" lIns="0" tIns="0" rIns="0" bIns="0" rtlCol="0" anchor="ctr"/>
          <a:lstStyle/>
          <a:p>
            <a:pPr indent="0" marL="0">
              <a:buNone/>
            </a:pPr>
            <a:r>
              <a:rPr lang="en-US" sz="1000" b="1" spc="140" kern="0" dirty="0">
                <a:solidFill>
                  <a:srgbClr val="9AA7AE"/>
                </a:solidFill>
                <a:latin typeface="Calibri" pitchFamily="34" charset="0"/>
                <a:ea typeface="Calibri" pitchFamily="34" charset="-122"/>
                <a:cs typeface="Calibri" pitchFamily="34" charset="-120"/>
              </a:rPr>
              <a:t>Systems</a:t>
            </a:r>
            <a:endParaRPr lang="en-US" sz="1000" dirty="0"/>
          </a:p>
        </p:txBody>
      </p:sp>
      <p:sp>
        <p:nvSpPr>
          <p:cNvPr id="8" name="Text 5"/>
          <p:cNvSpPr txBox="1"/>
          <p:nvPr/>
        </p:nvSpPr>
        <p:spPr>
          <a:xfrm>
            <a:off x="8229600" y="3008376"/>
            <a:ext cx="3154680" cy="274320"/>
          </a:xfrm>
          <a:prstGeom prst="rect">
            <a:avLst/>
          </a:prstGeom>
          <a:noFill/>
          <a:ln/>
        </p:spPr>
        <p:txBody>
          <a:bodyPr wrap="square" lIns="0" tIns="0" rIns="0" bIns="0" rtlCol="0" anchor="ctr"/>
          <a:lstStyle/>
          <a:p>
            <a:pPr indent="0" marL="0">
              <a:buNone/>
            </a:pPr>
            <a:r>
              <a:rPr lang="en-US" sz="1150" dirty="0">
                <a:solidFill>
                  <a:srgbClr val="8FA0AA"/>
                </a:solidFill>
                <a:latin typeface="Calibri" pitchFamily="34" charset="0"/>
                <a:ea typeface="Calibri" pitchFamily="34" charset="-122"/>
                <a:cs typeface="Calibri" pitchFamily="34" charset="-120"/>
              </a:rPr>
              <a:t>Liu &amp; Seiler:  Linear, time-invariant</a:t>
            </a:r>
            <a:endParaRPr lang="en-US" sz="1150" dirty="0"/>
          </a:p>
        </p:txBody>
      </p:sp>
      <p:sp>
        <p:nvSpPr>
          <p:cNvPr id="9" name="Text 6"/>
          <p:cNvSpPr txBox="1"/>
          <p:nvPr/>
        </p:nvSpPr>
        <p:spPr>
          <a:xfrm>
            <a:off x="8229600" y="3282696"/>
            <a:ext cx="315468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Ours:  Nonlinear, hard constraints</a:t>
            </a:r>
            <a:endParaRPr lang="en-US" sz="1150" dirty="0"/>
          </a:p>
        </p:txBody>
      </p:sp>
      <p:sp>
        <p:nvSpPr>
          <p:cNvPr id="10" name="Text 7"/>
          <p:cNvSpPr txBox="1"/>
          <p:nvPr/>
        </p:nvSpPr>
        <p:spPr>
          <a:xfrm>
            <a:off x="8229600" y="3657600"/>
            <a:ext cx="3154680" cy="219456"/>
          </a:xfrm>
          <a:prstGeom prst="rect">
            <a:avLst/>
          </a:prstGeom>
          <a:noFill/>
          <a:ln/>
        </p:spPr>
        <p:txBody>
          <a:bodyPr wrap="square" lIns="0" tIns="0" rIns="0" bIns="0" rtlCol="0" anchor="ctr"/>
          <a:lstStyle/>
          <a:p>
            <a:pPr indent="0" marL="0">
              <a:buNone/>
            </a:pPr>
            <a:r>
              <a:rPr lang="en-US" sz="1000" b="1" spc="140" kern="0" dirty="0">
                <a:solidFill>
                  <a:srgbClr val="9AA7AE"/>
                </a:solidFill>
                <a:latin typeface="Calibri" pitchFamily="34" charset="0"/>
                <a:ea typeface="Calibri" pitchFamily="34" charset="-122"/>
                <a:cs typeface="Calibri" pitchFamily="34" charset="-120"/>
              </a:rPr>
              <a:t>Claim</a:t>
            </a:r>
            <a:endParaRPr lang="en-US" sz="1000" dirty="0"/>
          </a:p>
        </p:txBody>
      </p:sp>
      <p:sp>
        <p:nvSpPr>
          <p:cNvPr id="11" name="Text 8"/>
          <p:cNvSpPr txBox="1"/>
          <p:nvPr/>
        </p:nvSpPr>
        <p:spPr>
          <a:xfrm>
            <a:off x="8229600" y="3877056"/>
            <a:ext cx="3154680" cy="274320"/>
          </a:xfrm>
          <a:prstGeom prst="rect">
            <a:avLst/>
          </a:prstGeom>
          <a:noFill/>
          <a:ln/>
        </p:spPr>
        <p:txBody>
          <a:bodyPr wrap="square" lIns="0" tIns="0" rIns="0" bIns="0" rtlCol="0" anchor="ctr"/>
          <a:lstStyle/>
          <a:p>
            <a:pPr indent="0" marL="0">
              <a:buNone/>
            </a:pPr>
            <a:r>
              <a:rPr lang="en-US" sz="1150" dirty="0">
                <a:solidFill>
                  <a:srgbClr val="8FA0AA"/>
                </a:solidFill>
                <a:latin typeface="Calibri" pitchFamily="34" charset="0"/>
                <a:ea typeface="Calibri" pitchFamily="34" charset="-122"/>
                <a:cs typeface="Calibri" pitchFamily="34" charset="-120"/>
              </a:rPr>
              <a:t>Liu &amp; Seiler:  Convergence exists</a:t>
            </a:r>
            <a:endParaRPr lang="en-US" sz="1150" dirty="0"/>
          </a:p>
        </p:txBody>
      </p:sp>
      <p:sp>
        <p:nvSpPr>
          <p:cNvPr id="12" name="Text 9"/>
          <p:cNvSpPr txBox="1"/>
          <p:nvPr/>
        </p:nvSpPr>
        <p:spPr>
          <a:xfrm>
            <a:off x="8229600" y="4151376"/>
            <a:ext cx="315468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Ours:  Magnitude at a given horizon</a:t>
            </a:r>
            <a:endParaRPr lang="en-US" sz="1150" dirty="0"/>
          </a:p>
        </p:txBody>
      </p:sp>
      <p:sp>
        <p:nvSpPr>
          <p:cNvPr id="13" name="Text 10"/>
          <p:cNvSpPr txBox="1"/>
          <p:nvPr/>
        </p:nvSpPr>
        <p:spPr>
          <a:xfrm>
            <a:off x="8229600" y="4526280"/>
            <a:ext cx="3154680" cy="219456"/>
          </a:xfrm>
          <a:prstGeom prst="rect">
            <a:avLst/>
          </a:prstGeom>
          <a:noFill/>
          <a:ln/>
        </p:spPr>
        <p:txBody>
          <a:bodyPr wrap="square" lIns="0" tIns="0" rIns="0" bIns="0" rtlCol="0" anchor="ctr"/>
          <a:lstStyle/>
          <a:p>
            <a:pPr indent="0" marL="0">
              <a:buNone/>
            </a:pPr>
            <a:r>
              <a:rPr lang="en-US" sz="1000" b="1" spc="140" kern="0" dirty="0">
                <a:solidFill>
                  <a:srgbClr val="9AA7AE"/>
                </a:solidFill>
                <a:latin typeface="Calibri" pitchFamily="34" charset="0"/>
                <a:ea typeface="Calibri" pitchFamily="34" charset="-122"/>
                <a:cs typeface="Calibri" pitchFamily="34" charset="-120"/>
              </a:rPr>
              <a:t>Evidence</a:t>
            </a:r>
            <a:endParaRPr lang="en-US" sz="1000" dirty="0"/>
          </a:p>
        </p:txBody>
      </p:sp>
      <p:sp>
        <p:nvSpPr>
          <p:cNvPr id="14" name="Text 11"/>
          <p:cNvSpPr txBox="1"/>
          <p:nvPr/>
        </p:nvSpPr>
        <p:spPr>
          <a:xfrm>
            <a:off x="8229600" y="4745736"/>
            <a:ext cx="3154680" cy="274320"/>
          </a:xfrm>
          <a:prstGeom prst="rect">
            <a:avLst/>
          </a:prstGeom>
          <a:noFill/>
          <a:ln/>
        </p:spPr>
        <p:txBody>
          <a:bodyPr wrap="square" lIns="0" tIns="0" rIns="0" bIns="0" rtlCol="0" anchor="ctr"/>
          <a:lstStyle/>
          <a:p>
            <a:pPr indent="0" marL="0">
              <a:buNone/>
            </a:pPr>
            <a:r>
              <a:rPr lang="en-US" sz="1150" dirty="0">
                <a:solidFill>
                  <a:srgbClr val="8FA0AA"/>
                </a:solidFill>
                <a:latin typeface="Calibri" pitchFamily="34" charset="0"/>
                <a:ea typeface="Calibri" pitchFamily="34" charset="-122"/>
                <a:cs typeface="Calibri" pitchFamily="34" charset="-120"/>
              </a:rPr>
              <a:t>Liu &amp; Seiler:  One numerical example</a:t>
            </a:r>
            <a:endParaRPr lang="en-US" sz="1150" dirty="0"/>
          </a:p>
        </p:txBody>
      </p:sp>
      <p:sp>
        <p:nvSpPr>
          <p:cNvPr id="15" name="Text 12"/>
          <p:cNvSpPr txBox="1"/>
          <p:nvPr/>
        </p:nvSpPr>
        <p:spPr>
          <a:xfrm>
            <a:off x="8229600" y="5020056"/>
            <a:ext cx="315468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Ours:  Two validated plants</a:t>
            </a:r>
            <a:endParaRPr lang="en-US" sz="1150" dirty="0"/>
          </a:p>
        </p:txBody>
      </p:sp>
      <p:sp>
        <p:nvSpPr>
          <p:cNvPr id="16" name="Text 13"/>
          <p:cNvSpPr txBox="1"/>
          <p:nvPr/>
        </p:nvSpPr>
        <p:spPr>
          <a:xfrm>
            <a:off x="548640" y="5943600"/>
            <a:ext cx="11064240" cy="384048"/>
          </a:xfrm>
          <a:prstGeom prst="rect">
            <a:avLst/>
          </a:prstGeom>
          <a:noFill/>
          <a:ln/>
        </p:spPr>
        <p:txBody>
          <a:bodyPr wrap="square" lIns="0" tIns="0" rIns="0" bIns="0" rtlCol="0" anchor="ctr"/>
          <a:lstStyle/>
          <a:p>
            <a:pPr indent="0" marL="0">
              <a:buNone/>
            </a:pPr>
            <a:r>
              <a:rPr lang="en-US" sz="1150" dirty="0">
                <a:solidFill>
                  <a:srgbClr val="5E6C75"/>
                </a:solidFill>
                <a:latin typeface="Calibri" pitchFamily="34" charset="0"/>
                <a:ea typeface="Calibri" pitchFamily="34" charset="-122"/>
                <a:cs typeface="Calibri" pitchFamily="34" charset="-120"/>
              </a:rPr>
              <a:t>We also state what our literature search did not cover: process control, robotics, building HVAC and power systems, where an equivalent criterion may exist under different vocabulary.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A1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ctr"/>
          <a:lstStyle/>
          <a:p>
            <a:pPr indent="0" marL="0">
              <a:buNone/>
            </a:pPr>
            <a:r>
              <a:rPr lang="en-US" sz="1100" b="1" spc="240" kern="0" dirty="0">
                <a:solidFill>
                  <a:srgbClr val="E8871E"/>
                </a:solidFill>
                <a:latin typeface="Calibri" pitchFamily="34" charset="0"/>
                <a:ea typeface="Calibri" pitchFamily="34" charset="-122"/>
                <a:cs typeface="Calibri" pitchFamily="34" charset="-120"/>
              </a:rPr>
              <a:t>05  ·  DELIVERABLES  &amp;  CHALLENGES</a:t>
            </a:r>
            <a:endParaRPr lang="en-US" sz="1100" dirty="0"/>
          </a:p>
        </p:txBody>
      </p:sp>
      <p:sp>
        <p:nvSpPr>
          <p:cNvPr id="3" name="Text 1"/>
          <p:cNvSpPr txBox="1"/>
          <p:nvPr/>
        </p:nvSpPr>
        <p:spPr>
          <a:xfrm>
            <a:off x="548640" y="731520"/>
            <a:ext cx="10515600" cy="548640"/>
          </a:xfrm>
          <a:prstGeom prst="rect">
            <a:avLst/>
          </a:prstGeom>
          <a:noFill/>
          <a:ln/>
        </p:spPr>
        <p:txBody>
          <a:bodyPr wrap="square" lIns="0" tIns="0" rIns="0" bIns="0" rtlCol="0" anchor="ctr"/>
          <a:lstStyle/>
          <a:p>
            <a:pPr indent="0" marL="0">
              <a:lnSpc>
                <a:spcPts val="3400"/>
              </a:lnSpc>
              <a:buNone/>
            </a:pPr>
            <a:r>
              <a:rPr lang="en-US" sz="2800" b="1" dirty="0">
                <a:solidFill>
                  <a:srgbClr val="FFFFFF"/>
                </a:solidFill>
                <a:latin typeface="Cambria" pitchFamily="34" charset="0"/>
                <a:ea typeface="Cambria" pitchFamily="34" charset="-122"/>
                <a:cs typeface="Cambria" pitchFamily="34" charset="-120"/>
              </a:rPr>
              <a:t>What we will hand in, and what could go wrong</a:t>
            </a:r>
            <a:endParaRPr lang="en-US" sz="2800" dirty="0"/>
          </a:p>
        </p:txBody>
      </p:sp>
      <p:sp>
        <p:nvSpPr>
          <p:cNvPr id="4" name="Text 2"/>
          <p:cNvSpPr txBox="1"/>
          <p:nvPr/>
        </p:nvSpPr>
        <p:spPr>
          <a:xfrm>
            <a:off x="548640" y="1481328"/>
            <a:ext cx="5212080" cy="256032"/>
          </a:xfrm>
          <a:prstGeom prst="rect">
            <a:avLst/>
          </a:prstGeom>
          <a:noFill/>
          <a:ln/>
        </p:spPr>
        <p:txBody>
          <a:bodyPr wrap="square" lIns="0" tIns="0" rIns="0" bIns="0" rtlCol="0" anchor="ctr"/>
          <a:lstStyle/>
          <a:p>
            <a:pPr indent="0" marL="0">
              <a:buNone/>
            </a:pPr>
            <a:r>
              <a:rPr lang="en-US" sz="1050" b="1" spc="200" kern="0" dirty="0">
                <a:solidFill>
                  <a:srgbClr val="E8871E"/>
                </a:solidFill>
                <a:latin typeface="Calibri" pitchFamily="34" charset="0"/>
                <a:ea typeface="Calibri" pitchFamily="34" charset="-122"/>
                <a:cs typeface="Calibri" pitchFamily="34" charset="-120"/>
              </a:rPr>
              <a:t>DELIVERABLES</a:t>
            </a:r>
            <a:endParaRPr lang="en-US" sz="1050" dirty="0"/>
          </a:p>
        </p:txBody>
      </p:sp>
      <p:sp>
        <p:nvSpPr>
          <p:cNvPr id="5" name="Shape 3"/>
          <p:cNvSpPr/>
          <p:nvPr/>
        </p:nvSpPr>
        <p:spPr>
          <a:xfrm>
            <a:off x="548640" y="1810512"/>
            <a:ext cx="5212080" cy="914400"/>
          </a:xfrm>
          <a:prstGeom prst="roundRect">
            <a:avLst>
              <a:gd name="adj" fmla="val 8000"/>
            </a:avLst>
          </a:prstGeom>
          <a:solidFill>
            <a:srgbClr val="1E262D"/>
          </a:solidFill>
          <a:ln w="12700">
            <a:solidFill>
              <a:srgbClr val="2C3841"/>
            </a:solidFill>
            <a:prstDash val="solid"/>
          </a:ln>
        </p:spPr>
      </p:sp>
      <p:sp>
        <p:nvSpPr>
          <p:cNvPr id="6" name="Text 4"/>
          <p:cNvSpPr txBox="1"/>
          <p:nvPr/>
        </p:nvSpPr>
        <p:spPr>
          <a:xfrm>
            <a:off x="777240" y="1938528"/>
            <a:ext cx="47548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Validated engine simulator</a:t>
            </a:r>
            <a:endParaRPr lang="en-US" sz="1400" dirty="0"/>
          </a:p>
        </p:txBody>
      </p:sp>
      <p:sp>
        <p:nvSpPr>
          <p:cNvPr id="7" name="Text 5"/>
          <p:cNvSpPr txBox="1"/>
          <p:nvPr/>
        </p:nvSpPr>
        <p:spPr>
          <a:xfrm>
            <a:off x="777240" y="2212848"/>
            <a:ext cx="4754880" cy="438912"/>
          </a:xfrm>
          <a:prstGeom prst="rect">
            <a:avLst/>
          </a:prstGeom>
          <a:noFill/>
          <a:ln/>
        </p:spPr>
        <p:txBody>
          <a:bodyPr wrap="square" lIns="0" tIns="0" rIns="0" bIns="0" rtlCol="0" anchor="ctr"/>
          <a:lstStyle/>
          <a:p>
            <a:pPr indent="0" marL="0">
              <a:lnSpc>
                <a:spcPts val="1400"/>
              </a:lnSpc>
              <a:buNone/>
            </a:pPr>
            <a:r>
              <a:rPr lang="en-US" sz="1150" dirty="0">
                <a:solidFill>
                  <a:srgbClr val="9AA7AE"/>
                </a:solidFill>
                <a:latin typeface="Calibri" pitchFamily="34" charset="0"/>
                <a:ea typeface="Calibri" pitchFamily="34" charset="-122"/>
                <a:cs typeface="Calibri" pitchFamily="34" charset="-120"/>
              </a:rPr>
              <a:t>Eleven quantities against published bands, plus 22 operating points from 168 minutes of real driving.</a:t>
            </a:r>
            <a:endParaRPr lang="en-US" sz="1150" dirty="0"/>
          </a:p>
        </p:txBody>
      </p:sp>
      <p:sp>
        <p:nvSpPr>
          <p:cNvPr id="8" name="Shape 6"/>
          <p:cNvSpPr/>
          <p:nvPr/>
        </p:nvSpPr>
        <p:spPr>
          <a:xfrm>
            <a:off x="548640" y="2862072"/>
            <a:ext cx="5212080" cy="914400"/>
          </a:xfrm>
          <a:prstGeom prst="roundRect">
            <a:avLst>
              <a:gd name="adj" fmla="val 8000"/>
            </a:avLst>
          </a:prstGeom>
          <a:solidFill>
            <a:srgbClr val="1E262D"/>
          </a:solidFill>
          <a:ln w="12700">
            <a:solidFill>
              <a:srgbClr val="2C3841"/>
            </a:solidFill>
            <a:prstDash val="solid"/>
          </a:ln>
        </p:spPr>
      </p:sp>
      <p:sp>
        <p:nvSpPr>
          <p:cNvPr id="9" name="Text 7"/>
          <p:cNvSpPr txBox="1"/>
          <p:nvPr/>
        </p:nvSpPr>
        <p:spPr>
          <a:xfrm>
            <a:off x="777240" y="2990088"/>
            <a:ext cx="47548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Constrained RL agent + 3 baselines</a:t>
            </a:r>
            <a:endParaRPr lang="en-US" sz="1400" dirty="0"/>
          </a:p>
        </p:txBody>
      </p:sp>
      <p:sp>
        <p:nvSpPr>
          <p:cNvPr id="10" name="Text 8"/>
          <p:cNvSpPr txBox="1"/>
          <p:nvPr/>
        </p:nvSpPr>
        <p:spPr>
          <a:xfrm>
            <a:off x="777240" y="3264408"/>
            <a:ext cx="4754880" cy="438912"/>
          </a:xfrm>
          <a:prstGeom prst="rect">
            <a:avLst/>
          </a:prstGeom>
          <a:noFill/>
          <a:ln/>
        </p:spPr>
        <p:txBody>
          <a:bodyPr wrap="square" lIns="0" tIns="0" rIns="0" bIns="0" rtlCol="0" anchor="ctr"/>
          <a:lstStyle/>
          <a:p>
            <a:pPr indent="0" marL="0">
              <a:lnSpc>
                <a:spcPts val="1400"/>
              </a:lnSpc>
              <a:buNone/>
            </a:pPr>
            <a:r>
              <a:rPr lang="en-US" sz="1150" dirty="0">
                <a:solidFill>
                  <a:srgbClr val="9AA7AE"/>
                </a:solidFill>
                <a:latin typeface="Calibri" pitchFamily="34" charset="0"/>
                <a:ea typeface="Calibri" pitchFamily="34" charset="-122"/>
                <a:cs typeface="Calibri" pitchFamily="34" charset="-120"/>
              </a:rPr>
              <a:t>Stock, reactive rule, and the same agent blinded — the ablation that isolates the cause.</a:t>
            </a:r>
            <a:endParaRPr lang="en-US" sz="1150" dirty="0"/>
          </a:p>
        </p:txBody>
      </p:sp>
      <p:sp>
        <p:nvSpPr>
          <p:cNvPr id="11" name="Shape 9"/>
          <p:cNvSpPr/>
          <p:nvPr/>
        </p:nvSpPr>
        <p:spPr>
          <a:xfrm>
            <a:off x="548640" y="3913632"/>
            <a:ext cx="5212080" cy="914400"/>
          </a:xfrm>
          <a:prstGeom prst="roundRect">
            <a:avLst>
              <a:gd name="adj" fmla="val 8000"/>
            </a:avLst>
          </a:prstGeom>
          <a:solidFill>
            <a:srgbClr val="1E262D"/>
          </a:solidFill>
          <a:ln w="12700">
            <a:solidFill>
              <a:srgbClr val="2C3841"/>
            </a:solidFill>
            <a:prstDash val="solid"/>
          </a:ln>
        </p:spPr>
      </p:sp>
      <p:sp>
        <p:nvSpPr>
          <p:cNvPr id="12" name="Text 10"/>
          <p:cNvSpPr txBox="1"/>
          <p:nvPr/>
        </p:nvSpPr>
        <p:spPr>
          <a:xfrm>
            <a:off x="777240" y="4041648"/>
            <a:ext cx="47548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Second plant, unmodified agent</a:t>
            </a:r>
            <a:endParaRPr lang="en-US" sz="1400" dirty="0"/>
          </a:p>
        </p:txBody>
      </p:sp>
      <p:sp>
        <p:nvSpPr>
          <p:cNvPr id="13" name="Text 11"/>
          <p:cNvSpPr txBox="1"/>
          <p:nvPr/>
        </p:nvSpPr>
        <p:spPr>
          <a:xfrm>
            <a:off x="777240" y="4315968"/>
            <a:ext cx="4754880" cy="438912"/>
          </a:xfrm>
          <a:prstGeom prst="rect">
            <a:avLst/>
          </a:prstGeom>
          <a:noFill/>
          <a:ln/>
        </p:spPr>
        <p:txBody>
          <a:bodyPr wrap="square" lIns="0" tIns="0" rIns="0" bIns="0" rtlCol="0" anchor="ctr"/>
          <a:lstStyle/>
          <a:p>
            <a:pPr indent="0" marL="0">
              <a:lnSpc>
                <a:spcPts val="1400"/>
              </a:lnSpc>
              <a:buNone/>
            </a:pPr>
            <a:r>
              <a:rPr lang="en-US" sz="1150" dirty="0">
                <a:solidFill>
                  <a:srgbClr val="9AA7AE"/>
                </a:solidFill>
                <a:latin typeface="Calibri" pitchFamily="34" charset="0"/>
                <a:ea typeface="Calibri" pitchFamily="34" charset="-122"/>
                <a:cs typeface="Calibri" pitchFamily="34" charset="-120"/>
              </a:rPr>
              <a:t>An EV battery pack driven by identical agent code.</a:t>
            </a:r>
            <a:endParaRPr lang="en-US" sz="1150" dirty="0"/>
          </a:p>
        </p:txBody>
      </p:sp>
      <p:sp>
        <p:nvSpPr>
          <p:cNvPr id="14" name="Shape 12"/>
          <p:cNvSpPr/>
          <p:nvPr/>
        </p:nvSpPr>
        <p:spPr>
          <a:xfrm>
            <a:off x="548640" y="4965192"/>
            <a:ext cx="5212080" cy="914400"/>
          </a:xfrm>
          <a:prstGeom prst="roundRect">
            <a:avLst>
              <a:gd name="adj" fmla="val 8000"/>
            </a:avLst>
          </a:prstGeom>
          <a:solidFill>
            <a:srgbClr val="1E262D"/>
          </a:solidFill>
          <a:ln w="12700">
            <a:solidFill>
              <a:srgbClr val="2C3841"/>
            </a:solidFill>
            <a:prstDash val="solid"/>
          </a:ln>
        </p:spPr>
      </p:sp>
      <p:sp>
        <p:nvSpPr>
          <p:cNvPr id="15" name="Text 13"/>
          <p:cNvSpPr txBox="1"/>
          <p:nvPr/>
        </p:nvSpPr>
        <p:spPr>
          <a:xfrm>
            <a:off x="777240" y="5093208"/>
            <a:ext cx="47548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H/τ figure</a:t>
            </a:r>
            <a:endParaRPr lang="en-US" sz="1400" dirty="0"/>
          </a:p>
        </p:txBody>
      </p:sp>
      <p:sp>
        <p:nvSpPr>
          <p:cNvPr id="16" name="Text 14"/>
          <p:cNvSpPr txBox="1"/>
          <p:nvPr/>
        </p:nvSpPr>
        <p:spPr>
          <a:xfrm>
            <a:off x="777240" y="5367528"/>
            <a:ext cx="4754880" cy="438912"/>
          </a:xfrm>
          <a:prstGeom prst="rect">
            <a:avLst/>
          </a:prstGeom>
          <a:noFill/>
          <a:ln/>
        </p:spPr>
        <p:txBody>
          <a:bodyPr wrap="square" lIns="0" tIns="0" rIns="0" bIns="0" rtlCol="0" anchor="ctr"/>
          <a:lstStyle/>
          <a:p>
            <a:pPr indent="0" marL="0">
              <a:lnSpc>
                <a:spcPts val="1400"/>
              </a:lnSpc>
              <a:buNone/>
            </a:pPr>
            <a:r>
              <a:rPr lang="en-US" sz="1150" dirty="0">
                <a:solidFill>
                  <a:srgbClr val="9AA7AE"/>
                </a:solidFill>
                <a:latin typeface="Calibri" pitchFamily="34" charset="0"/>
                <a:ea typeface="Calibri" pitchFamily="34" charset="-122"/>
                <a:cs typeface="Calibri" pitchFamily="34" charset="-120"/>
              </a:rPr>
              <a:t>Preview value against the ratio, both plants on one set of axes.</a:t>
            </a:r>
            <a:endParaRPr lang="en-US" sz="1150" dirty="0"/>
          </a:p>
        </p:txBody>
      </p:sp>
      <p:sp>
        <p:nvSpPr>
          <p:cNvPr id="17" name="Text 15"/>
          <p:cNvSpPr txBox="1"/>
          <p:nvPr/>
        </p:nvSpPr>
        <p:spPr>
          <a:xfrm>
            <a:off x="6355080" y="1481328"/>
            <a:ext cx="5257800" cy="256032"/>
          </a:xfrm>
          <a:prstGeom prst="rect">
            <a:avLst/>
          </a:prstGeom>
          <a:noFill/>
          <a:ln/>
        </p:spPr>
        <p:txBody>
          <a:bodyPr wrap="square" lIns="0" tIns="0" rIns="0" bIns="0" rtlCol="0" anchor="ctr"/>
          <a:lstStyle/>
          <a:p>
            <a:pPr indent="0" marL="0">
              <a:buNone/>
            </a:pPr>
            <a:r>
              <a:rPr lang="en-US" sz="1050" b="1" spc="200" kern="0" dirty="0">
                <a:solidFill>
                  <a:srgbClr val="E8871E"/>
                </a:solidFill>
                <a:latin typeface="Calibri" pitchFamily="34" charset="0"/>
                <a:ea typeface="Calibri" pitchFamily="34" charset="-122"/>
                <a:cs typeface="Calibri" pitchFamily="34" charset="-120"/>
              </a:rPr>
              <a:t>CHALLENGES</a:t>
            </a:r>
            <a:endParaRPr lang="en-US" sz="1050" dirty="0"/>
          </a:p>
        </p:txBody>
      </p:sp>
      <p:sp>
        <p:nvSpPr>
          <p:cNvPr id="18" name="Shape 16"/>
          <p:cNvSpPr/>
          <p:nvPr/>
        </p:nvSpPr>
        <p:spPr>
          <a:xfrm>
            <a:off x="6355080" y="1810512"/>
            <a:ext cx="5257800" cy="1207008"/>
          </a:xfrm>
          <a:prstGeom prst="roundRect">
            <a:avLst>
              <a:gd name="adj" fmla="val 6061"/>
            </a:avLst>
          </a:prstGeom>
          <a:solidFill>
            <a:srgbClr val="1E262D"/>
          </a:solidFill>
          <a:ln w="12700">
            <a:solidFill>
              <a:srgbClr val="2C3841"/>
            </a:solidFill>
            <a:prstDash val="solid"/>
          </a:ln>
        </p:spPr>
      </p:sp>
      <p:sp>
        <p:nvSpPr>
          <p:cNvPr id="19" name="Text 17"/>
          <p:cNvSpPr txBox="1"/>
          <p:nvPr/>
        </p:nvSpPr>
        <p:spPr>
          <a:xfrm>
            <a:off x="6583680" y="1956816"/>
            <a:ext cx="48006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Data cannot reach the boosted region</a:t>
            </a:r>
            <a:endParaRPr lang="en-US" sz="1400" dirty="0"/>
          </a:p>
        </p:txBody>
      </p:sp>
      <p:sp>
        <p:nvSpPr>
          <p:cNvPr id="20" name="Text 18"/>
          <p:cNvSpPr txBox="1"/>
          <p:nvPr/>
        </p:nvSpPr>
        <p:spPr>
          <a:xfrm>
            <a:off x="6583680" y="2231136"/>
            <a:ext cx="4800600" cy="685800"/>
          </a:xfrm>
          <a:prstGeom prst="rect">
            <a:avLst/>
          </a:prstGeom>
          <a:noFill/>
          <a:ln/>
        </p:spPr>
        <p:txBody>
          <a:bodyPr wrap="square" lIns="0" tIns="0" rIns="0" bIns="0" rtlCol="0" anchor="ctr"/>
          <a:lstStyle/>
          <a:p>
            <a:pPr indent="0" marL="0">
              <a:lnSpc>
                <a:spcPts val="1400"/>
              </a:lnSpc>
              <a:buNone/>
            </a:pPr>
            <a:r>
              <a:rPr lang="en-US" sz="1150" dirty="0">
                <a:solidFill>
                  <a:srgbClr val="9AA7AE"/>
                </a:solidFill>
                <a:latin typeface="Calibri" pitchFamily="34" charset="0"/>
                <a:ea typeface="Calibri" pitchFamily="34" charset="-122"/>
                <a:cs typeface="Calibri" pitchFamily="34" charset="-120"/>
              </a:rPr>
              <a:t>Steady points need steady driving. The boosted region is validated against published correlations, and the thesis says so.</a:t>
            </a:r>
            <a:endParaRPr lang="en-US" sz="1150" dirty="0"/>
          </a:p>
        </p:txBody>
      </p:sp>
      <p:sp>
        <p:nvSpPr>
          <p:cNvPr id="21" name="Shape 19"/>
          <p:cNvSpPr/>
          <p:nvPr/>
        </p:nvSpPr>
        <p:spPr>
          <a:xfrm>
            <a:off x="6355080" y="3182112"/>
            <a:ext cx="5257800" cy="1207008"/>
          </a:xfrm>
          <a:prstGeom prst="roundRect">
            <a:avLst>
              <a:gd name="adj" fmla="val 6061"/>
            </a:avLst>
          </a:prstGeom>
          <a:solidFill>
            <a:srgbClr val="1E262D"/>
          </a:solidFill>
          <a:ln w="12700">
            <a:solidFill>
              <a:srgbClr val="2C3841"/>
            </a:solidFill>
            <a:prstDash val="solid"/>
          </a:ln>
        </p:spPr>
      </p:sp>
      <p:sp>
        <p:nvSpPr>
          <p:cNvPr id="22" name="Text 20"/>
          <p:cNvSpPr txBox="1"/>
          <p:nvPr/>
        </p:nvSpPr>
        <p:spPr>
          <a:xfrm>
            <a:off x="6583680" y="3328416"/>
            <a:ext cx="48006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hypothesis we already refuted</a:t>
            </a:r>
            <a:endParaRPr lang="en-US" sz="1400" dirty="0"/>
          </a:p>
        </p:txBody>
      </p:sp>
      <p:sp>
        <p:nvSpPr>
          <p:cNvPr id="23" name="Text 21"/>
          <p:cNvSpPr txBox="1"/>
          <p:nvPr/>
        </p:nvSpPr>
        <p:spPr>
          <a:xfrm>
            <a:off x="6583680" y="3602736"/>
            <a:ext cx="4800600" cy="685800"/>
          </a:xfrm>
          <a:prstGeom prst="rect">
            <a:avLst/>
          </a:prstGeom>
          <a:noFill/>
          <a:ln/>
        </p:spPr>
        <p:txBody>
          <a:bodyPr wrap="square" lIns="0" tIns="0" rIns="0" bIns="0" rtlCol="0" anchor="ctr"/>
          <a:lstStyle/>
          <a:p>
            <a:pPr indent="0" marL="0">
              <a:lnSpc>
                <a:spcPts val="1400"/>
              </a:lnSpc>
              <a:buNone/>
            </a:pPr>
            <a:r>
              <a:rPr lang="en-US" sz="1150" dirty="0">
                <a:solidFill>
                  <a:srgbClr val="9AA7AE"/>
                </a:solidFill>
                <a:latin typeface="Calibri" pitchFamily="34" charset="0"/>
                <a:ea typeface="Calibri" pitchFamily="34" charset="-122"/>
                <a:cs typeface="Calibri" pitchFamily="34" charset="-120"/>
              </a:rPr>
              <a:t>We predicted preview value would grow with cost-function convexity. It fell — 36.8 points to 26.0. It goes in the results chapter as it stands.</a:t>
            </a:r>
            <a:endParaRPr lang="en-US" sz="1150" dirty="0"/>
          </a:p>
        </p:txBody>
      </p:sp>
      <p:sp>
        <p:nvSpPr>
          <p:cNvPr id="24" name="Shape 22"/>
          <p:cNvSpPr/>
          <p:nvPr/>
        </p:nvSpPr>
        <p:spPr>
          <a:xfrm>
            <a:off x="6355080" y="4553712"/>
            <a:ext cx="5257800" cy="1207008"/>
          </a:xfrm>
          <a:prstGeom prst="roundRect">
            <a:avLst>
              <a:gd name="adj" fmla="val 6061"/>
            </a:avLst>
          </a:prstGeom>
          <a:solidFill>
            <a:srgbClr val="1E262D"/>
          </a:solidFill>
          <a:ln w="19050">
            <a:solidFill>
              <a:srgbClr val="E8871E"/>
            </a:solidFill>
            <a:prstDash val="solid"/>
          </a:ln>
        </p:spPr>
      </p:sp>
      <p:sp>
        <p:nvSpPr>
          <p:cNvPr id="25" name="Text 23"/>
          <p:cNvSpPr txBox="1"/>
          <p:nvPr/>
        </p:nvSpPr>
        <p:spPr>
          <a:xfrm>
            <a:off x="6583680" y="4700016"/>
            <a:ext cx="4800600" cy="274320"/>
          </a:xfrm>
          <a:prstGeom prst="rect">
            <a:avLst/>
          </a:prstGeom>
          <a:noFill/>
          <a:ln/>
        </p:spPr>
        <p:txBody>
          <a:bodyPr wrap="square" lIns="0" tIns="0" rIns="0" bIns="0" rtlCol="0" anchor="ctr"/>
          <a:lstStyle/>
          <a:p>
            <a:pPr indent="0" marL="0">
              <a:buNone/>
            </a:pPr>
            <a:r>
              <a:rPr lang="en-US" sz="1400" b="1" dirty="0">
                <a:solidFill>
                  <a:srgbClr val="E8871E"/>
                </a:solidFill>
                <a:latin typeface="Calibri" pitchFamily="34" charset="0"/>
                <a:ea typeface="Calibri" pitchFamily="34" charset="-122"/>
                <a:cs typeface="Calibri" pitchFamily="34" charset="-120"/>
              </a:rPr>
              <a:t>We caught our own largest error</a:t>
            </a:r>
            <a:endParaRPr lang="en-US" sz="1400" dirty="0"/>
          </a:p>
        </p:txBody>
      </p:sp>
      <p:sp>
        <p:nvSpPr>
          <p:cNvPr id="26" name="Text 24"/>
          <p:cNvSpPr txBox="1"/>
          <p:nvPr/>
        </p:nvSpPr>
        <p:spPr>
          <a:xfrm>
            <a:off x="6583680" y="4974336"/>
            <a:ext cx="4800600" cy="685800"/>
          </a:xfrm>
          <a:prstGeom prst="rect">
            <a:avLst/>
          </a:prstGeom>
          <a:noFill/>
          <a:ln/>
        </p:spPr>
        <p:txBody>
          <a:bodyPr wrap="square" lIns="0" tIns="0" rIns="0" bIns="0" rtlCol="0" anchor="ctr"/>
          <a:lstStyle/>
          <a:p>
            <a:pPr indent="0" marL="0">
              <a:lnSpc>
                <a:spcPts val="1400"/>
              </a:lnSpc>
              <a:buNone/>
            </a:pPr>
            <a:r>
              <a:rPr lang="en-US" sz="1150" dirty="0">
                <a:solidFill>
                  <a:srgbClr val="C8D2D8"/>
                </a:solidFill>
                <a:latin typeface="Calibri" pitchFamily="34" charset="0"/>
                <a:ea typeface="Calibri" pitchFamily="34" charset="-122"/>
                <a:cs typeface="Calibri" pitchFamily="34" charset="-120"/>
              </a:rPr>
              <a:t>The simulator defaulted to a 2.0 L four-cylinder for three weeks while every document said 3.0 L six. Corrected; every affected number regenerated.</a:t>
            </a:r>
            <a:endParaRPr lang="en-US" sz="1150" dirty="0"/>
          </a:p>
        </p:txBody>
      </p:sp>
      <p:sp>
        <p:nvSpPr>
          <p:cNvPr id="27" name="Text 25"/>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300" i="1" dirty="0">
                <a:solidFill>
                  <a:srgbClr val="C8D2D8"/>
                </a:solidFill>
                <a:latin typeface="Calibri" pitchFamily="34" charset="0"/>
                <a:ea typeface="Calibri" pitchFamily="34" charset="-122"/>
                <a:cs typeface="Calibri" pitchFamily="34" charset="-120"/>
              </a:rPr>
              <a:t>That last one does not weaken the project. It sharpens the question it was always asking: which systems make preview worth having?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Preview Value Criterion</dc:title>
  <dc:subject>PptxGenJS Presentation</dc:subject>
  <dc:creator>Sam</dc:creator>
  <cp:lastModifiedBy>Sam</cp:lastModifiedBy>
  <cp:revision>1</cp:revision>
  <dcterms:created xsi:type="dcterms:W3CDTF">2026-09-10T22:22:45Z</dcterms:created>
  <dcterms:modified xsi:type="dcterms:W3CDTF">2026-09-10T22:22:45Z</dcterms:modified>
</cp:coreProperties>
</file>